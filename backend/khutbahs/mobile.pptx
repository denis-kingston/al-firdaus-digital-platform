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03"/>
  </p:notesMasterIdLst>
  <p:sldIdLst>
    <p:sldId id="256" r:id="rId3"/>
    <p:sldId id="341" r:id="rId4"/>
    <p:sldId id="258" r:id="rId5"/>
    <p:sldId id="259" r:id="rId6"/>
    <p:sldId id="260" r:id="rId7"/>
    <p:sldId id="277"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342" r:id="rId24"/>
    <p:sldId id="343" r:id="rId25"/>
    <p:sldId id="276" r:id="rId26"/>
    <p:sldId id="288" r:id="rId27"/>
    <p:sldId id="344" r:id="rId28"/>
    <p:sldId id="346" r:id="rId29"/>
    <p:sldId id="345" r:id="rId30"/>
    <p:sldId id="347" r:id="rId31"/>
    <p:sldId id="349" r:id="rId32"/>
    <p:sldId id="348" r:id="rId33"/>
    <p:sldId id="350" r:id="rId34"/>
    <p:sldId id="351" r:id="rId35"/>
    <p:sldId id="278" r:id="rId36"/>
    <p:sldId id="279" r:id="rId37"/>
    <p:sldId id="356" r:id="rId38"/>
    <p:sldId id="352" r:id="rId39"/>
    <p:sldId id="353" r:id="rId40"/>
    <p:sldId id="354" r:id="rId41"/>
    <p:sldId id="355" r:id="rId42"/>
    <p:sldId id="280" r:id="rId43"/>
    <p:sldId id="303" r:id="rId44"/>
    <p:sldId id="281" r:id="rId45"/>
    <p:sldId id="282" r:id="rId46"/>
    <p:sldId id="289" r:id="rId47"/>
    <p:sldId id="290" r:id="rId48"/>
    <p:sldId id="283" r:id="rId49"/>
    <p:sldId id="284" r:id="rId50"/>
    <p:sldId id="285" r:id="rId51"/>
    <p:sldId id="286" r:id="rId52"/>
    <p:sldId id="287" r:id="rId53"/>
    <p:sldId id="291" r:id="rId54"/>
    <p:sldId id="293" r:id="rId55"/>
    <p:sldId id="294" r:id="rId56"/>
    <p:sldId id="295" r:id="rId57"/>
    <p:sldId id="296" r:id="rId58"/>
    <p:sldId id="297" r:id="rId59"/>
    <p:sldId id="298" r:id="rId60"/>
    <p:sldId id="299" r:id="rId61"/>
    <p:sldId id="300" r:id="rId62"/>
    <p:sldId id="301" r:id="rId63"/>
    <p:sldId id="302" r:id="rId64"/>
    <p:sldId id="292" r:id="rId65"/>
    <p:sldId id="304" r:id="rId66"/>
    <p:sldId id="305" r:id="rId67"/>
    <p:sldId id="306" r:id="rId68"/>
    <p:sldId id="307" r:id="rId69"/>
    <p:sldId id="308" r:id="rId70"/>
    <p:sldId id="309" r:id="rId71"/>
    <p:sldId id="310" r:id="rId72"/>
    <p:sldId id="311" r:id="rId73"/>
    <p:sldId id="312" r:id="rId74"/>
    <p:sldId id="313" r:id="rId75"/>
    <p:sldId id="314" r:id="rId76"/>
    <p:sldId id="315" r:id="rId77"/>
    <p:sldId id="316" r:id="rId78"/>
    <p:sldId id="317" r:id="rId79"/>
    <p:sldId id="318" r:id="rId80"/>
    <p:sldId id="319" r:id="rId81"/>
    <p:sldId id="320" r:id="rId82"/>
    <p:sldId id="321" r:id="rId83"/>
    <p:sldId id="322" r:id="rId84"/>
    <p:sldId id="323" r:id="rId85"/>
    <p:sldId id="324" r:id="rId86"/>
    <p:sldId id="325" r:id="rId87"/>
    <p:sldId id="328" r:id="rId88"/>
    <p:sldId id="329" r:id="rId89"/>
    <p:sldId id="326" r:id="rId90"/>
    <p:sldId id="330" r:id="rId91"/>
    <p:sldId id="331" r:id="rId92"/>
    <p:sldId id="327" r:id="rId93"/>
    <p:sldId id="332" r:id="rId94"/>
    <p:sldId id="333" r:id="rId95"/>
    <p:sldId id="334" r:id="rId96"/>
    <p:sldId id="335" r:id="rId97"/>
    <p:sldId id="336" r:id="rId98"/>
    <p:sldId id="339" r:id="rId99"/>
    <p:sldId id="340" r:id="rId100"/>
    <p:sldId id="337" r:id="rId101"/>
    <p:sldId id="338" r:id="rId102"/>
  </p:sldIdLst>
  <p:sldSz cx="16459200" cy="73152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6A3288-B410-9A18-0B23-1F9A692EA035}" v="435" dt="2025-05-28T10:04:06.1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9" d="100"/>
          <a:sy n="69" d="100"/>
        </p:scale>
        <p:origin x="86" y="6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tableStyles" Target="tableStyles.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notesMaster" Target="notesMasters/notesMaster1.xml"/><Relationship Id="rId108"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392684-3BD7-48DE-ACF5-1843C99D9643}" type="datetimeFigureOut">
              <a:t>5/18/2026</a:t>
            </a:fld>
            <a:endParaRPr lang="en-US"/>
          </a:p>
        </p:txBody>
      </p:sp>
      <p:sp>
        <p:nvSpPr>
          <p:cNvPr id="4" name="Slide Image Placeholder 3"/>
          <p:cNvSpPr>
            <a:spLocks noGrp="1" noRot="1" noChangeAspect="1"/>
          </p:cNvSpPr>
          <p:nvPr>
            <p:ph type="sldImg" idx="2"/>
          </p:nvPr>
        </p:nvSpPr>
        <p:spPr>
          <a:xfrm>
            <a:off x="-42863" y="1143000"/>
            <a:ext cx="6943726"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983A22-BBE7-4A4F-A057-AC8D42951418}" type="slidenum">
              <a:t>‹#›</a:t>
            </a:fld>
            <a:endParaRPr lang="en-US"/>
          </a:p>
        </p:txBody>
      </p:sp>
    </p:spTree>
    <p:extLst>
      <p:ext uri="{BB962C8B-B14F-4D97-AF65-F5344CB8AC3E}">
        <p14:creationId xmlns:p14="http://schemas.microsoft.com/office/powerpoint/2010/main" val="109572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computing vs Stationary computing</a:t>
            </a:r>
          </a:p>
        </p:txBody>
      </p:sp>
      <p:sp>
        <p:nvSpPr>
          <p:cNvPr id="4" name="Slide Number Placeholder 3"/>
          <p:cNvSpPr>
            <a:spLocks noGrp="1"/>
          </p:cNvSpPr>
          <p:nvPr>
            <p:ph type="sldNum" sz="quarter" idx="5"/>
          </p:nvPr>
        </p:nvSpPr>
        <p:spPr/>
        <p:txBody>
          <a:bodyPr/>
          <a:lstStyle/>
          <a:p>
            <a:fld id="{1F983A22-BBE7-4A4F-A057-AC8D42951418}" type="slidenum">
              <a:rPr lang="en-US"/>
              <a:t>5</a:t>
            </a:fld>
            <a:endParaRPr lang="en-US"/>
          </a:p>
        </p:txBody>
      </p:sp>
    </p:spTree>
    <p:extLst>
      <p:ext uri="{BB962C8B-B14F-4D97-AF65-F5344CB8AC3E}">
        <p14:creationId xmlns:p14="http://schemas.microsoft.com/office/powerpoint/2010/main" val="4134468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838C2-3CB5-FE6C-6D75-D8115764C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284471-8F8B-24F1-F145-7570BD7100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BFA0E-F4A6-DB74-C73A-A36C15117275}"/>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A6787728-50BF-DF2A-5347-FB656EA914B1}"/>
              </a:ext>
            </a:extLst>
          </p:cNvPr>
          <p:cNvSpPr>
            <a:spLocks noGrp="1"/>
          </p:cNvSpPr>
          <p:nvPr>
            <p:ph type="sldNum" sz="quarter" idx="5"/>
          </p:nvPr>
        </p:nvSpPr>
        <p:spPr/>
        <p:txBody>
          <a:bodyPr/>
          <a:lstStyle/>
          <a:p>
            <a:fld id="{1F983A22-BBE7-4A4F-A057-AC8D42951418}" type="slidenum">
              <a:t>6</a:t>
            </a:fld>
            <a:endParaRPr lang="en-US"/>
          </a:p>
        </p:txBody>
      </p:sp>
    </p:spTree>
    <p:extLst>
      <p:ext uri="{BB962C8B-B14F-4D97-AF65-F5344CB8AC3E}">
        <p14:creationId xmlns:p14="http://schemas.microsoft.com/office/powerpoint/2010/main" val="4277574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User mobility, service mobility and Device mobility</a:t>
            </a:r>
          </a:p>
        </p:txBody>
      </p:sp>
      <p:sp>
        <p:nvSpPr>
          <p:cNvPr id="4" name="Slide Number Placeholder 3"/>
          <p:cNvSpPr>
            <a:spLocks noGrp="1"/>
          </p:cNvSpPr>
          <p:nvPr>
            <p:ph type="sldNum" sz="quarter" idx="5"/>
          </p:nvPr>
        </p:nvSpPr>
        <p:spPr/>
        <p:txBody>
          <a:bodyPr/>
          <a:lstStyle/>
          <a:p>
            <a:fld id="{1F983A22-BBE7-4A4F-A057-AC8D42951418}" type="slidenum">
              <a:t>8</a:t>
            </a:fld>
            <a:endParaRPr lang="en-US"/>
          </a:p>
        </p:txBody>
      </p:sp>
    </p:spTree>
    <p:extLst>
      <p:ext uri="{BB962C8B-B14F-4D97-AF65-F5344CB8AC3E}">
        <p14:creationId xmlns:p14="http://schemas.microsoft.com/office/powerpoint/2010/main" val="1136299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367F7-4699-BF39-9145-59D8C943F2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1817E-93DD-B0DF-4C5C-F6E6A20D9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EB0F83-3908-B840-DBD3-66761E142461}"/>
              </a:ext>
            </a:extLst>
          </p:cNvPr>
          <p:cNvSpPr>
            <a:spLocks noGrp="1"/>
          </p:cNvSpPr>
          <p:nvPr>
            <p:ph type="body" idx="1"/>
          </p:nvPr>
        </p:nvSpPr>
        <p:spPr/>
        <p:txBody>
          <a:bodyPr/>
          <a:lstStyle/>
          <a:p>
            <a:r>
              <a:rPr lang="en-US" dirty="0">
                <a:ea typeface="Calibri"/>
                <a:cs typeface="Calibri"/>
              </a:rPr>
              <a:t>User mobility, service mobility and Device mobility</a:t>
            </a:r>
          </a:p>
        </p:txBody>
      </p:sp>
      <p:sp>
        <p:nvSpPr>
          <p:cNvPr id="4" name="Slide Number Placeholder 3">
            <a:extLst>
              <a:ext uri="{FF2B5EF4-FFF2-40B4-BE49-F238E27FC236}">
                <a16:creationId xmlns:a16="http://schemas.microsoft.com/office/drawing/2014/main" id="{2F3B63AF-E7A8-B089-4723-895D01AF80C6}"/>
              </a:ext>
            </a:extLst>
          </p:cNvPr>
          <p:cNvSpPr>
            <a:spLocks noGrp="1"/>
          </p:cNvSpPr>
          <p:nvPr>
            <p:ph type="sldNum" sz="quarter" idx="5"/>
          </p:nvPr>
        </p:nvSpPr>
        <p:spPr/>
        <p:txBody>
          <a:bodyPr/>
          <a:lstStyle/>
          <a:p>
            <a:fld id="{1F983A22-BBE7-4A4F-A057-AC8D42951418}" type="slidenum">
              <a:t>9</a:t>
            </a:fld>
            <a:endParaRPr lang="en-US"/>
          </a:p>
        </p:txBody>
      </p:sp>
    </p:spTree>
    <p:extLst>
      <p:ext uri="{BB962C8B-B14F-4D97-AF65-F5344CB8AC3E}">
        <p14:creationId xmlns:p14="http://schemas.microsoft.com/office/powerpoint/2010/main" val="226091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BC89E-E8B3-0078-BE77-7946C98A4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DFCD0-F915-5A56-CBF7-246C2EB67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1C6E3-8113-5165-7E67-297B078042F9}"/>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B189DFE4-401A-2C87-3CA3-636692D1631C}"/>
              </a:ext>
            </a:extLst>
          </p:cNvPr>
          <p:cNvSpPr>
            <a:spLocks noGrp="1"/>
          </p:cNvSpPr>
          <p:nvPr>
            <p:ph type="sldNum" sz="quarter" idx="5"/>
          </p:nvPr>
        </p:nvSpPr>
        <p:spPr/>
        <p:txBody>
          <a:bodyPr/>
          <a:lstStyle/>
          <a:p>
            <a:fld id="{1F983A22-BBE7-4A4F-A057-AC8D42951418}" type="slidenum">
              <a:t>10</a:t>
            </a:fld>
            <a:endParaRPr lang="en-US"/>
          </a:p>
        </p:txBody>
      </p:sp>
    </p:spTree>
    <p:extLst>
      <p:ext uri="{BB962C8B-B14F-4D97-AF65-F5344CB8AC3E}">
        <p14:creationId xmlns:p14="http://schemas.microsoft.com/office/powerpoint/2010/main" val="1690278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3D687-64B9-56C8-AC2C-68DA466C4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03CB8-42A1-155F-565F-64DCB097E1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F12C6A-6391-884E-9540-1E3782247221}"/>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EEEF9324-2AE6-54B5-8A1B-4DE0E174B7BF}"/>
              </a:ext>
            </a:extLst>
          </p:cNvPr>
          <p:cNvSpPr>
            <a:spLocks noGrp="1"/>
          </p:cNvSpPr>
          <p:nvPr>
            <p:ph type="sldNum" sz="quarter" idx="5"/>
          </p:nvPr>
        </p:nvSpPr>
        <p:spPr/>
        <p:txBody>
          <a:bodyPr/>
          <a:lstStyle/>
          <a:p>
            <a:fld id="{1F983A22-BBE7-4A4F-A057-AC8D42951418}" type="slidenum">
              <a:t>11</a:t>
            </a:fld>
            <a:endParaRPr lang="en-US"/>
          </a:p>
        </p:txBody>
      </p:sp>
    </p:spTree>
    <p:extLst>
      <p:ext uri="{BB962C8B-B14F-4D97-AF65-F5344CB8AC3E}">
        <p14:creationId xmlns:p14="http://schemas.microsoft.com/office/powerpoint/2010/main" val="3957840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5922F-2C49-2DA0-6983-28CFE3480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A6CD4-CEF2-7E39-3367-529C61519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16FC3-D62C-8B6C-034B-190D8C5B740D}"/>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D0CFBC63-0D1F-6B4B-73FD-E5B1E6744D9A}"/>
              </a:ext>
            </a:extLst>
          </p:cNvPr>
          <p:cNvSpPr>
            <a:spLocks noGrp="1"/>
          </p:cNvSpPr>
          <p:nvPr>
            <p:ph type="sldNum" sz="quarter" idx="5"/>
          </p:nvPr>
        </p:nvSpPr>
        <p:spPr/>
        <p:txBody>
          <a:bodyPr/>
          <a:lstStyle/>
          <a:p>
            <a:fld id="{1F983A22-BBE7-4A4F-A057-AC8D42951418}" type="slidenum">
              <a:t>12</a:t>
            </a:fld>
            <a:endParaRPr lang="en-US"/>
          </a:p>
        </p:txBody>
      </p:sp>
    </p:spTree>
    <p:extLst>
      <p:ext uri="{BB962C8B-B14F-4D97-AF65-F5344CB8AC3E}">
        <p14:creationId xmlns:p14="http://schemas.microsoft.com/office/powerpoint/2010/main" val="3791543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1D08D-346F-1C87-2DAA-8C67E7B388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94B05-0590-A667-6708-375259575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3928D4-A2E6-0E21-B394-A282E93DF8F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765B045-DB8F-94E7-6433-7DAC430FD208}"/>
              </a:ext>
            </a:extLst>
          </p:cNvPr>
          <p:cNvSpPr>
            <a:spLocks noGrp="1"/>
          </p:cNvSpPr>
          <p:nvPr>
            <p:ph type="sldNum" sz="quarter" idx="5"/>
          </p:nvPr>
        </p:nvSpPr>
        <p:spPr/>
        <p:txBody>
          <a:bodyPr/>
          <a:lstStyle/>
          <a:p>
            <a:fld id="{1F983A22-BBE7-4A4F-A057-AC8D42951418}" type="slidenum">
              <a:t>13</a:t>
            </a:fld>
            <a:endParaRPr lang="en-US"/>
          </a:p>
        </p:txBody>
      </p:sp>
    </p:spTree>
    <p:extLst>
      <p:ext uri="{BB962C8B-B14F-4D97-AF65-F5344CB8AC3E}">
        <p14:creationId xmlns:p14="http://schemas.microsoft.com/office/powerpoint/2010/main" val="1398200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8DE40-E7F7-EE62-E12B-C5D65451A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A5963-F0BC-607B-FDC3-8A3CC14BDC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76A4B-F21B-6818-10D7-748B2C14CB0A}"/>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6F014E57-E773-F829-4137-ED27D45E8061}"/>
              </a:ext>
            </a:extLst>
          </p:cNvPr>
          <p:cNvSpPr>
            <a:spLocks noGrp="1"/>
          </p:cNvSpPr>
          <p:nvPr>
            <p:ph type="sldNum" sz="quarter" idx="5"/>
          </p:nvPr>
        </p:nvSpPr>
        <p:spPr/>
        <p:txBody>
          <a:bodyPr/>
          <a:lstStyle/>
          <a:p>
            <a:fld id="{1F983A22-BBE7-4A4F-A057-AC8D42951418}" type="slidenum">
              <a:t>14</a:t>
            </a:fld>
            <a:endParaRPr lang="en-US"/>
          </a:p>
        </p:txBody>
      </p:sp>
    </p:spTree>
    <p:extLst>
      <p:ext uri="{BB962C8B-B14F-4D97-AF65-F5344CB8AC3E}">
        <p14:creationId xmlns:p14="http://schemas.microsoft.com/office/powerpoint/2010/main" val="2932437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A2D3A-F3C3-A04C-0681-B15C2C738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35870-021F-85E3-1894-B743DAFF1A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6CC4B-9DCA-5EEC-FE01-4DECFDC3AE8E}"/>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F1859641-FDE5-382B-F6E7-AD02EEB8BD9F}"/>
              </a:ext>
            </a:extLst>
          </p:cNvPr>
          <p:cNvSpPr>
            <a:spLocks noGrp="1"/>
          </p:cNvSpPr>
          <p:nvPr>
            <p:ph type="sldNum" sz="quarter" idx="5"/>
          </p:nvPr>
        </p:nvSpPr>
        <p:spPr/>
        <p:txBody>
          <a:bodyPr/>
          <a:lstStyle/>
          <a:p>
            <a:fld id="{1F983A22-BBE7-4A4F-A057-AC8D42951418}" type="slidenum">
              <a:t>15</a:t>
            </a:fld>
            <a:endParaRPr lang="en-US"/>
          </a:p>
        </p:txBody>
      </p:sp>
    </p:spTree>
    <p:extLst>
      <p:ext uri="{BB962C8B-B14F-4D97-AF65-F5344CB8AC3E}">
        <p14:creationId xmlns:p14="http://schemas.microsoft.com/office/powerpoint/2010/main" val="3371598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49814-B0F3-C80E-5C0E-6AF17DE94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9061CD-8479-B6F4-B697-B6763FC19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FDDC8-787E-6D0C-A68B-47DA81699E45}"/>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00B85A1E-235A-3841-1632-91EB22C2D51C}"/>
              </a:ext>
            </a:extLst>
          </p:cNvPr>
          <p:cNvSpPr>
            <a:spLocks noGrp="1"/>
          </p:cNvSpPr>
          <p:nvPr>
            <p:ph type="sldNum" sz="quarter" idx="5"/>
          </p:nvPr>
        </p:nvSpPr>
        <p:spPr/>
        <p:txBody>
          <a:bodyPr/>
          <a:lstStyle/>
          <a:p>
            <a:fld id="{1F983A22-BBE7-4A4F-A057-AC8D42951418}" type="slidenum">
              <a:t>16</a:t>
            </a:fld>
            <a:endParaRPr lang="en-US"/>
          </a:p>
        </p:txBody>
      </p:sp>
    </p:spTree>
    <p:extLst>
      <p:ext uri="{BB962C8B-B14F-4D97-AF65-F5344CB8AC3E}">
        <p14:creationId xmlns:p14="http://schemas.microsoft.com/office/powerpoint/2010/main" val="1670644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944EB-B72D-0BD4-881A-FB26E01A7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0C336-ADF4-350E-7433-FD8341A3A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8233D-529D-A15A-D829-20F14C44B304}"/>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946BC6D8-E100-012A-640B-327317C1F750}"/>
              </a:ext>
            </a:extLst>
          </p:cNvPr>
          <p:cNvSpPr>
            <a:spLocks noGrp="1"/>
          </p:cNvSpPr>
          <p:nvPr>
            <p:ph type="sldNum" sz="quarter" idx="5"/>
          </p:nvPr>
        </p:nvSpPr>
        <p:spPr/>
        <p:txBody>
          <a:bodyPr/>
          <a:lstStyle/>
          <a:p>
            <a:fld id="{1F983A22-BBE7-4A4F-A057-AC8D42951418}" type="slidenum">
              <a:t>17</a:t>
            </a:fld>
            <a:endParaRPr lang="en-US"/>
          </a:p>
        </p:txBody>
      </p:sp>
    </p:spTree>
    <p:extLst>
      <p:ext uri="{BB962C8B-B14F-4D97-AF65-F5344CB8AC3E}">
        <p14:creationId xmlns:p14="http://schemas.microsoft.com/office/powerpoint/2010/main" val="2877789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C7572-4875-85BA-8A47-019ADB035C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AFC7B-4DBD-D337-DDF8-B6980BFA6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F0F60-DE17-2C78-B51B-6B4AC4980041}"/>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E300299B-782D-260F-B5FF-99FD1456BD96}"/>
              </a:ext>
            </a:extLst>
          </p:cNvPr>
          <p:cNvSpPr>
            <a:spLocks noGrp="1"/>
          </p:cNvSpPr>
          <p:nvPr>
            <p:ph type="sldNum" sz="quarter" idx="5"/>
          </p:nvPr>
        </p:nvSpPr>
        <p:spPr/>
        <p:txBody>
          <a:bodyPr/>
          <a:lstStyle/>
          <a:p>
            <a:fld id="{1F983A22-BBE7-4A4F-A057-AC8D42951418}" type="slidenum">
              <a:t>18</a:t>
            </a:fld>
            <a:endParaRPr lang="en-US"/>
          </a:p>
        </p:txBody>
      </p:sp>
    </p:spTree>
    <p:extLst>
      <p:ext uri="{BB962C8B-B14F-4D97-AF65-F5344CB8AC3E}">
        <p14:creationId xmlns:p14="http://schemas.microsoft.com/office/powerpoint/2010/main" val="3371483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E67C1-8973-09F4-B4CA-66ADA80F4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58A17-DDFA-AE0D-4DE0-843A91D15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FB310A-8C6B-6250-B35F-BE63CBF3377D}"/>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35E5CCF6-9983-257C-0FAF-3CD7BCCCAE21}"/>
              </a:ext>
            </a:extLst>
          </p:cNvPr>
          <p:cNvSpPr>
            <a:spLocks noGrp="1"/>
          </p:cNvSpPr>
          <p:nvPr>
            <p:ph type="sldNum" sz="quarter" idx="5"/>
          </p:nvPr>
        </p:nvSpPr>
        <p:spPr/>
        <p:txBody>
          <a:bodyPr/>
          <a:lstStyle/>
          <a:p>
            <a:fld id="{1F983A22-BBE7-4A4F-A057-AC8D42951418}" type="slidenum">
              <a:t>19</a:t>
            </a:fld>
            <a:endParaRPr lang="en-US"/>
          </a:p>
        </p:txBody>
      </p:sp>
    </p:spTree>
    <p:extLst>
      <p:ext uri="{BB962C8B-B14F-4D97-AF65-F5344CB8AC3E}">
        <p14:creationId xmlns:p14="http://schemas.microsoft.com/office/powerpoint/2010/main" val="3078353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E933-B73E-C4FB-6B62-F1AD15434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57651-9BD2-2A69-197D-0EBA45FAB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E5197-F8CD-170D-75EC-CA3A4067AC2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68A05AF-A2BF-032B-D4E0-4F8FB1BED3F8}"/>
              </a:ext>
            </a:extLst>
          </p:cNvPr>
          <p:cNvSpPr>
            <a:spLocks noGrp="1"/>
          </p:cNvSpPr>
          <p:nvPr>
            <p:ph type="sldNum" sz="quarter" idx="5"/>
          </p:nvPr>
        </p:nvSpPr>
        <p:spPr/>
        <p:txBody>
          <a:bodyPr/>
          <a:lstStyle/>
          <a:p>
            <a:fld id="{1F983A22-BBE7-4A4F-A057-AC8D42951418}" type="slidenum">
              <a:t>20</a:t>
            </a:fld>
            <a:endParaRPr lang="en-US"/>
          </a:p>
        </p:txBody>
      </p:sp>
    </p:spTree>
    <p:extLst>
      <p:ext uri="{BB962C8B-B14F-4D97-AF65-F5344CB8AC3E}">
        <p14:creationId xmlns:p14="http://schemas.microsoft.com/office/powerpoint/2010/main" val="39093559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7BE2C-C311-6DC9-ED12-CF691D3AA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7EE70-3DFE-BAA8-2063-9276A064B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7B993B-20F8-62A4-053B-3E11E5F382F3}"/>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89399DE9-D94A-2D16-14B7-747019BAA199}"/>
              </a:ext>
            </a:extLst>
          </p:cNvPr>
          <p:cNvSpPr>
            <a:spLocks noGrp="1"/>
          </p:cNvSpPr>
          <p:nvPr>
            <p:ph type="sldNum" sz="quarter" idx="5"/>
          </p:nvPr>
        </p:nvSpPr>
        <p:spPr/>
        <p:txBody>
          <a:bodyPr/>
          <a:lstStyle/>
          <a:p>
            <a:fld id="{1F983A22-BBE7-4A4F-A057-AC8D42951418}" type="slidenum">
              <a:t>21</a:t>
            </a:fld>
            <a:endParaRPr lang="en-US"/>
          </a:p>
        </p:txBody>
      </p:sp>
    </p:spTree>
    <p:extLst>
      <p:ext uri="{BB962C8B-B14F-4D97-AF65-F5344CB8AC3E}">
        <p14:creationId xmlns:p14="http://schemas.microsoft.com/office/powerpoint/2010/main" val="4419568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991F3-C9D9-E6AD-CF2C-EEE66AAFF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467B0-8E95-A83A-EFC3-16B9B66AB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078B7-C047-5A7B-008D-9830F5CFB7F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5258F798-BB98-9F54-874D-B20DE7AB02F7}"/>
              </a:ext>
            </a:extLst>
          </p:cNvPr>
          <p:cNvSpPr>
            <a:spLocks noGrp="1"/>
          </p:cNvSpPr>
          <p:nvPr>
            <p:ph type="sldNum" sz="quarter" idx="5"/>
          </p:nvPr>
        </p:nvSpPr>
        <p:spPr/>
        <p:txBody>
          <a:bodyPr/>
          <a:lstStyle/>
          <a:p>
            <a:fld id="{1F983A22-BBE7-4A4F-A057-AC8D42951418}" type="slidenum">
              <a:t>22</a:t>
            </a:fld>
            <a:endParaRPr lang="en-US"/>
          </a:p>
        </p:txBody>
      </p:sp>
    </p:spTree>
    <p:extLst>
      <p:ext uri="{BB962C8B-B14F-4D97-AF65-F5344CB8AC3E}">
        <p14:creationId xmlns:p14="http://schemas.microsoft.com/office/powerpoint/2010/main" val="825735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991F3-C9D9-E6AD-CF2C-EEE66AAFF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467B0-8E95-A83A-EFC3-16B9B66AB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078B7-C047-5A7B-008D-9830F5CFB7F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5258F798-BB98-9F54-874D-B20DE7AB02F7}"/>
              </a:ext>
            </a:extLst>
          </p:cNvPr>
          <p:cNvSpPr>
            <a:spLocks noGrp="1"/>
          </p:cNvSpPr>
          <p:nvPr>
            <p:ph type="sldNum" sz="quarter" idx="5"/>
          </p:nvPr>
        </p:nvSpPr>
        <p:spPr/>
        <p:txBody>
          <a:bodyPr/>
          <a:lstStyle/>
          <a:p>
            <a:fld id="{1F983A22-BBE7-4A4F-A057-AC8D42951418}" type="slidenum">
              <a:t>23</a:t>
            </a:fld>
            <a:endParaRPr lang="en-US"/>
          </a:p>
        </p:txBody>
      </p:sp>
    </p:spTree>
    <p:extLst>
      <p:ext uri="{BB962C8B-B14F-4D97-AF65-F5344CB8AC3E}">
        <p14:creationId xmlns:p14="http://schemas.microsoft.com/office/powerpoint/2010/main" val="3230531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991F3-C9D9-E6AD-CF2C-EEE66AAFF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467B0-8E95-A83A-EFC3-16B9B66AB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078B7-C047-5A7B-008D-9830F5CFB7F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5258F798-BB98-9F54-874D-B20DE7AB02F7}"/>
              </a:ext>
            </a:extLst>
          </p:cNvPr>
          <p:cNvSpPr>
            <a:spLocks noGrp="1"/>
          </p:cNvSpPr>
          <p:nvPr>
            <p:ph type="sldNum" sz="quarter" idx="5"/>
          </p:nvPr>
        </p:nvSpPr>
        <p:spPr/>
        <p:txBody>
          <a:bodyPr/>
          <a:lstStyle/>
          <a:p>
            <a:fld id="{1F983A22-BBE7-4A4F-A057-AC8D42951418}" type="slidenum">
              <a:t>24</a:t>
            </a:fld>
            <a:endParaRPr lang="en-US"/>
          </a:p>
        </p:txBody>
      </p:sp>
    </p:spTree>
    <p:extLst>
      <p:ext uri="{BB962C8B-B14F-4D97-AF65-F5344CB8AC3E}">
        <p14:creationId xmlns:p14="http://schemas.microsoft.com/office/powerpoint/2010/main" val="260212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C1B8-115B-72A8-8FC3-382746A0F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8607E-84AD-50F7-1B8F-1701F34C0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0C8AF-8F78-567B-6DB1-47392F90919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4012191-7132-8EFC-5DDF-1254079A953D}"/>
              </a:ext>
            </a:extLst>
          </p:cNvPr>
          <p:cNvSpPr>
            <a:spLocks noGrp="1"/>
          </p:cNvSpPr>
          <p:nvPr>
            <p:ph type="sldNum" sz="quarter" idx="5"/>
          </p:nvPr>
        </p:nvSpPr>
        <p:spPr/>
        <p:txBody>
          <a:bodyPr/>
          <a:lstStyle/>
          <a:p>
            <a:fld id="{1F983A22-BBE7-4A4F-A057-AC8D42951418}" type="slidenum">
              <a:t>25</a:t>
            </a:fld>
            <a:endParaRPr lang="en-US"/>
          </a:p>
        </p:txBody>
      </p:sp>
    </p:spTree>
    <p:extLst>
      <p:ext uri="{BB962C8B-B14F-4D97-AF65-F5344CB8AC3E}">
        <p14:creationId xmlns:p14="http://schemas.microsoft.com/office/powerpoint/2010/main" val="21886897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C1B8-115B-72A8-8FC3-382746A0F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8607E-84AD-50F7-1B8F-1701F34C0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0C8AF-8F78-567B-6DB1-47392F90919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4012191-7132-8EFC-5DDF-1254079A953D}"/>
              </a:ext>
            </a:extLst>
          </p:cNvPr>
          <p:cNvSpPr>
            <a:spLocks noGrp="1"/>
          </p:cNvSpPr>
          <p:nvPr>
            <p:ph type="sldNum" sz="quarter" idx="5"/>
          </p:nvPr>
        </p:nvSpPr>
        <p:spPr/>
        <p:txBody>
          <a:bodyPr/>
          <a:lstStyle/>
          <a:p>
            <a:fld id="{1F983A22-BBE7-4A4F-A057-AC8D42951418}" type="slidenum">
              <a:t>26</a:t>
            </a:fld>
            <a:endParaRPr lang="en-US"/>
          </a:p>
        </p:txBody>
      </p:sp>
    </p:spTree>
    <p:extLst>
      <p:ext uri="{BB962C8B-B14F-4D97-AF65-F5344CB8AC3E}">
        <p14:creationId xmlns:p14="http://schemas.microsoft.com/office/powerpoint/2010/main" val="232939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C1B8-115B-72A8-8FC3-382746A0F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8607E-84AD-50F7-1B8F-1701F34C0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0C8AF-8F78-567B-6DB1-47392F90919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4012191-7132-8EFC-5DDF-1254079A953D}"/>
              </a:ext>
            </a:extLst>
          </p:cNvPr>
          <p:cNvSpPr>
            <a:spLocks noGrp="1"/>
          </p:cNvSpPr>
          <p:nvPr>
            <p:ph type="sldNum" sz="quarter" idx="5"/>
          </p:nvPr>
        </p:nvSpPr>
        <p:spPr/>
        <p:txBody>
          <a:bodyPr/>
          <a:lstStyle/>
          <a:p>
            <a:fld id="{1F983A22-BBE7-4A4F-A057-AC8D42951418}" type="slidenum">
              <a:t>28</a:t>
            </a:fld>
            <a:endParaRPr lang="en-US"/>
          </a:p>
        </p:txBody>
      </p:sp>
    </p:spTree>
    <p:extLst>
      <p:ext uri="{BB962C8B-B14F-4D97-AF65-F5344CB8AC3E}">
        <p14:creationId xmlns:p14="http://schemas.microsoft.com/office/powerpoint/2010/main" val="3964540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C1B8-115B-72A8-8FC3-382746A0F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8607E-84AD-50F7-1B8F-1701F34C0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0C8AF-8F78-567B-6DB1-47392F90919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4012191-7132-8EFC-5DDF-1254079A953D}"/>
              </a:ext>
            </a:extLst>
          </p:cNvPr>
          <p:cNvSpPr>
            <a:spLocks noGrp="1"/>
          </p:cNvSpPr>
          <p:nvPr>
            <p:ph type="sldNum" sz="quarter" idx="5"/>
          </p:nvPr>
        </p:nvSpPr>
        <p:spPr/>
        <p:txBody>
          <a:bodyPr/>
          <a:lstStyle/>
          <a:p>
            <a:fld id="{1F983A22-BBE7-4A4F-A057-AC8D42951418}" type="slidenum">
              <a:t>29</a:t>
            </a:fld>
            <a:endParaRPr lang="en-US"/>
          </a:p>
        </p:txBody>
      </p:sp>
    </p:spTree>
    <p:extLst>
      <p:ext uri="{BB962C8B-B14F-4D97-AF65-F5344CB8AC3E}">
        <p14:creationId xmlns:p14="http://schemas.microsoft.com/office/powerpoint/2010/main" val="4305290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C1B8-115B-72A8-8FC3-382746A0F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8607E-84AD-50F7-1B8F-1701F34C0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0C8AF-8F78-567B-6DB1-47392F90919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4012191-7132-8EFC-5DDF-1254079A953D}"/>
              </a:ext>
            </a:extLst>
          </p:cNvPr>
          <p:cNvSpPr>
            <a:spLocks noGrp="1"/>
          </p:cNvSpPr>
          <p:nvPr>
            <p:ph type="sldNum" sz="quarter" idx="5"/>
          </p:nvPr>
        </p:nvSpPr>
        <p:spPr/>
        <p:txBody>
          <a:bodyPr/>
          <a:lstStyle/>
          <a:p>
            <a:fld id="{1F983A22-BBE7-4A4F-A057-AC8D42951418}" type="slidenum">
              <a:t>30</a:t>
            </a:fld>
            <a:endParaRPr lang="en-US"/>
          </a:p>
        </p:txBody>
      </p:sp>
    </p:spTree>
    <p:extLst>
      <p:ext uri="{BB962C8B-B14F-4D97-AF65-F5344CB8AC3E}">
        <p14:creationId xmlns:p14="http://schemas.microsoft.com/office/powerpoint/2010/main" val="31906974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C1B8-115B-72A8-8FC3-382746A0F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8607E-84AD-50F7-1B8F-1701F34C0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0C8AF-8F78-567B-6DB1-47392F90919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4012191-7132-8EFC-5DDF-1254079A953D}"/>
              </a:ext>
            </a:extLst>
          </p:cNvPr>
          <p:cNvSpPr>
            <a:spLocks noGrp="1"/>
          </p:cNvSpPr>
          <p:nvPr>
            <p:ph type="sldNum" sz="quarter" idx="5"/>
          </p:nvPr>
        </p:nvSpPr>
        <p:spPr/>
        <p:txBody>
          <a:bodyPr/>
          <a:lstStyle/>
          <a:p>
            <a:fld id="{1F983A22-BBE7-4A4F-A057-AC8D42951418}" type="slidenum">
              <a:t>31</a:t>
            </a:fld>
            <a:endParaRPr lang="en-US"/>
          </a:p>
        </p:txBody>
      </p:sp>
    </p:spTree>
    <p:extLst>
      <p:ext uri="{BB962C8B-B14F-4D97-AF65-F5344CB8AC3E}">
        <p14:creationId xmlns:p14="http://schemas.microsoft.com/office/powerpoint/2010/main" val="31098098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C1B8-115B-72A8-8FC3-382746A0F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8607E-84AD-50F7-1B8F-1701F34C0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0C8AF-8F78-567B-6DB1-47392F90919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4012191-7132-8EFC-5DDF-1254079A953D}"/>
              </a:ext>
            </a:extLst>
          </p:cNvPr>
          <p:cNvSpPr>
            <a:spLocks noGrp="1"/>
          </p:cNvSpPr>
          <p:nvPr>
            <p:ph type="sldNum" sz="quarter" idx="5"/>
          </p:nvPr>
        </p:nvSpPr>
        <p:spPr/>
        <p:txBody>
          <a:bodyPr/>
          <a:lstStyle/>
          <a:p>
            <a:fld id="{1F983A22-BBE7-4A4F-A057-AC8D42951418}" type="slidenum">
              <a:t>32</a:t>
            </a:fld>
            <a:endParaRPr lang="en-US"/>
          </a:p>
        </p:txBody>
      </p:sp>
    </p:spTree>
    <p:extLst>
      <p:ext uri="{BB962C8B-B14F-4D97-AF65-F5344CB8AC3E}">
        <p14:creationId xmlns:p14="http://schemas.microsoft.com/office/powerpoint/2010/main" val="30607358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7C1B8-115B-72A8-8FC3-382746A0F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8607E-84AD-50F7-1B8F-1701F34C0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0C8AF-8F78-567B-6DB1-47392F90919F}"/>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4012191-7132-8EFC-5DDF-1254079A953D}"/>
              </a:ext>
            </a:extLst>
          </p:cNvPr>
          <p:cNvSpPr>
            <a:spLocks noGrp="1"/>
          </p:cNvSpPr>
          <p:nvPr>
            <p:ph type="sldNum" sz="quarter" idx="5"/>
          </p:nvPr>
        </p:nvSpPr>
        <p:spPr/>
        <p:txBody>
          <a:bodyPr/>
          <a:lstStyle/>
          <a:p>
            <a:fld id="{1F983A22-BBE7-4A4F-A057-AC8D42951418}" type="slidenum">
              <a:t>33</a:t>
            </a:fld>
            <a:endParaRPr lang="en-US"/>
          </a:p>
        </p:txBody>
      </p:sp>
    </p:spTree>
    <p:extLst>
      <p:ext uri="{BB962C8B-B14F-4D97-AF65-F5344CB8AC3E}">
        <p14:creationId xmlns:p14="http://schemas.microsoft.com/office/powerpoint/2010/main" val="35939104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1515F-F731-25C2-9ED3-5711DCEF9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0A32E0-3642-94A4-39ED-7340E1C91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002CB-CDE9-A390-DD94-F5639CA3721A}"/>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92ACACD5-4442-3965-1BAB-DDFD3774A76F}"/>
              </a:ext>
            </a:extLst>
          </p:cNvPr>
          <p:cNvSpPr>
            <a:spLocks noGrp="1"/>
          </p:cNvSpPr>
          <p:nvPr>
            <p:ph type="sldNum" sz="quarter" idx="5"/>
          </p:nvPr>
        </p:nvSpPr>
        <p:spPr/>
        <p:txBody>
          <a:bodyPr/>
          <a:lstStyle/>
          <a:p>
            <a:fld id="{1F983A22-BBE7-4A4F-A057-AC8D42951418}" type="slidenum">
              <a:t>34</a:t>
            </a:fld>
            <a:endParaRPr lang="en-US"/>
          </a:p>
        </p:txBody>
      </p:sp>
    </p:spTree>
    <p:extLst>
      <p:ext uri="{BB962C8B-B14F-4D97-AF65-F5344CB8AC3E}">
        <p14:creationId xmlns:p14="http://schemas.microsoft.com/office/powerpoint/2010/main" val="27250438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A574-45AE-B15C-0031-6EEED6135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3FA35-A44A-591D-4638-600A352BB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7F533-DDF7-9EFB-6811-C863A8CD3F2A}"/>
              </a:ext>
            </a:extLst>
          </p:cNvPr>
          <p:cNvSpPr>
            <a:spLocks noGrp="1"/>
          </p:cNvSpPr>
          <p:nvPr>
            <p:ph type="body" idx="1"/>
          </p:nvPr>
        </p:nvSpPr>
        <p:spPr/>
        <p:txBody>
          <a:bodyPr/>
          <a:lstStyle/>
          <a:p>
            <a:r>
              <a:rPr lang="en-US" dirty="0">
                <a:ea typeface="Calibri"/>
                <a:cs typeface="Calibri"/>
              </a:rPr>
              <a:t>Reuse factor, reuse pattern and reuse distance</a:t>
            </a:r>
          </a:p>
        </p:txBody>
      </p:sp>
      <p:sp>
        <p:nvSpPr>
          <p:cNvPr id="4" name="Slide Number Placeholder 3">
            <a:extLst>
              <a:ext uri="{FF2B5EF4-FFF2-40B4-BE49-F238E27FC236}">
                <a16:creationId xmlns:a16="http://schemas.microsoft.com/office/drawing/2014/main" id="{BDA432E0-21E2-14F3-9CF6-77C4EB133CA8}"/>
              </a:ext>
            </a:extLst>
          </p:cNvPr>
          <p:cNvSpPr>
            <a:spLocks noGrp="1"/>
          </p:cNvSpPr>
          <p:nvPr>
            <p:ph type="sldNum" sz="quarter" idx="5"/>
          </p:nvPr>
        </p:nvSpPr>
        <p:spPr/>
        <p:txBody>
          <a:bodyPr/>
          <a:lstStyle/>
          <a:p>
            <a:fld id="{1F983A22-BBE7-4A4F-A057-AC8D42951418}" type="slidenum">
              <a:t>35</a:t>
            </a:fld>
            <a:endParaRPr lang="en-US"/>
          </a:p>
        </p:txBody>
      </p:sp>
    </p:spTree>
    <p:extLst>
      <p:ext uri="{BB962C8B-B14F-4D97-AF65-F5344CB8AC3E}">
        <p14:creationId xmlns:p14="http://schemas.microsoft.com/office/powerpoint/2010/main" val="38110048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A574-45AE-B15C-0031-6EEED6135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3FA35-A44A-591D-4638-600A352BB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7F533-DDF7-9EFB-6811-C863A8CD3F2A}"/>
              </a:ext>
            </a:extLst>
          </p:cNvPr>
          <p:cNvSpPr>
            <a:spLocks noGrp="1"/>
          </p:cNvSpPr>
          <p:nvPr>
            <p:ph type="body" idx="1"/>
          </p:nvPr>
        </p:nvSpPr>
        <p:spPr/>
        <p:txBody>
          <a:bodyPr/>
          <a:lstStyle/>
          <a:p>
            <a:r>
              <a:rPr lang="en-US" dirty="0">
                <a:ea typeface="Calibri"/>
                <a:cs typeface="Calibri"/>
              </a:rPr>
              <a:t>Reuse factor, reuse pattern and reuse distance</a:t>
            </a:r>
          </a:p>
        </p:txBody>
      </p:sp>
      <p:sp>
        <p:nvSpPr>
          <p:cNvPr id="4" name="Slide Number Placeholder 3">
            <a:extLst>
              <a:ext uri="{FF2B5EF4-FFF2-40B4-BE49-F238E27FC236}">
                <a16:creationId xmlns:a16="http://schemas.microsoft.com/office/drawing/2014/main" id="{BDA432E0-21E2-14F3-9CF6-77C4EB133CA8}"/>
              </a:ext>
            </a:extLst>
          </p:cNvPr>
          <p:cNvSpPr>
            <a:spLocks noGrp="1"/>
          </p:cNvSpPr>
          <p:nvPr>
            <p:ph type="sldNum" sz="quarter" idx="5"/>
          </p:nvPr>
        </p:nvSpPr>
        <p:spPr/>
        <p:txBody>
          <a:bodyPr/>
          <a:lstStyle/>
          <a:p>
            <a:fld id="{1F983A22-BBE7-4A4F-A057-AC8D42951418}" type="slidenum">
              <a:t>36</a:t>
            </a:fld>
            <a:endParaRPr lang="en-US"/>
          </a:p>
        </p:txBody>
      </p:sp>
    </p:spTree>
    <p:extLst>
      <p:ext uri="{BB962C8B-B14F-4D97-AF65-F5344CB8AC3E}">
        <p14:creationId xmlns:p14="http://schemas.microsoft.com/office/powerpoint/2010/main" val="1828487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A574-45AE-B15C-0031-6EEED6135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3FA35-A44A-591D-4638-600A352BB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7F533-DDF7-9EFB-6811-C863A8CD3F2A}"/>
              </a:ext>
            </a:extLst>
          </p:cNvPr>
          <p:cNvSpPr>
            <a:spLocks noGrp="1"/>
          </p:cNvSpPr>
          <p:nvPr>
            <p:ph type="body" idx="1"/>
          </p:nvPr>
        </p:nvSpPr>
        <p:spPr/>
        <p:txBody>
          <a:bodyPr/>
          <a:lstStyle/>
          <a:p>
            <a:r>
              <a:rPr lang="en-US" dirty="0">
                <a:ea typeface="Calibri"/>
                <a:cs typeface="Calibri"/>
              </a:rPr>
              <a:t>Reuse factor, reuse pattern and reuse distance</a:t>
            </a:r>
          </a:p>
        </p:txBody>
      </p:sp>
      <p:sp>
        <p:nvSpPr>
          <p:cNvPr id="4" name="Slide Number Placeholder 3">
            <a:extLst>
              <a:ext uri="{FF2B5EF4-FFF2-40B4-BE49-F238E27FC236}">
                <a16:creationId xmlns:a16="http://schemas.microsoft.com/office/drawing/2014/main" id="{BDA432E0-21E2-14F3-9CF6-77C4EB133CA8}"/>
              </a:ext>
            </a:extLst>
          </p:cNvPr>
          <p:cNvSpPr>
            <a:spLocks noGrp="1"/>
          </p:cNvSpPr>
          <p:nvPr>
            <p:ph type="sldNum" sz="quarter" idx="5"/>
          </p:nvPr>
        </p:nvSpPr>
        <p:spPr/>
        <p:txBody>
          <a:bodyPr/>
          <a:lstStyle/>
          <a:p>
            <a:fld id="{1F983A22-BBE7-4A4F-A057-AC8D42951418}" type="slidenum">
              <a:t>37</a:t>
            </a:fld>
            <a:endParaRPr lang="en-US"/>
          </a:p>
        </p:txBody>
      </p:sp>
    </p:spTree>
    <p:extLst>
      <p:ext uri="{BB962C8B-B14F-4D97-AF65-F5344CB8AC3E}">
        <p14:creationId xmlns:p14="http://schemas.microsoft.com/office/powerpoint/2010/main" val="18340052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A574-45AE-B15C-0031-6EEED6135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3FA35-A44A-591D-4638-600A352BB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7F533-DDF7-9EFB-6811-C863A8CD3F2A}"/>
              </a:ext>
            </a:extLst>
          </p:cNvPr>
          <p:cNvSpPr>
            <a:spLocks noGrp="1"/>
          </p:cNvSpPr>
          <p:nvPr>
            <p:ph type="body" idx="1"/>
          </p:nvPr>
        </p:nvSpPr>
        <p:spPr/>
        <p:txBody>
          <a:bodyPr/>
          <a:lstStyle/>
          <a:p>
            <a:r>
              <a:rPr lang="en-US" dirty="0">
                <a:ea typeface="Calibri"/>
                <a:cs typeface="Calibri"/>
              </a:rPr>
              <a:t>Reuse factor, reuse pattern and reuse distance</a:t>
            </a:r>
          </a:p>
        </p:txBody>
      </p:sp>
      <p:sp>
        <p:nvSpPr>
          <p:cNvPr id="4" name="Slide Number Placeholder 3">
            <a:extLst>
              <a:ext uri="{FF2B5EF4-FFF2-40B4-BE49-F238E27FC236}">
                <a16:creationId xmlns:a16="http://schemas.microsoft.com/office/drawing/2014/main" id="{BDA432E0-21E2-14F3-9CF6-77C4EB133CA8}"/>
              </a:ext>
            </a:extLst>
          </p:cNvPr>
          <p:cNvSpPr>
            <a:spLocks noGrp="1"/>
          </p:cNvSpPr>
          <p:nvPr>
            <p:ph type="sldNum" sz="quarter" idx="5"/>
          </p:nvPr>
        </p:nvSpPr>
        <p:spPr/>
        <p:txBody>
          <a:bodyPr/>
          <a:lstStyle/>
          <a:p>
            <a:fld id="{1F983A22-BBE7-4A4F-A057-AC8D42951418}" type="slidenum">
              <a:t>38</a:t>
            </a:fld>
            <a:endParaRPr lang="en-US"/>
          </a:p>
        </p:txBody>
      </p:sp>
    </p:spTree>
    <p:extLst>
      <p:ext uri="{BB962C8B-B14F-4D97-AF65-F5344CB8AC3E}">
        <p14:creationId xmlns:p14="http://schemas.microsoft.com/office/powerpoint/2010/main" val="41701339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A574-45AE-B15C-0031-6EEED6135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3FA35-A44A-591D-4638-600A352BB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7F533-DDF7-9EFB-6811-C863A8CD3F2A}"/>
              </a:ext>
            </a:extLst>
          </p:cNvPr>
          <p:cNvSpPr>
            <a:spLocks noGrp="1"/>
          </p:cNvSpPr>
          <p:nvPr>
            <p:ph type="body" idx="1"/>
          </p:nvPr>
        </p:nvSpPr>
        <p:spPr/>
        <p:txBody>
          <a:bodyPr/>
          <a:lstStyle/>
          <a:p>
            <a:r>
              <a:rPr lang="en-US" dirty="0">
                <a:ea typeface="Calibri"/>
                <a:cs typeface="Calibri"/>
              </a:rPr>
              <a:t>Reuse factor, reuse pattern and reuse distance</a:t>
            </a:r>
          </a:p>
        </p:txBody>
      </p:sp>
      <p:sp>
        <p:nvSpPr>
          <p:cNvPr id="4" name="Slide Number Placeholder 3">
            <a:extLst>
              <a:ext uri="{FF2B5EF4-FFF2-40B4-BE49-F238E27FC236}">
                <a16:creationId xmlns:a16="http://schemas.microsoft.com/office/drawing/2014/main" id="{BDA432E0-21E2-14F3-9CF6-77C4EB133CA8}"/>
              </a:ext>
            </a:extLst>
          </p:cNvPr>
          <p:cNvSpPr>
            <a:spLocks noGrp="1"/>
          </p:cNvSpPr>
          <p:nvPr>
            <p:ph type="sldNum" sz="quarter" idx="5"/>
          </p:nvPr>
        </p:nvSpPr>
        <p:spPr/>
        <p:txBody>
          <a:bodyPr/>
          <a:lstStyle/>
          <a:p>
            <a:fld id="{1F983A22-BBE7-4A4F-A057-AC8D42951418}" type="slidenum">
              <a:t>39</a:t>
            </a:fld>
            <a:endParaRPr lang="en-US"/>
          </a:p>
        </p:txBody>
      </p:sp>
    </p:spTree>
    <p:extLst>
      <p:ext uri="{BB962C8B-B14F-4D97-AF65-F5344CB8AC3E}">
        <p14:creationId xmlns:p14="http://schemas.microsoft.com/office/powerpoint/2010/main" val="14537295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A574-45AE-B15C-0031-6EEED6135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3FA35-A44A-591D-4638-600A352BB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7F533-DDF7-9EFB-6811-C863A8CD3F2A}"/>
              </a:ext>
            </a:extLst>
          </p:cNvPr>
          <p:cNvSpPr>
            <a:spLocks noGrp="1"/>
          </p:cNvSpPr>
          <p:nvPr>
            <p:ph type="body" idx="1"/>
          </p:nvPr>
        </p:nvSpPr>
        <p:spPr/>
        <p:txBody>
          <a:bodyPr/>
          <a:lstStyle/>
          <a:p>
            <a:r>
              <a:rPr lang="en-US" dirty="0">
                <a:ea typeface="Calibri"/>
                <a:cs typeface="Calibri"/>
              </a:rPr>
              <a:t>Reuse factor, reuse pattern and reuse distance</a:t>
            </a:r>
          </a:p>
        </p:txBody>
      </p:sp>
      <p:sp>
        <p:nvSpPr>
          <p:cNvPr id="4" name="Slide Number Placeholder 3">
            <a:extLst>
              <a:ext uri="{FF2B5EF4-FFF2-40B4-BE49-F238E27FC236}">
                <a16:creationId xmlns:a16="http://schemas.microsoft.com/office/drawing/2014/main" id="{BDA432E0-21E2-14F3-9CF6-77C4EB133CA8}"/>
              </a:ext>
            </a:extLst>
          </p:cNvPr>
          <p:cNvSpPr>
            <a:spLocks noGrp="1"/>
          </p:cNvSpPr>
          <p:nvPr>
            <p:ph type="sldNum" sz="quarter" idx="5"/>
          </p:nvPr>
        </p:nvSpPr>
        <p:spPr/>
        <p:txBody>
          <a:bodyPr/>
          <a:lstStyle/>
          <a:p>
            <a:fld id="{1F983A22-BBE7-4A4F-A057-AC8D42951418}" type="slidenum">
              <a:t>40</a:t>
            </a:fld>
            <a:endParaRPr lang="en-US"/>
          </a:p>
        </p:txBody>
      </p:sp>
    </p:spTree>
    <p:extLst>
      <p:ext uri="{BB962C8B-B14F-4D97-AF65-F5344CB8AC3E}">
        <p14:creationId xmlns:p14="http://schemas.microsoft.com/office/powerpoint/2010/main" val="3978170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B77E1-78B5-CEAF-618B-A372E1E20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0E799-163C-CCC2-D19B-BA7CF157D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E5B74-99BC-F54B-C554-6E7E4A9D28AB}"/>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CF0F4B0C-4A0C-7A18-B42F-0763389508FB}"/>
              </a:ext>
            </a:extLst>
          </p:cNvPr>
          <p:cNvSpPr>
            <a:spLocks noGrp="1"/>
          </p:cNvSpPr>
          <p:nvPr>
            <p:ph type="sldNum" sz="quarter" idx="5"/>
          </p:nvPr>
        </p:nvSpPr>
        <p:spPr/>
        <p:txBody>
          <a:bodyPr/>
          <a:lstStyle/>
          <a:p>
            <a:fld id="{1F983A22-BBE7-4A4F-A057-AC8D42951418}" type="slidenum">
              <a:t>41</a:t>
            </a:fld>
            <a:endParaRPr lang="en-US"/>
          </a:p>
        </p:txBody>
      </p:sp>
    </p:spTree>
    <p:extLst>
      <p:ext uri="{BB962C8B-B14F-4D97-AF65-F5344CB8AC3E}">
        <p14:creationId xmlns:p14="http://schemas.microsoft.com/office/powerpoint/2010/main" val="7941306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75205-3DC2-C7A8-29FA-B3653F2FF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2D16C-28AE-57A7-3E74-814E6F4012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F88C3-73CE-0682-2051-5DE10C424577}"/>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35D728DB-5F14-80FD-A202-1C4C21C2A12C}"/>
              </a:ext>
            </a:extLst>
          </p:cNvPr>
          <p:cNvSpPr>
            <a:spLocks noGrp="1"/>
          </p:cNvSpPr>
          <p:nvPr>
            <p:ph type="sldNum" sz="quarter" idx="5"/>
          </p:nvPr>
        </p:nvSpPr>
        <p:spPr/>
        <p:txBody>
          <a:bodyPr/>
          <a:lstStyle/>
          <a:p>
            <a:fld id="{1F983A22-BBE7-4A4F-A057-AC8D42951418}" type="slidenum">
              <a:t>42</a:t>
            </a:fld>
            <a:endParaRPr lang="en-US"/>
          </a:p>
        </p:txBody>
      </p:sp>
    </p:spTree>
    <p:extLst>
      <p:ext uri="{BB962C8B-B14F-4D97-AF65-F5344CB8AC3E}">
        <p14:creationId xmlns:p14="http://schemas.microsoft.com/office/powerpoint/2010/main" val="30157073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AE38F-BFA9-30E3-0FBA-CFB4A8290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E8427-6A21-39BC-0CF8-11EB10B1E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FFCDB-5E96-CEB6-35A7-43CCB143C808}"/>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02FAC84C-A7D9-574B-8B98-0CC5D0297278}"/>
              </a:ext>
            </a:extLst>
          </p:cNvPr>
          <p:cNvSpPr>
            <a:spLocks noGrp="1"/>
          </p:cNvSpPr>
          <p:nvPr>
            <p:ph type="sldNum" sz="quarter" idx="5"/>
          </p:nvPr>
        </p:nvSpPr>
        <p:spPr/>
        <p:txBody>
          <a:bodyPr/>
          <a:lstStyle/>
          <a:p>
            <a:fld id="{1F983A22-BBE7-4A4F-A057-AC8D42951418}" type="slidenum">
              <a:t>43</a:t>
            </a:fld>
            <a:endParaRPr lang="en-US"/>
          </a:p>
        </p:txBody>
      </p:sp>
    </p:spTree>
    <p:extLst>
      <p:ext uri="{BB962C8B-B14F-4D97-AF65-F5344CB8AC3E}">
        <p14:creationId xmlns:p14="http://schemas.microsoft.com/office/powerpoint/2010/main" val="41840207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7610D-6CFD-1761-0F15-CD85A8E4F1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59146-B637-1B5E-D198-EC8B4E88F6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279DDA-A5A0-EBB5-2AD4-DC4FD9559EF6}"/>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BD55C7F7-35E0-C6BB-2D87-D5CB33D32DFE}"/>
              </a:ext>
            </a:extLst>
          </p:cNvPr>
          <p:cNvSpPr>
            <a:spLocks noGrp="1"/>
          </p:cNvSpPr>
          <p:nvPr>
            <p:ph type="sldNum" sz="quarter" idx="5"/>
          </p:nvPr>
        </p:nvSpPr>
        <p:spPr/>
        <p:txBody>
          <a:bodyPr/>
          <a:lstStyle/>
          <a:p>
            <a:fld id="{1F983A22-BBE7-4A4F-A057-AC8D42951418}" type="slidenum">
              <a:t>44</a:t>
            </a:fld>
            <a:endParaRPr lang="en-US"/>
          </a:p>
        </p:txBody>
      </p:sp>
    </p:spTree>
    <p:extLst>
      <p:ext uri="{BB962C8B-B14F-4D97-AF65-F5344CB8AC3E}">
        <p14:creationId xmlns:p14="http://schemas.microsoft.com/office/powerpoint/2010/main" val="19487464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0B91A-716C-2686-73B4-B9E4F35E2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CFF09-03DC-DAB6-FAC3-963D9CE687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200E7-460F-7261-4997-3FF0D4EBF1FE}"/>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34D703ED-186C-A233-0D9D-3DE81601EBAB}"/>
              </a:ext>
            </a:extLst>
          </p:cNvPr>
          <p:cNvSpPr>
            <a:spLocks noGrp="1"/>
          </p:cNvSpPr>
          <p:nvPr>
            <p:ph type="sldNum" sz="quarter" idx="5"/>
          </p:nvPr>
        </p:nvSpPr>
        <p:spPr/>
        <p:txBody>
          <a:bodyPr/>
          <a:lstStyle/>
          <a:p>
            <a:fld id="{1F983A22-BBE7-4A4F-A057-AC8D42951418}" type="slidenum">
              <a:t>45</a:t>
            </a:fld>
            <a:endParaRPr lang="en-US"/>
          </a:p>
        </p:txBody>
      </p:sp>
    </p:spTree>
    <p:extLst>
      <p:ext uri="{BB962C8B-B14F-4D97-AF65-F5344CB8AC3E}">
        <p14:creationId xmlns:p14="http://schemas.microsoft.com/office/powerpoint/2010/main" val="14151794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5C0BC-F2A7-A8E6-7503-6A27C1454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E9492-1728-48F1-200C-110C13064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2F7CFD-9EF8-6ACE-3925-F31A328E6DB3}"/>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88981618-9A6E-04A8-4351-C9CE824B50EA}"/>
              </a:ext>
            </a:extLst>
          </p:cNvPr>
          <p:cNvSpPr>
            <a:spLocks noGrp="1"/>
          </p:cNvSpPr>
          <p:nvPr>
            <p:ph type="sldNum" sz="quarter" idx="5"/>
          </p:nvPr>
        </p:nvSpPr>
        <p:spPr/>
        <p:txBody>
          <a:bodyPr/>
          <a:lstStyle/>
          <a:p>
            <a:fld id="{1F983A22-BBE7-4A4F-A057-AC8D42951418}" type="slidenum">
              <a:t>46</a:t>
            </a:fld>
            <a:endParaRPr lang="en-US"/>
          </a:p>
        </p:txBody>
      </p:sp>
    </p:spTree>
    <p:extLst>
      <p:ext uri="{BB962C8B-B14F-4D97-AF65-F5344CB8AC3E}">
        <p14:creationId xmlns:p14="http://schemas.microsoft.com/office/powerpoint/2010/main" val="36427788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81C9-08F1-2614-2EEB-073A10A8F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A8032-5234-F7AD-8945-8E7783E97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EA0EE-B38C-33A7-49DA-8F92358F32AC}"/>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0D7706CD-510C-E8F3-918F-99170F32DEB2}"/>
              </a:ext>
            </a:extLst>
          </p:cNvPr>
          <p:cNvSpPr>
            <a:spLocks noGrp="1"/>
          </p:cNvSpPr>
          <p:nvPr>
            <p:ph type="sldNum" sz="quarter" idx="5"/>
          </p:nvPr>
        </p:nvSpPr>
        <p:spPr/>
        <p:txBody>
          <a:bodyPr/>
          <a:lstStyle/>
          <a:p>
            <a:fld id="{1F983A22-BBE7-4A4F-A057-AC8D42951418}" type="slidenum">
              <a:t>47</a:t>
            </a:fld>
            <a:endParaRPr lang="en-US"/>
          </a:p>
        </p:txBody>
      </p:sp>
    </p:spTree>
    <p:extLst>
      <p:ext uri="{BB962C8B-B14F-4D97-AF65-F5344CB8AC3E}">
        <p14:creationId xmlns:p14="http://schemas.microsoft.com/office/powerpoint/2010/main" val="12882860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CB9FD-6F26-4EA1-4911-9FB5FEAB2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8EEF0-FEA2-AE1C-DF70-3C053C30E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5EFFDD-B885-2664-5CDE-0CCA0BA9AAFA}"/>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1398EC74-28C1-308E-8FBF-4279F86BAA04}"/>
              </a:ext>
            </a:extLst>
          </p:cNvPr>
          <p:cNvSpPr>
            <a:spLocks noGrp="1"/>
          </p:cNvSpPr>
          <p:nvPr>
            <p:ph type="sldNum" sz="quarter" idx="5"/>
          </p:nvPr>
        </p:nvSpPr>
        <p:spPr/>
        <p:txBody>
          <a:bodyPr/>
          <a:lstStyle/>
          <a:p>
            <a:fld id="{1F983A22-BBE7-4A4F-A057-AC8D42951418}" type="slidenum">
              <a:t>48</a:t>
            </a:fld>
            <a:endParaRPr lang="en-US"/>
          </a:p>
        </p:txBody>
      </p:sp>
    </p:spTree>
    <p:extLst>
      <p:ext uri="{BB962C8B-B14F-4D97-AF65-F5344CB8AC3E}">
        <p14:creationId xmlns:p14="http://schemas.microsoft.com/office/powerpoint/2010/main" val="29334798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84BDB-38C5-4DA0-292D-51AD78EF1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2593B-D78D-4F6F-01FD-37E9A89C6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7F53C5-FE59-9EB7-092A-0E5E74F845EF}"/>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C7275D40-CAD5-3144-36E6-24CB93E71E3D}"/>
              </a:ext>
            </a:extLst>
          </p:cNvPr>
          <p:cNvSpPr>
            <a:spLocks noGrp="1"/>
          </p:cNvSpPr>
          <p:nvPr>
            <p:ph type="sldNum" sz="quarter" idx="5"/>
          </p:nvPr>
        </p:nvSpPr>
        <p:spPr/>
        <p:txBody>
          <a:bodyPr/>
          <a:lstStyle/>
          <a:p>
            <a:fld id="{1F983A22-BBE7-4A4F-A057-AC8D42951418}" type="slidenum">
              <a:t>49</a:t>
            </a:fld>
            <a:endParaRPr lang="en-US"/>
          </a:p>
        </p:txBody>
      </p:sp>
    </p:spTree>
    <p:extLst>
      <p:ext uri="{BB962C8B-B14F-4D97-AF65-F5344CB8AC3E}">
        <p14:creationId xmlns:p14="http://schemas.microsoft.com/office/powerpoint/2010/main" val="26828526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B720-5BE6-5B63-94A0-037108B26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08D91-0AA8-4443-2F05-7C06F16830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C1144-DC80-F2A4-B15C-370FD982858C}"/>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0FE3A9CF-A55F-CF8F-F599-38A7AB159722}"/>
              </a:ext>
            </a:extLst>
          </p:cNvPr>
          <p:cNvSpPr>
            <a:spLocks noGrp="1"/>
          </p:cNvSpPr>
          <p:nvPr>
            <p:ph type="sldNum" sz="quarter" idx="5"/>
          </p:nvPr>
        </p:nvSpPr>
        <p:spPr/>
        <p:txBody>
          <a:bodyPr/>
          <a:lstStyle/>
          <a:p>
            <a:fld id="{1F983A22-BBE7-4A4F-A057-AC8D42951418}" type="slidenum">
              <a:t>50</a:t>
            </a:fld>
            <a:endParaRPr lang="en-US"/>
          </a:p>
        </p:txBody>
      </p:sp>
    </p:spTree>
    <p:extLst>
      <p:ext uri="{BB962C8B-B14F-4D97-AF65-F5344CB8AC3E}">
        <p14:creationId xmlns:p14="http://schemas.microsoft.com/office/powerpoint/2010/main" val="17019938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65F0E-6E94-96CD-E493-96CA9BBE0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C1990-84BE-BB0C-51C6-5F0687E0D7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C9C93-CEE2-5C95-DDA9-0276C202AE3D}"/>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B9A8B360-7608-62CD-DA6C-D88008D8969E}"/>
              </a:ext>
            </a:extLst>
          </p:cNvPr>
          <p:cNvSpPr>
            <a:spLocks noGrp="1"/>
          </p:cNvSpPr>
          <p:nvPr>
            <p:ph type="sldNum" sz="quarter" idx="5"/>
          </p:nvPr>
        </p:nvSpPr>
        <p:spPr/>
        <p:txBody>
          <a:bodyPr/>
          <a:lstStyle/>
          <a:p>
            <a:fld id="{1F983A22-BBE7-4A4F-A057-AC8D42951418}" type="slidenum">
              <a:t>51</a:t>
            </a:fld>
            <a:endParaRPr lang="en-US"/>
          </a:p>
        </p:txBody>
      </p:sp>
    </p:spTree>
    <p:extLst>
      <p:ext uri="{BB962C8B-B14F-4D97-AF65-F5344CB8AC3E}">
        <p14:creationId xmlns:p14="http://schemas.microsoft.com/office/powerpoint/2010/main" val="11843557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7DEA1-592E-BE64-3756-EF46C9C61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045B9-C407-7DA5-A5DC-729C123385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9FD8F1-E78F-E31B-80C6-678143552E0A}"/>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AAC914C6-338A-960E-C72A-07C71285BB0F}"/>
              </a:ext>
            </a:extLst>
          </p:cNvPr>
          <p:cNvSpPr>
            <a:spLocks noGrp="1"/>
          </p:cNvSpPr>
          <p:nvPr>
            <p:ph type="sldNum" sz="quarter" idx="5"/>
          </p:nvPr>
        </p:nvSpPr>
        <p:spPr/>
        <p:txBody>
          <a:bodyPr/>
          <a:lstStyle/>
          <a:p>
            <a:fld id="{1F983A22-BBE7-4A4F-A057-AC8D42951418}" type="slidenum">
              <a:t>52</a:t>
            </a:fld>
            <a:endParaRPr lang="en-US"/>
          </a:p>
        </p:txBody>
      </p:sp>
    </p:spTree>
    <p:extLst>
      <p:ext uri="{BB962C8B-B14F-4D97-AF65-F5344CB8AC3E}">
        <p14:creationId xmlns:p14="http://schemas.microsoft.com/office/powerpoint/2010/main" val="8378363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46B9E-8B9F-7CCB-48EB-A286045CA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E34CC-F7F8-D997-5F3E-CDD3684AA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E409DB-C1CB-3585-DC32-96BE460A186A}"/>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108DB70A-5858-2341-89B5-56E1C16D29A3}"/>
              </a:ext>
            </a:extLst>
          </p:cNvPr>
          <p:cNvSpPr>
            <a:spLocks noGrp="1"/>
          </p:cNvSpPr>
          <p:nvPr>
            <p:ph type="sldNum" sz="quarter" idx="5"/>
          </p:nvPr>
        </p:nvSpPr>
        <p:spPr/>
        <p:txBody>
          <a:bodyPr/>
          <a:lstStyle/>
          <a:p>
            <a:fld id="{1F983A22-BBE7-4A4F-A057-AC8D42951418}" type="slidenum">
              <a:t>53</a:t>
            </a:fld>
            <a:endParaRPr lang="en-US"/>
          </a:p>
        </p:txBody>
      </p:sp>
    </p:spTree>
    <p:extLst>
      <p:ext uri="{BB962C8B-B14F-4D97-AF65-F5344CB8AC3E}">
        <p14:creationId xmlns:p14="http://schemas.microsoft.com/office/powerpoint/2010/main" val="41766976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E8142-22B3-5B3B-6250-FE7E382DF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F5051-0B3E-FEFE-0507-8BC04098B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35E700-9673-AF3C-1FE5-6B8C791F425D}"/>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36DA3BB8-7740-6E9D-9DF9-3B333B0F4C0A}"/>
              </a:ext>
            </a:extLst>
          </p:cNvPr>
          <p:cNvSpPr>
            <a:spLocks noGrp="1"/>
          </p:cNvSpPr>
          <p:nvPr>
            <p:ph type="sldNum" sz="quarter" idx="5"/>
          </p:nvPr>
        </p:nvSpPr>
        <p:spPr/>
        <p:txBody>
          <a:bodyPr/>
          <a:lstStyle/>
          <a:p>
            <a:fld id="{1F983A22-BBE7-4A4F-A057-AC8D42951418}" type="slidenum">
              <a:t>54</a:t>
            </a:fld>
            <a:endParaRPr lang="en-US"/>
          </a:p>
        </p:txBody>
      </p:sp>
    </p:spTree>
    <p:extLst>
      <p:ext uri="{BB962C8B-B14F-4D97-AF65-F5344CB8AC3E}">
        <p14:creationId xmlns:p14="http://schemas.microsoft.com/office/powerpoint/2010/main" val="31011449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E0480-64EB-824A-08A7-3473C7FF4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E030F-1104-6544-BC8D-B7402D4D3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0B7A59-E928-702A-C03A-FA6349D95121}"/>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F7A95654-5BAB-D0B6-39A2-699045580234}"/>
              </a:ext>
            </a:extLst>
          </p:cNvPr>
          <p:cNvSpPr>
            <a:spLocks noGrp="1"/>
          </p:cNvSpPr>
          <p:nvPr>
            <p:ph type="sldNum" sz="quarter" idx="5"/>
          </p:nvPr>
        </p:nvSpPr>
        <p:spPr/>
        <p:txBody>
          <a:bodyPr/>
          <a:lstStyle/>
          <a:p>
            <a:fld id="{1F983A22-BBE7-4A4F-A057-AC8D42951418}" type="slidenum">
              <a:t>55</a:t>
            </a:fld>
            <a:endParaRPr lang="en-US"/>
          </a:p>
        </p:txBody>
      </p:sp>
    </p:spTree>
    <p:extLst>
      <p:ext uri="{BB962C8B-B14F-4D97-AF65-F5344CB8AC3E}">
        <p14:creationId xmlns:p14="http://schemas.microsoft.com/office/powerpoint/2010/main" val="2524603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DDBD2-9C76-8368-105D-05F072E45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D8149-A03B-6F03-A0F2-6AFC12343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834823-B5E3-30B4-BEC8-395487E0302A}"/>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CF40FB2E-D1CC-500C-48C9-6C1CAC9A544C}"/>
              </a:ext>
            </a:extLst>
          </p:cNvPr>
          <p:cNvSpPr>
            <a:spLocks noGrp="1"/>
          </p:cNvSpPr>
          <p:nvPr>
            <p:ph type="sldNum" sz="quarter" idx="5"/>
          </p:nvPr>
        </p:nvSpPr>
        <p:spPr/>
        <p:txBody>
          <a:bodyPr/>
          <a:lstStyle/>
          <a:p>
            <a:fld id="{1F983A22-BBE7-4A4F-A057-AC8D42951418}" type="slidenum">
              <a:t>56</a:t>
            </a:fld>
            <a:endParaRPr lang="en-US"/>
          </a:p>
        </p:txBody>
      </p:sp>
    </p:spTree>
    <p:extLst>
      <p:ext uri="{BB962C8B-B14F-4D97-AF65-F5344CB8AC3E}">
        <p14:creationId xmlns:p14="http://schemas.microsoft.com/office/powerpoint/2010/main" val="14748533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B103B-5541-1701-19D7-DCCC45641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C55CF-7536-92DD-B551-34BE2B6FE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524A9-F01F-F94D-5EFF-A40B27965317}"/>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152EBD77-A114-C6BA-553D-ED4159E64640}"/>
              </a:ext>
            </a:extLst>
          </p:cNvPr>
          <p:cNvSpPr>
            <a:spLocks noGrp="1"/>
          </p:cNvSpPr>
          <p:nvPr>
            <p:ph type="sldNum" sz="quarter" idx="5"/>
          </p:nvPr>
        </p:nvSpPr>
        <p:spPr/>
        <p:txBody>
          <a:bodyPr/>
          <a:lstStyle/>
          <a:p>
            <a:fld id="{1F983A22-BBE7-4A4F-A057-AC8D42951418}" type="slidenum">
              <a:t>57</a:t>
            </a:fld>
            <a:endParaRPr lang="en-US"/>
          </a:p>
        </p:txBody>
      </p:sp>
    </p:spTree>
    <p:extLst>
      <p:ext uri="{BB962C8B-B14F-4D97-AF65-F5344CB8AC3E}">
        <p14:creationId xmlns:p14="http://schemas.microsoft.com/office/powerpoint/2010/main" val="19739516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CC1D0-A149-927D-1A81-5573BABE80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48734-53DB-5F2C-3855-E1D9381AD3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363692-E0A4-6C89-D504-0D6DEFE2F29E}"/>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BB48E046-F32B-23AC-85F3-95A0F8B8DA91}"/>
              </a:ext>
            </a:extLst>
          </p:cNvPr>
          <p:cNvSpPr>
            <a:spLocks noGrp="1"/>
          </p:cNvSpPr>
          <p:nvPr>
            <p:ph type="sldNum" sz="quarter" idx="5"/>
          </p:nvPr>
        </p:nvSpPr>
        <p:spPr/>
        <p:txBody>
          <a:bodyPr/>
          <a:lstStyle/>
          <a:p>
            <a:fld id="{1F983A22-BBE7-4A4F-A057-AC8D42951418}" type="slidenum">
              <a:t>58</a:t>
            </a:fld>
            <a:endParaRPr lang="en-US"/>
          </a:p>
        </p:txBody>
      </p:sp>
    </p:spTree>
    <p:extLst>
      <p:ext uri="{BB962C8B-B14F-4D97-AF65-F5344CB8AC3E}">
        <p14:creationId xmlns:p14="http://schemas.microsoft.com/office/powerpoint/2010/main" val="1979578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8AF5-DB82-3474-ADE0-33F6A7C99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146E5-0142-E5C6-6FD7-8AA6A954F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1F9F3-C7A6-5820-0BA7-49B846F77583}"/>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17D42F65-801E-5F8D-0305-D81C5B65BFB8}"/>
              </a:ext>
            </a:extLst>
          </p:cNvPr>
          <p:cNvSpPr>
            <a:spLocks noGrp="1"/>
          </p:cNvSpPr>
          <p:nvPr>
            <p:ph type="sldNum" sz="quarter" idx="5"/>
          </p:nvPr>
        </p:nvSpPr>
        <p:spPr/>
        <p:txBody>
          <a:bodyPr/>
          <a:lstStyle/>
          <a:p>
            <a:fld id="{1F983A22-BBE7-4A4F-A057-AC8D42951418}" type="slidenum">
              <a:t>59</a:t>
            </a:fld>
            <a:endParaRPr lang="en-US"/>
          </a:p>
        </p:txBody>
      </p:sp>
    </p:spTree>
    <p:extLst>
      <p:ext uri="{BB962C8B-B14F-4D97-AF65-F5344CB8AC3E}">
        <p14:creationId xmlns:p14="http://schemas.microsoft.com/office/powerpoint/2010/main" val="21584070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C92C9-7FC7-757F-F9F3-8B27D5BA8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6E19E-120D-F40B-23B7-D47474D1B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513E5F-BB1E-4534-0486-D7E2E5018AD0}"/>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254028DC-3ADD-EEF8-1022-BEC511D65555}"/>
              </a:ext>
            </a:extLst>
          </p:cNvPr>
          <p:cNvSpPr>
            <a:spLocks noGrp="1"/>
          </p:cNvSpPr>
          <p:nvPr>
            <p:ph type="sldNum" sz="quarter" idx="5"/>
          </p:nvPr>
        </p:nvSpPr>
        <p:spPr/>
        <p:txBody>
          <a:bodyPr/>
          <a:lstStyle/>
          <a:p>
            <a:fld id="{1F983A22-BBE7-4A4F-A057-AC8D42951418}" type="slidenum">
              <a:t>60</a:t>
            </a:fld>
            <a:endParaRPr lang="en-US"/>
          </a:p>
        </p:txBody>
      </p:sp>
    </p:spTree>
    <p:extLst>
      <p:ext uri="{BB962C8B-B14F-4D97-AF65-F5344CB8AC3E}">
        <p14:creationId xmlns:p14="http://schemas.microsoft.com/office/powerpoint/2010/main" val="35689978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4EC73-86F5-F756-70EE-DF26166B5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9F9DC-B9B4-7937-69EA-E4712ED70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62E2BC-02A7-FFE8-97AA-2AD970F08EA9}"/>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316D2B03-9780-78DF-2B53-A7C742C85312}"/>
              </a:ext>
            </a:extLst>
          </p:cNvPr>
          <p:cNvSpPr>
            <a:spLocks noGrp="1"/>
          </p:cNvSpPr>
          <p:nvPr>
            <p:ph type="sldNum" sz="quarter" idx="5"/>
          </p:nvPr>
        </p:nvSpPr>
        <p:spPr/>
        <p:txBody>
          <a:bodyPr/>
          <a:lstStyle/>
          <a:p>
            <a:fld id="{1F983A22-BBE7-4A4F-A057-AC8D42951418}" type="slidenum">
              <a:t>61</a:t>
            </a:fld>
            <a:endParaRPr lang="en-US"/>
          </a:p>
        </p:txBody>
      </p:sp>
    </p:spTree>
    <p:extLst>
      <p:ext uri="{BB962C8B-B14F-4D97-AF65-F5344CB8AC3E}">
        <p14:creationId xmlns:p14="http://schemas.microsoft.com/office/powerpoint/2010/main" val="363695476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C8D38-0AC9-A6DF-A066-0EA300DD3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8B612-B426-F302-D307-C9E899D7D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958A98-7B23-1E33-BC46-7BB936A4A9F1}"/>
              </a:ext>
            </a:extLst>
          </p:cNvPr>
          <p:cNvSpPr>
            <a:spLocks noGrp="1"/>
          </p:cNvSpPr>
          <p:nvPr>
            <p:ph type="body" idx="1"/>
          </p:nvPr>
        </p:nvSpPr>
        <p:spPr/>
        <p:txBody>
          <a:bodyPr/>
          <a:lstStyle/>
          <a:p>
            <a:r>
              <a:rPr lang="en-US" dirty="0"/>
              <a:t>Soft handover is particularly useful in environments with rapidly changing signal conditions, such as urban areas with tall buildings or areas with high mobility.</a:t>
            </a:r>
          </a:p>
        </p:txBody>
      </p:sp>
      <p:sp>
        <p:nvSpPr>
          <p:cNvPr id="4" name="Slide Number Placeholder 3">
            <a:extLst>
              <a:ext uri="{FF2B5EF4-FFF2-40B4-BE49-F238E27FC236}">
                <a16:creationId xmlns:a16="http://schemas.microsoft.com/office/drawing/2014/main" id="{7AA9248E-FA37-498E-318E-38CF559B8E01}"/>
              </a:ext>
            </a:extLst>
          </p:cNvPr>
          <p:cNvSpPr>
            <a:spLocks noGrp="1"/>
          </p:cNvSpPr>
          <p:nvPr>
            <p:ph type="sldNum" sz="quarter" idx="5"/>
          </p:nvPr>
        </p:nvSpPr>
        <p:spPr/>
        <p:txBody>
          <a:bodyPr/>
          <a:lstStyle/>
          <a:p>
            <a:fld id="{1F983A22-BBE7-4A4F-A057-AC8D42951418}" type="slidenum">
              <a:t>62</a:t>
            </a:fld>
            <a:endParaRPr lang="en-US"/>
          </a:p>
        </p:txBody>
      </p:sp>
    </p:spTree>
    <p:extLst>
      <p:ext uri="{BB962C8B-B14F-4D97-AF65-F5344CB8AC3E}">
        <p14:creationId xmlns:p14="http://schemas.microsoft.com/office/powerpoint/2010/main" val="2621003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197187"/>
            <a:ext cx="12344400" cy="2546773"/>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2057400" y="3842174"/>
            <a:ext cx="12344400" cy="1766146"/>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2998" y="1823721"/>
            <a:ext cx="14196060" cy="3042919"/>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1122998" y="4895428"/>
            <a:ext cx="14196060" cy="160019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31570" y="1947333"/>
            <a:ext cx="6995160" cy="46414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332470" y="1947333"/>
            <a:ext cx="6995160" cy="46414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3714" y="389467"/>
            <a:ext cx="14196060" cy="1413934"/>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33715" y="1793241"/>
            <a:ext cx="6963012" cy="8788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33715" y="2672080"/>
            <a:ext cx="6963012" cy="3930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332470" y="1793241"/>
            <a:ext cx="6997304" cy="8788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8332470" y="2672080"/>
            <a:ext cx="6997304" cy="3930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487680"/>
            <a:ext cx="5308520" cy="170688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6997304" y="1053254"/>
            <a:ext cx="8332470" cy="519853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33714" y="2194560"/>
            <a:ext cx="5308520" cy="40656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487680"/>
            <a:ext cx="5308520" cy="170688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97304" y="1053254"/>
            <a:ext cx="8332470" cy="519853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33714" y="2194560"/>
            <a:ext cx="5308520" cy="40656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78615" y="389467"/>
            <a:ext cx="3549015" cy="619929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31570" y="389467"/>
            <a:ext cx="10441305" cy="619929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197188"/>
            <a:ext cx="12344400" cy="2546773"/>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2057400" y="3842174"/>
            <a:ext cx="12344400" cy="1766146"/>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5" name="Footer Placeholder 4"/>
          <p:cNvSpPr>
            <a:spLocks noGrp="1"/>
          </p:cNvSpPr>
          <p:nvPr>
            <p:ph type="ftr" sz="quarter" idx="11"/>
          </p:nvPr>
        </p:nvSpPr>
        <p:spPr/>
        <p:txBody>
          <a:bodyPr/>
          <a:lstStyle/>
          <a:p>
            <a:endParaRPr lang="en-US">
              <a:solidFill>
                <a:prstClr val="black">
                  <a:tint val="82000"/>
                </a:prstClr>
              </a:solidFill>
            </a:endParaRPr>
          </a:p>
        </p:txBody>
      </p:sp>
      <p:sp>
        <p:nvSpPr>
          <p:cNvPr id="6" name="Slide Number Placeholder 5"/>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1554565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5" name="Footer Placeholder 4"/>
          <p:cNvSpPr>
            <a:spLocks noGrp="1"/>
          </p:cNvSpPr>
          <p:nvPr>
            <p:ph type="ftr" sz="quarter" idx="11"/>
          </p:nvPr>
        </p:nvSpPr>
        <p:spPr/>
        <p:txBody>
          <a:bodyPr/>
          <a:lstStyle/>
          <a:p>
            <a:endParaRPr lang="en-US">
              <a:solidFill>
                <a:prstClr val="black">
                  <a:tint val="82000"/>
                </a:prstClr>
              </a:solidFill>
            </a:endParaRPr>
          </a:p>
        </p:txBody>
      </p:sp>
      <p:sp>
        <p:nvSpPr>
          <p:cNvPr id="6" name="Slide Number Placeholder 5"/>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2735929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2998" y="1823722"/>
            <a:ext cx="14196060" cy="3042919"/>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1122998" y="4895429"/>
            <a:ext cx="14196060" cy="160019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5" name="Footer Placeholder 4"/>
          <p:cNvSpPr>
            <a:spLocks noGrp="1"/>
          </p:cNvSpPr>
          <p:nvPr>
            <p:ph type="ftr" sz="quarter" idx="11"/>
          </p:nvPr>
        </p:nvSpPr>
        <p:spPr/>
        <p:txBody>
          <a:bodyPr/>
          <a:lstStyle/>
          <a:p>
            <a:endParaRPr lang="en-US">
              <a:solidFill>
                <a:prstClr val="black">
                  <a:tint val="82000"/>
                </a:prstClr>
              </a:solidFill>
            </a:endParaRPr>
          </a:p>
        </p:txBody>
      </p:sp>
      <p:sp>
        <p:nvSpPr>
          <p:cNvPr id="6" name="Slide Number Placeholder 5"/>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2307076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31570" y="1947334"/>
            <a:ext cx="6995160" cy="46414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332470" y="1947334"/>
            <a:ext cx="6995160" cy="46414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6" name="Footer Placeholder 5"/>
          <p:cNvSpPr>
            <a:spLocks noGrp="1"/>
          </p:cNvSpPr>
          <p:nvPr>
            <p:ph type="ftr" sz="quarter" idx="11"/>
          </p:nvPr>
        </p:nvSpPr>
        <p:spPr/>
        <p:txBody>
          <a:bodyPr/>
          <a:lstStyle/>
          <a:p>
            <a:endParaRPr lang="en-US">
              <a:solidFill>
                <a:prstClr val="black">
                  <a:tint val="82000"/>
                </a:prstClr>
              </a:solidFill>
            </a:endParaRPr>
          </a:p>
        </p:txBody>
      </p:sp>
      <p:sp>
        <p:nvSpPr>
          <p:cNvPr id="7" name="Slide Number Placeholder 6"/>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30246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3714" y="389467"/>
            <a:ext cx="14196060" cy="1413934"/>
          </a:xfrm>
        </p:spPr>
        <p:txBody>
          <a:bodyPr/>
          <a:lstStyle/>
          <a:p>
            <a:r>
              <a:rPr lang="en-US"/>
              <a:t>Click to edit Master title style</a:t>
            </a:r>
          </a:p>
        </p:txBody>
      </p:sp>
      <p:sp>
        <p:nvSpPr>
          <p:cNvPr id="3" name="Text Placeholder 2"/>
          <p:cNvSpPr>
            <a:spLocks noGrp="1"/>
          </p:cNvSpPr>
          <p:nvPr>
            <p:ph type="body" idx="1"/>
          </p:nvPr>
        </p:nvSpPr>
        <p:spPr>
          <a:xfrm>
            <a:off x="1133715" y="1793242"/>
            <a:ext cx="6963012" cy="8788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33715" y="2672081"/>
            <a:ext cx="6963012" cy="3930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8332471" y="1793242"/>
            <a:ext cx="6997304" cy="8788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8332471" y="2672081"/>
            <a:ext cx="6997304" cy="3930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8" name="Footer Placeholder 7"/>
          <p:cNvSpPr>
            <a:spLocks noGrp="1"/>
          </p:cNvSpPr>
          <p:nvPr>
            <p:ph type="ftr" sz="quarter" idx="11"/>
          </p:nvPr>
        </p:nvSpPr>
        <p:spPr/>
        <p:txBody>
          <a:bodyPr/>
          <a:lstStyle/>
          <a:p>
            <a:endParaRPr lang="en-US">
              <a:solidFill>
                <a:prstClr val="black">
                  <a:tint val="82000"/>
                </a:prstClr>
              </a:solidFill>
            </a:endParaRPr>
          </a:p>
        </p:txBody>
      </p:sp>
      <p:sp>
        <p:nvSpPr>
          <p:cNvPr id="9" name="Slide Number Placeholder 8"/>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38485692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4" name="Footer Placeholder 3"/>
          <p:cNvSpPr>
            <a:spLocks noGrp="1"/>
          </p:cNvSpPr>
          <p:nvPr>
            <p:ph type="ftr" sz="quarter" idx="11"/>
          </p:nvPr>
        </p:nvSpPr>
        <p:spPr/>
        <p:txBody>
          <a:bodyPr/>
          <a:lstStyle/>
          <a:p>
            <a:endParaRPr lang="en-US">
              <a:solidFill>
                <a:prstClr val="black">
                  <a:tint val="82000"/>
                </a:prstClr>
              </a:solidFill>
            </a:endParaRPr>
          </a:p>
        </p:txBody>
      </p:sp>
      <p:sp>
        <p:nvSpPr>
          <p:cNvPr id="5" name="Slide Number Placeholder 4"/>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13995047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3" name="Footer Placeholder 2"/>
          <p:cNvSpPr>
            <a:spLocks noGrp="1"/>
          </p:cNvSpPr>
          <p:nvPr>
            <p:ph type="ftr" sz="quarter" idx="11"/>
          </p:nvPr>
        </p:nvSpPr>
        <p:spPr/>
        <p:txBody>
          <a:bodyPr/>
          <a:lstStyle/>
          <a:p>
            <a:endParaRPr lang="en-US">
              <a:solidFill>
                <a:prstClr val="black">
                  <a:tint val="82000"/>
                </a:prstClr>
              </a:solidFill>
            </a:endParaRPr>
          </a:p>
        </p:txBody>
      </p:sp>
      <p:sp>
        <p:nvSpPr>
          <p:cNvPr id="4" name="Slide Number Placeholder 3"/>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37700290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487680"/>
            <a:ext cx="5308520" cy="170688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6997305" y="1053255"/>
            <a:ext cx="8332470" cy="519853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33714" y="2194560"/>
            <a:ext cx="5308520" cy="40656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6" name="Footer Placeholder 5"/>
          <p:cNvSpPr>
            <a:spLocks noGrp="1"/>
          </p:cNvSpPr>
          <p:nvPr>
            <p:ph type="ftr" sz="quarter" idx="11"/>
          </p:nvPr>
        </p:nvSpPr>
        <p:spPr/>
        <p:txBody>
          <a:bodyPr/>
          <a:lstStyle/>
          <a:p>
            <a:endParaRPr lang="en-US">
              <a:solidFill>
                <a:prstClr val="black">
                  <a:tint val="82000"/>
                </a:prstClr>
              </a:solidFill>
            </a:endParaRPr>
          </a:p>
        </p:txBody>
      </p:sp>
      <p:sp>
        <p:nvSpPr>
          <p:cNvPr id="7" name="Slide Number Placeholder 6"/>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36143595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487680"/>
            <a:ext cx="5308520" cy="170688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6997305" y="1053255"/>
            <a:ext cx="8332470" cy="519853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33714" y="2194560"/>
            <a:ext cx="5308520" cy="406569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6" name="Footer Placeholder 5"/>
          <p:cNvSpPr>
            <a:spLocks noGrp="1"/>
          </p:cNvSpPr>
          <p:nvPr>
            <p:ph type="ftr" sz="quarter" idx="11"/>
          </p:nvPr>
        </p:nvSpPr>
        <p:spPr/>
        <p:txBody>
          <a:bodyPr/>
          <a:lstStyle/>
          <a:p>
            <a:endParaRPr lang="en-US">
              <a:solidFill>
                <a:prstClr val="black">
                  <a:tint val="82000"/>
                </a:prstClr>
              </a:solidFill>
            </a:endParaRPr>
          </a:p>
        </p:txBody>
      </p:sp>
      <p:sp>
        <p:nvSpPr>
          <p:cNvPr id="7" name="Slide Number Placeholder 6"/>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11354382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5" name="Footer Placeholder 4"/>
          <p:cNvSpPr>
            <a:spLocks noGrp="1"/>
          </p:cNvSpPr>
          <p:nvPr>
            <p:ph type="ftr" sz="quarter" idx="11"/>
          </p:nvPr>
        </p:nvSpPr>
        <p:spPr/>
        <p:txBody>
          <a:bodyPr/>
          <a:lstStyle/>
          <a:p>
            <a:endParaRPr lang="en-US">
              <a:solidFill>
                <a:prstClr val="black">
                  <a:tint val="82000"/>
                </a:prstClr>
              </a:solidFill>
            </a:endParaRPr>
          </a:p>
        </p:txBody>
      </p:sp>
      <p:sp>
        <p:nvSpPr>
          <p:cNvPr id="6" name="Slide Number Placeholder 5"/>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3411682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78614" y="389467"/>
            <a:ext cx="3549016" cy="619929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31570" y="389467"/>
            <a:ext cx="10441306" cy="619929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5" name="Footer Placeholder 4"/>
          <p:cNvSpPr>
            <a:spLocks noGrp="1"/>
          </p:cNvSpPr>
          <p:nvPr>
            <p:ph type="ftr" sz="quarter" idx="11"/>
          </p:nvPr>
        </p:nvSpPr>
        <p:spPr/>
        <p:txBody>
          <a:bodyPr/>
          <a:lstStyle/>
          <a:p>
            <a:endParaRPr lang="en-US">
              <a:solidFill>
                <a:prstClr val="black">
                  <a:tint val="82000"/>
                </a:prstClr>
              </a:solidFill>
            </a:endParaRPr>
          </a:p>
        </p:txBody>
      </p:sp>
      <p:sp>
        <p:nvSpPr>
          <p:cNvPr id="6" name="Slide Number Placeholder 5"/>
          <p:cNvSpPr>
            <a:spLocks noGrp="1"/>
          </p:cNvSpPr>
          <p:nvPr>
            <p:ph type="sldNum" sz="quarter" idx="12"/>
          </p:nvPr>
        </p:nvSpPr>
        <p:spPr/>
        <p:txBody>
          <a:body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3930709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389467"/>
            <a:ext cx="14196060" cy="141393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1947333"/>
            <a:ext cx="14196060" cy="46414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6780107"/>
            <a:ext cx="3703320" cy="389467"/>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5/18/2026</a:t>
            </a:fld>
            <a:endParaRPr lang="en-US"/>
          </a:p>
        </p:txBody>
      </p:sp>
      <p:sp>
        <p:nvSpPr>
          <p:cNvPr id="5" name="Footer Placeholder 4"/>
          <p:cNvSpPr>
            <a:spLocks noGrp="1"/>
          </p:cNvSpPr>
          <p:nvPr>
            <p:ph type="ftr" sz="quarter" idx="3"/>
          </p:nvPr>
        </p:nvSpPr>
        <p:spPr>
          <a:xfrm>
            <a:off x="5452110" y="6780107"/>
            <a:ext cx="5554980" cy="38946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1624310" y="6780107"/>
            <a:ext cx="3703320" cy="389467"/>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389467"/>
            <a:ext cx="14196060" cy="141393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31570" y="1947334"/>
            <a:ext cx="14196060" cy="46414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31570" y="6780108"/>
            <a:ext cx="3703320" cy="389467"/>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solidFill>
                  <a:prstClr val="black">
                    <a:tint val="82000"/>
                  </a:prstClr>
                </a:solidFill>
              </a:rPr>
              <a:pPr/>
              <a:t>5/18/2026</a:t>
            </a:fld>
            <a:endParaRPr lang="en-US">
              <a:solidFill>
                <a:prstClr val="black">
                  <a:tint val="82000"/>
                </a:prstClr>
              </a:solidFill>
            </a:endParaRPr>
          </a:p>
        </p:txBody>
      </p:sp>
      <p:sp>
        <p:nvSpPr>
          <p:cNvPr id="5" name="Footer Placeholder 4"/>
          <p:cNvSpPr>
            <a:spLocks noGrp="1"/>
          </p:cNvSpPr>
          <p:nvPr>
            <p:ph type="ftr" sz="quarter" idx="3"/>
          </p:nvPr>
        </p:nvSpPr>
        <p:spPr>
          <a:xfrm>
            <a:off x="5452110" y="6780108"/>
            <a:ext cx="5554980" cy="38946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solidFill>
                <a:prstClr val="black">
                  <a:tint val="82000"/>
                </a:prstClr>
              </a:solidFill>
            </a:endParaRPr>
          </a:p>
        </p:txBody>
      </p:sp>
      <p:sp>
        <p:nvSpPr>
          <p:cNvPr id="6" name="Slide Number Placeholder 5"/>
          <p:cNvSpPr>
            <a:spLocks noGrp="1"/>
          </p:cNvSpPr>
          <p:nvPr>
            <p:ph type="sldNum" sz="quarter" idx="4"/>
          </p:nvPr>
        </p:nvSpPr>
        <p:spPr>
          <a:xfrm>
            <a:off x="11624310" y="6780108"/>
            <a:ext cx="3703320" cy="389467"/>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solidFill>
                  <a:prstClr val="black">
                    <a:tint val="82000"/>
                  </a:prstClr>
                </a:solidFill>
              </a:rPr>
              <a:pPr/>
              <a:t>‹#›</a:t>
            </a:fld>
            <a:endParaRPr lang="en-US">
              <a:solidFill>
                <a:prstClr val="black">
                  <a:tint val="82000"/>
                </a:prstClr>
              </a:solidFill>
            </a:endParaRPr>
          </a:p>
        </p:txBody>
      </p:sp>
    </p:spTree>
    <p:extLst>
      <p:ext uri="{BB962C8B-B14F-4D97-AF65-F5344CB8AC3E}">
        <p14:creationId xmlns:p14="http://schemas.microsoft.com/office/powerpoint/2010/main" val="4401643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eveloper.android.com/develop/connectivity/nfc/nfc"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s://www.hcibib.org/sam/1.html"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hyperlink" Target="https://ebooks.inflibnet.ac.in/itp12/chapter/wap-wireless-application-protocol/"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2070354"/>
            <a:ext cx="12344400" cy="1595992"/>
          </a:xfrm>
        </p:spPr>
        <p:txBody>
          <a:bodyPr>
            <a:normAutofit/>
          </a:bodyPr>
          <a:lstStyle>
            <a:defPPr>
              <a:defRPr lang="en-US"/>
            </a:defPPr>
            <a:lvl1pPr marL="0" algn="l" defTabSz="1141171" rtl="0" eaLnBrk="1" latinLnBrk="0" hangingPunct="1">
              <a:defRPr sz="2246" kern="1200">
                <a:solidFill>
                  <a:schemeClr val="tx1"/>
                </a:solidFill>
                <a:latin typeface="+mn-lt"/>
                <a:ea typeface="+mn-ea"/>
                <a:cs typeface="+mn-cs"/>
              </a:defRPr>
            </a:lvl1pPr>
            <a:lvl2pPr marL="570586" algn="l" defTabSz="1141171" rtl="0" eaLnBrk="1" latinLnBrk="0" hangingPunct="1">
              <a:defRPr sz="2246" kern="1200">
                <a:solidFill>
                  <a:schemeClr val="tx1"/>
                </a:solidFill>
                <a:latin typeface="+mn-lt"/>
                <a:ea typeface="+mn-ea"/>
                <a:cs typeface="+mn-cs"/>
              </a:defRPr>
            </a:lvl2pPr>
            <a:lvl3pPr marL="1141171" algn="l" defTabSz="1141171" rtl="0" eaLnBrk="1" latinLnBrk="0" hangingPunct="1">
              <a:defRPr sz="2246" kern="1200">
                <a:solidFill>
                  <a:schemeClr val="tx1"/>
                </a:solidFill>
                <a:latin typeface="+mn-lt"/>
                <a:ea typeface="+mn-ea"/>
                <a:cs typeface="+mn-cs"/>
              </a:defRPr>
            </a:lvl3pPr>
            <a:lvl4pPr marL="1711757" algn="l" defTabSz="1141171" rtl="0" eaLnBrk="1" latinLnBrk="0" hangingPunct="1">
              <a:defRPr sz="2246" kern="1200">
                <a:solidFill>
                  <a:schemeClr val="tx1"/>
                </a:solidFill>
                <a:latin typeface="+mn-lt"/>
                <a:ea typeface="+mn-ea"/>
                <a:cs typeface="+mn-cs"/>
              </a:defRPr>
            </a:lvl4pPr>
            <a:lvl5pPr marL="2282342" algn="l" defTabSz="1141171" rtl="0" eaLnBrk="1" latinLnBrk="0" hangingPunct="1">
              <a:defRPr sz="2246" kern="1200">
                <a:solidFill>
                  <a:schemeClr val="tx1"/>
                </a:solidFill>
                <a:latin typeface="+mn-lt"/>
                <a:ea typeface="+mn-ea"/>
                <a:cs typeface="+mn-cs"/>
              </a:defRPr>
            </a:lvl5pPr>
            <a:lvl6pPr marL="2852928" algn="l" defTabSz="1141171" rtl="0" eaLnBrk="1" latinLnBrk="0" hangingPunct="1">
              <a:defRPr sz="2246" kern="1200">
                <a:solidFill>
                  <a:schemeClr val="tx1"/>
                </a:solidFill>
                <a:latin typeface="+mn-lt"/>
                <a:ea typeface="+mn-ea"/>
                <a:cs typeface="+mn-cs"/>
              </a:defRPr>
            </a:lvl6pPr>
            <a:lvl7pPr marL="3423514" algn="l" defTabSz="1141171" rtl="0" eaLnBrk="1" latinLnBrk="0" hangingPunct="1">
              <a:defRPr sz="2246" kern="1200">
                <a:solidFill>
                  <a:schemeClr val="tx1"/>
                </a:solidFill>
                <a:latin typeface="+mn-lt"/>
                <a:ea typeface="+mn-ea"/>
                <a:cs typeface="+mn-cs"/>
              </a:defRPr>
            </a:lvl7pPr>
            <a:lvl8pPr marL="3994099" algn="l" defTabSz="1141171" rtl="0" eaLnBrk="1" latinLnBrk="0" hangingPunct="1">
              <a:defRPr sz="2246" kern="1200">
                <a:solidFill>
                  <a:schemeClr val="tx1"/>
                </a:solidFill>
                <a:latin typeface="+mn-lt"/>
                <a:ea typeface="+mn-ea"/>
                <a:cs typeface="+mn-cs"/>
              </a:defRPr>
            </a:lvl8pPr>
            <a:lvl9pPr marL="4564685" algn="l" defTabSz="1141171" rtl="0" eaLnBrk="1" latinLnBrk="0" hangingPunct="1">
              <a:defRPr sz="2246" kern="1200">
                <a:solidFill>
                  <a:schemeClr val="tx1"/>
                </a:solidFill>
                <a:latin typeface="+mn-lt"/>
                <a:ea typeface="+mn-ea"/>
                <a:cs typeface="+mn-cs"/>
              </a:defRPr>
            </a:lvl9pPr>
          </a:lstStyle>
          <a:p>
            <a:pPr algn="ctr"/>
            <a:r>
              <a:rPr lang="en-US" sz="4400" b="1" dirty="0">
                <a:latin typeface="Gill Sans MT"/>
              </a:rPr>
              <a:t>ITU 08215: MOBILE COMPUTING</a:t>
            </a:r>
            <a:endParaRPr lang="en-US" b="1"/>
          </a:p>
        </p:txBody>
      </p:sp>
      <p:sp>
        <p:nvSpPr>
          <p:cNvPr id="3" name="Subtitle 2"/>
          <p:cNvSpPr>
            <a:spLocks noGrp="1"/>
          </p:cNvSpPr>
          <p:nvPr>
            <p:ph type="subTitle" idx="1"/>
          </p:nvPr>
        </p:nvSpPr>
        <p:spPr>
          <a:xfrm>
            <a:off x="2057400" y="4754148"/>
            <a:ext cx="12344400" cy="854172"/>
          </a:xfrm>
        </p:spPr>
        <p:txBody>
          <a:bodyPr vert="horz" lIns="91440" tIns="45720" rIns="91440" bIns="45720" rtlCol="0" anchor="t">
            <a:normAutofit/>
          </a:bodyPr>
          <a:lstStyle>
            <a:defPPr>
              <a:defRPr lang="en-US"/>
            </a:defPPr>
            <a:lvl1pPr marL="0" algn="l" defTabSz="1141171" rtl="0" eaLnBrk="1" latinLnBrk="0" hangingPunct="1">
              <a:defRPr sz="2246" kern="1200">
                <a:solidFill>
                  <a:schemeClr val="tx1"/>
                </a:solidFill>
                <a:latin typeface="+mn-lt"/>
                <a:ea typeface="+mn-ea"/>
                <a:cs typeface="+mn-cs"/>
              </a:defRPr>
            </a:lvl1pPr>
            <a:lvl2pPr marL="570586" algn="l" defTabSz="1141171" rtl="0" eaLnBrk="1" latinLnBrk="0" hangingPunct="1">
              <a:defRPr sz="2246" kern="1200">
                <a:solidFill>
                  <a:schemeClr val="tx1"/>
                </a:solidFill>
                <a:latin typeface="+mn-lt"/>
                <a:ea typeface="+mn-ea"/>
                <a:cs typeface="+mn-cs"/>
              </a:defRPr>
            </a:lvl2pPr>
            <a:lvl3pPr marL="1141171" algn="l" defTabSz="1141171" rtl="0" eaLnBrk="1" latinLnBrk="0" hangingPunct="1">
              <a:defRPr sz="2246" kern="1200">
                <a:solidFill>
                  <a:schemeClr val="tx1"/>
                </a:solidFill>
                <a:latin typeface="+mn-lt"/>
                <a:ea typeface="+mn-ea"/>
                <a:cs typeface="+mn-cs"/>
              </a:defRPr>
            </a:lvl3pPr>
            <a:lvl4pPr marL="1711757" algn="l" defTabSz="1141171" rtl="0" eaLnBrk="1" latinLnBrk="0" hangingPunct="1">
              <a:defRPr sz="2246" kern="1200">
                <a:solidFill>
                  <a:schemeClr val="tx1"/>
                </a:solidFill>
                <a:latin typeface="+mn-lt"/>
                <a:ea typeface="+mn-ea"/>
                <a:cs typeface="+mn-cs"/>
              </a:defRPr>
            </a:lvl4pPr>
            <a:lvl5pPr marL="2282342" algn="l" defTabSz="1141171" rtl="0" eaLnBrk="1" latinLnBrk="0" hangingPunct="1">
              <a:defRPr sz="2246" kern="1200">
                <a:solidFill>
                  <a:schemeClr val="tx1"/>
                </a:solidFill>
                <a:latin typeface="+mn-lt"/>
                <a:ea typeface="+mn-ea"/>
                <a:cs typeface="+mn-cs"/>
              </a:defRPr>
            </a:lvl5pPr>
            <a:lvl6pPr marL="2852928" algn="l" defTabSz="1141171" rtl="0" eaLnBrk="1" latinLnBrk="0" hangingPunct="1">
              <a:defRPr sz="2246" kern="1200">
                <a:solidFill>
                  <a:schemeClr val="tx1"/>
                </a:solidFill>
                <a:latin typeface="+mn-lt"/>
                <a:ea typeface="+mn-ea"/>
                <a:cs typeface="+mn-cs"/>
              </a:defRPr>
            </a:lvl6pPr>
            <a:lvl7pPr marL="3423514" algn="l" defTabSz="1141171" rtl="0" eaLnBrk="1" latinLnBrk="0" hangingPunct="1">
              <a:defRPr sz="2246" kern="1200">
                <a:solidFill>
                  <a:schemeClr val="tx1"/>
                </a:solidFill>
                <a:latin typeface="+mn-lt"/>
                <a:ea typeface="+mn-ea"/>
                <a:cs typeface="+mn-cs"/>
              </a:defRPr>
            </a:lvl7pPr>
            <a:lvl8pPr marL="3994099" algn="l" defTabSz="1141171" rtl="0" eaLnBrk="1" latinLnBrk="0" hangingPunct="1">
              <a:defRPr sz="2246" kern="1200">
                <a:solidFill>
                  <a:schemeClr val="tx1"/>
                </a:solidFill>
                <a:latin typeface="+mn-lt"/>
                <a:ea typeface="+mn-ea"/>
                <a:cs typeface="+mn-cs"/>
              </a:defRPr>
            </a:lvl8pPr>
            <a:lvl9pPr marL="4564685" algn="l" defTabSz="1141171" rtl="0" eaLnBrk="1" latinLnBrk="0" hangingPunct="1">
              <a:defRPr sz="2246" kern="1200">
                <a:solidFill>
                  <a:schemeClr val="tx1"/>
                </a:solidFill>
                <a:latin typeface="+mn-lt"/>
                <a:ea typeface="+mn-ea"/>
                <a:cs typeface="+mn-cs"/>
              </a:defRPr>
            </a:lvl9pPr>
          </a:lstStyle>
          <a:p>
            <a:pPr algn="ctr"/>
            <a:r>
              <a:rPr lang="en-US" sz="3600" dirty="0">
                <a:latin typeface="Gill Sans MT"/>
              </a:rPr>
              <a:t>LEARNING UNIT-1</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BFA49-D5C5-2F2F-0E4D-BD01090529AC}"/>
              </a:ext>
            </a:extLst>
          </p:cNvPr>
          <p:cNvSpPr>
            <a:spLocks noGrp="1"/>
          </p:cNvSpPr>
          <p:nvPr>
            <p:ph type="title"/>
          </p:nvPr>
        </p:nvSpPr>
        <p:spPr>
          <a:xfrm>
            <a:off x="296965" y="389467"/>
            <a:ext cx="9091379" cy="1413934"/>
          </a:xfrm>
        </p:spPr>
        <p:txBody>
          <a:bodyPr>
            <a:normAutofit/>
          </a:bodyPr>
          <a:lstStyle/>
          <a:p>
            <a:r>
              <a:rPr lang="en-US" b="1" cap="all" dirty="0">
                <a:latin typeface="Gill Sans MT"/>
              </a:rPr>
              <a:t>Learning OUTCOMES</a:t>
            </a:r>
            <a:endParaRPr lang="en-US" b="1" dirty="0"/>
          </a:p>
        </p:txBody>
      </p:sp>
      <p:sp>
        <p:nvSpPr>
          <p:cNvPr id="3" name="Content Placeholder 2">
            <a:extLst>
              <a:ext uri="{FF2B5EF4-FFF2-40B4-BE49-F238E27FC236}">
                <a16:creationId xmlns:a16="http://schemas.microsoft.com/office/drawing/2014/main" id="{2FB1916A-05E9-71C5-9D09-0679DAFF7B58}"/>
              </a:ext>
            </a:extLst>
          </p:cNvPr>
          <p:cNvSpPr>
            <a:spLocks noGrp="1"/>
          </p:cNvSpPr>
          <p:nvPr>
            <p:ph idx="1"/>
          </p:nvPr>
        </p:nvSpPr>
        <p:spPr>
          <a:xfrm>
            <a:off x="218906" y="1599636"/>
            <a:ext cx="15962317" cy="5615203"/>
          </a:xfrm>
        </p:spPr>
        <p:txBody>
          <a:bodyPr vert="horz" lIns="91440" tIns="45720" rIns="91440" bIns="45720" rtlCol="0" anchor="t">
            <a:noAutofit/>
          </a:bodyPr>
          <a:lstStyle/>
          <a:p>
            <a:pPr algn="just"/>
            <a:r>
              <a:rPr lang="en-US" sz="3600" dirty="0">
                <a:latin typeface="Gill Sans MT"/>
              </a:rPr>
              <a:t>After completing this course you should be able to:</a:t>
            </a:r>
          </a:p>
          <a:p>
            <a:pPr marL="971550" lvl="1" indent="-514350" algn="just">
              <a:buAutoNum type="arabicPeriod"/>
            </a:pPr>
            <a:r>
              <a:rPr lang="en-US" sz="3600" dirty="0" smtClean="0">
                <a:latin typeface="Gill Sans MT"/>
              </a:rPr>
              <a:t>Explain </a:t>
            </a:r>
            <a:r>
              <a:rPr lang="en-US" sz="3600" dirty="0">
                <a:latin typeface="Gill Sans MT"/>
              </a:rPr>
              <a:t>what mobile computing is and give real examples</a:t>
            </a:r>
            <a:r>
              <a:rPr lang="en-US" sz="3600" dirty="0" smtClean="0">
                <a:latin typeface="Gill Sans MT"/>
              </a:rPr>
              <a:t>.</a:t>
            </a:r>
            <a:endParaRPr lang="en-US" sz="3600" dirty="0">
              <a:latin typeface="Gill Sans MT"/>
            </a:endParaRPr>
          </a:p>
          <a:p>
            <a:pPr marL="971550" lvl="1" indent="-514350" algn="just">
              <a:buAutoNum type="arabicPeriod"/>
            </a:pPr>
            <a:r>
              <a:rPr lang="en-US" sz="3600" dirty="0">
                <a:latin typeface="Gill Sans MT"/>
              </a:rPr>
              <a:t>Compare types of mobility (macro, micro, ad‑hoc) and the protocols that support them</a:t>
            </a:r>
            <a:r>
              <a:rPr lang="en-US" sz="3600" dirty="0" smtClean="0">
                <a:latin typeface="Gill Sans MT"/>
              </a:rPr>
              <a:t>.</a:t>
            </a:r>
            <a:endParaRPr lang="en-US" sz="3600" dirty="0">
              <a:latin typeface="Gill Sans MT"/>
            </a:endParaRPr>
          </a:p>
          <a:p>
            <a:pPr marL="971550" lvl="1" indent="-514350" algn="just">
              <a:buAutoNum type="arabicPeriod"/>
            </a:pPr>
            <a:r>
              <a:rPr lang="en-US" sz="3600" dirty="0">
                <a:latin typeface="Gill Sans MT"/>
              </a:rPr>
              <a:t>Analyze </a:t>
            </a:r>
            <a:r>
              <a:rPr lang="en-US" sz="3600" dirty="0" smtClean="0">
                <a:latin typeface="Gill Sans MT"/>
              </a:rPr>
              <a:t>mobile hardware constraints.</a:t>
            </a:r>
            <a:endParaRPr lang="en-US" sz="3600" dirty="0">
              <a:latin typeface="Gill Sans MT"/>
            </a:endParaRPr>
          </a:p>
          <a:p>
            <a:pPr marL="971550" lvl="1" indent="-514350" algn="just">
              <a:buAutoNum type="arabicPeriod"/>
            </a:pPr>
            <a:r>
              <a:rPr lang="en-US" sz="3600" dirty="0">
                <a:latin typeface="Gill Sans MT"/>
              </a:rPr>
              <a:t>Differentiate between connectivity </a:t>
            </a:r>
            <a:r>
              <a:rPr lang="en-US" sz="3600" dirty="0" smtClean="0">
                <a:latin typeface="Gill Sans MT"/>
              </a:rPr>
              <a:t>technologies.</a:t>
            </a:r>
            <a:endParaRPr lang="en-US" sz="3600" dirty="0">
              <a:latin typeface="Gill Sans MT"/>
            </a:endParaRPr>
          </a:p>
          <a:p>
            <a:pPr marL="971550" lvl="1" indent="-514350" algn="just">
              <a:buAutoNum type="arabicPeriod"/>
            </a:pPr>
            <a:r>
              <a:rPr lang="en-US" sz="3600" dirty="0">
                <a:latin typeface="Gill Sans MT"/>
              </a:rPr>
              <a:t>Apply frequency reuse formulas to calculate channel capacity</a:t>
            </a:r>
            <a:r>
              <a:rPr lang="en-US" sz="3600" dirty="0" smtClean="0">
                <a:latin typeface="Gill Sans MT"/>
              </a:rPr>
              <a:t>.</a:t>
            </a:r>
            <a:endParaRPr lang="en-US" sz="3600" dirty="0">
              <a:latin typeface="Gill Sans MT"/>
            </a:endParaRPr>
          </a:p>
          <a:p>
            <a:pPr marL="971550" lvl="1" indent="-514350" algn="just">
              <a:buAutoNum type="arabicPeriod"/>
            </a:pPr>
            <a:r>
              <a:rPr lang="en-US" sz="3600" dirty="0">
                <a:latin typeface="Gill Sans MT"/>
              </a:rPr>
              <a:t>Describe how fading, interference, and handover affect communication</a:t>
            </a:r>
            <a:r>
              <a:rPr lang="en-US" sz="3600" dirty="0" smtClean="0">
                <a:latin typeface="Gill Sans MT"/>
              </a:rPr>
              <a:t>.</a:t>
            </a:r>
            <a:endParaRPr lang="en-US" sz="3600" dirty="0">
              <a:latin typeface="Gill Sans MT"/>
            </a:endParaRPr>
          </a:p>
          <a:p>
            <a:pPr marL="971550" lvl="1" indent="-514350" algn="just">
              <a:buAutoNum type="arabicPeriod"/>
            </a:pPr>
            <a:r>
              <a:rPr lang="en-US" sz="3600" dirty="0" smtClean="0">
                <a:latin typeface="Gill Sans MT"/>
              </a:rPr>
              <a:t>Recognize </a:t>
            </a:r>
            <a:r>
              <a:rPr lang="en-US" sz="3600" dirty="0">
                <a:latin typeface="Gill Sans MT"/>
              </a:rPr>
              <a:t>key software, UI, and security considerations for mobile apps</a:t>
            </a:r>
          </a:p>
          <a:p>
            <a:endParaRPr lang="en-US" dirty="0"/>
          </a:p>
        </p:txBody>
      </p:sp>
    </p:spTree>
    <p:extLst>
      <p:ext uri="{BB962C8B-B14F-4D97-AF65-F5344CB8AC3E}">
        <p14:creationId xmlns:p14="http://schemas.microsoft.com/office/powerpoint/2010/main" val="2108614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79077-E647-3525-DF88-DC9693F7E1FF}"/>
              </a:ext>
            </a:extLst>
          </p:cNvPr>
          <p:cNvSpPr>
            <a:spLocks noGrp="1"/>
          </p:cNvSpPr>
          <p:nvPr>
            <p:ph type="title"/>
          </p:nvPr>
        </p:nvSpPr>
        <p:spPr>
          <a:xfrm>
            <a:off x="287176" y="389467"/>
            <a:ext cx="15040454" cy="1426927"/>
          </a:xfrm>
        </p:spPr>
        <p:txBody>
          <a:bodyPr/>
          <a:lstStyle/>
          <a:p>
            <a:r>
              <a:rPr lang="en-US" dirty="0">
                <a:latin typeface="Gill Sans MT"/>
              </a:rPr>
              <a:t>REFERENCE</a:t>
            </a:r>
          </a:p>
        </p:txBody>
      </p:sp>
      <p:sp>
        <p:nvSpPr>
          <p:cNvPr id="3" name="Content Placeholder 2">
            <a:extLst>
              <a:ext uri="{FF2B5EF4-FFF2-40B4-BE49-F238E27FC236}">
                <a16:creationId xmlns:a16="http://schemas.microsoft.com/office/drawing/2014/main" id="{576E6BF4-4BC2-21B4-A888-AD7CB9E2FAD7}"/>
              </a:ext>
            </a:extLst>
          </p:cNvPr>
          <p:cNvSpPr>
            <a:spLocks noGrp="1"/>
          </p:cNvSpPr>
          <p:nvPr>
            <p:ph idx="1"/>
          </p:nvPr>
        </p:nvSpPr>
        <p:spPr>
          <a:xfrm>
            <a:off x="222222" y="2363117"/>
            <a:ext cx="15897839" cy="4225643"/>
          </a:xfrm>
        </p:spPr>
        <p:txBody>
          <a:bodyPr vert="horz" lIns="91440" tIns="45720" rIns="91440" bIns="45720" rtlCol="0" anchor="t">
            <a:normAutofit/>
          </a:bodyPr>
          <a:lstStyle/>
          <a:p>
            <a:pPr algn="just"/>
            <a:r>
              <a:rPr lang="en-US" sz="3600" err="1">
                <a:latin typeface="Gill Sans MT"/>
              </a:rPr>
              <a:t>B’Far</a:t>
            </a:r>
            <a:r>
              <a:rPr lang="en-US" sz="3600" dirty="0">
                <a:latin typeface="Gill Sans MT"/>
              </a:rPr>
              <a:t> R (2005) Mobile Computing Principles : Designing and developing Applications with UML and XML. Cambridge University Press</a:t>
            </a:r>
          </a:p>
          <a:p>
            <a:pPr algn="just"/>
            <a:r>
              <a:rPr lang="en-US" sz="3600" dirty="0">
                <a:latin typeface="Gill Sans MT"/>
              </a:rPr>
              <a:t>Wigley, A., Moth, D. and Foot, P. (2010) Microsoft Mobile Development Handbook. Microsoft Press</a:t>
            </a:r>
          </a:p>
          <a:p>
            <a:pPr algn="just"/>
            <a:r>
              <a:rPr lang="en-US" sz="3600" dirty="0">
                <a:latin typeface="Gill Sans MT"/>
              </a:rPr>
              <a:t>Burnette, Ed. (2010). Hello, Android: introducing Google’s mobile development platform. 3rd ed. Raleigh, N.C.: Pragmatic Bookshelf.</a:t>
            </a:r>
            <a:endParaRPr lang="en-US" sz="3600" dirty="0"/>
          </a:p>
          <a:p>
            <a:endParaRPr lang="en-US" dirty="0"/>
          </a:p>
        </p:txBody>
      </p:sp>
    </p:spTree>
    <p:extLst>
      <p:ext uri="{BB962C8B-B14F-4D97-AF65-F5344CB8AC3E}">
        <p14:creationId xmlns:p14="http://schemas.microsoft.com/office/powerpoint/2010/main" val="2948229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04D6D-ECFE-9405-6BF6-983C5DF3A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E75E2-DD01-FB8F-274B-E8D669F5086A}"/>
              </a:ext>
            </a:extLst>
          </p:cNvPr>
          <p:cNvSpPr>
            <a:spLocks noGrp="1"/>
          </p:cNvSpPr>
          <p:nvPr>
            <p:ph type="title"/>
          </p:nvPr>
        </p:nvSpPr>
        <p:spPr>
          <a:xfrm>
            <a:off x="287176" y="389467"/>
            <a:ext cx="15040454" cy="1426927"/>
          </a:xfrm>
        </p:spPr>
        <p:txBody>
          <a:bodyPr/>
          <a:lstStyle/>
          <a:p>
            <a:r>
              <a:rPr lang="en-US" dirty="0">
                <a:latin typeface="Gill Sans MT"/>
              </a:rPr>
              <a:t>INTRODUCTION</a:t>
            </a:r>
          </a:p>
        </p:txBody>
      </p:sp>
      <p:sp>
        <p:nvSpPr>
          <p:cNvPr id="3" name="Content Placeholder 2">
            <a:extLst>
              <a:ext uri="{FF2B5EF4-FFF2-40B4-BE49-F238E27FC236}">
                <a16:creationId xmlns:a16="http://schemas.microsoft.com/office/drawing/2014/main" id="{68D4083C-D5D2-BD20-67F4-07CED9F71C19}"/>
              </a:ext>
            </a:extLst>
          </p:cNvPr>
          <p:cNvSpPr>
            <a:spLocks noGrp="1"/>
          </p:cNvSpPr>
          <p:nvPr>
            <p:ph idx="1"/>
          </p:nvPr>
        </p:nvSpPr>
        <p:spPr>
          <a:xfrm>
            <a:off x="222222" y="2363117"/>
            <a:ext cx="15897839" cy="4225643"/>
          </a:xfrm>
        </p:spPr>
        <p:txBody>
          <a:bodyPr vert="horz" lIns="91440" tIns="45720" rIns="91440" bIns="45720" rtlCol="0" anchor="t">
            <a:normAutofit/>
          </a:bodyPr>
          <a:lstStyle/>
          <a:p>
            <a:pPr algn="just">
              <a:spcAft>
                <a:spcPts val="1200"/>
              </a:spcAft>
            </a:pPr>
            <a:r>
              <a:rPr lang="en-US" sz="3600" dirty="0">
                <a:latin typeface="Gill Sans MT"/>
              </a:rPr>
              <a:t>From the early days of cellular communication to the advent of powerful smartphones and tablets, mobile computing has become an integral part of our daily lives, enabling us to access information and services anytime, anywhere.</a:t>
            </a:r>
            <a:endParaRPr lang="en-US" sz="3600" dirty="0"/>
          </a:p>
          <a:p>
            <a:pPr algn="just"/>
            <a:r>
              <a:rPr lang="en-US" sz="3600" b="1" dirty="0">
                <a:latin typeface="Gill Sans MT"/>
              </a:rPr>
              <a:t>Mobile computing</a:t>
            </a:r>
            <a:r>
              <a:rPr lang="en-US" sz="3600" dirty="0">
                <a:latin typeface="Gill Sans MT"/>
              </a:rPr>
              <a:t> is a technology that allows transmission of information (data, audio, and video) via computing devices that are not connected with any physical link (wirelessly).</a:t>
            </a:r>
          </a:p>
          <a:p>
            <a:pPr algn="just"/>
            <a:endParaRPr lang="en-US" sz="3600" dirty="0">
              <a:latin typeface="Gill Sans MT"/>
            </a:endParaRPr>
          </a:p>
          <a:p>
            <a:pPr algn="just"/>
            <a:endParaRPr lang="en-US" sz="3600" dirty="0">
              <a:latin typeface="Gill Sans MT"/>
            </a:endParaRPr>
          </a:p>
          <a:p>
            <a:endParaRPr lang="en-US" dirty="0"/>
          </a:p>
        </p:txBody>
      </p:sp>
    </p:spTree>
    <p:extLst>
      <p:ext uri="{BB962C8B-B14F-4D97-AF65-F5344CB8AC3E}">
        <p14:creationId xmlns:p14="http://schemas.microsoft.com/office/powerpoint/2010/main" val="2397063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B700E-E6CF-197D-760E-97FAF660F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A3108-82D4-AC76-49A2-BBE384C12DBB}"/>
              </a:ext>
            </a:extLst>
          </p:cNvPr>
          <p:cNvSpPr>
            <a:spLocks noGrp="1"/>
          </p:cNvSpPr>
          <p:nvPr>
            <p:ph type="title"/>
          </p:nvPr>
        </p:nvSpPr>
        <p:spPr>
          <a:xfrm>
            <a:off x="287176" y="389467"/>
            <a:ext cx="15040454" cy="1426927"/>
          </a:xfrm>
        </p:spPr>
        <p:txBody>
          <a:bodyPr/>
          <a:lstStyle/>
          <a:p>
            <a:r>
              <a:rPr lang="en-US" dirty="0">
                <a:latin typeface="Gill Sans MT"/>
              </a:rPr>
              <a:t>INTRODUCTION</a:t>
            </a:r>
          </a:p>
        </p:txBody>
      </p:sp>
      <p:sp>
        <p:nvSpPr>
          <p:cNvPr id="3" name="Content Placeholder 2">
            <a:extLst>
              <a:ext uri="{FF2B5EF4-FFF2-40B4-BE49-F238E27FC236}">
                <a16:creationId xmlns:a16="http://schemas.microsoft.com/office/drawing/2014/main" id="{F57E3150-9C35-1E3B-F8B1-2A4D7C139341}"/>
              </a:ext>
            </a:extLst>
          </p:cNvPr>
          <p:cNvSpPr>
            <a:spLocks noGrp="1"/>
          </p:cNvSpPr>
          <p:nvPr>
            <p:ph idx="1"/>
          </p:nvPr>
        </p:nvSpPr>
        <p:spPr>
          <a:xfrm>
            <a:off x="222222" y="2363117"/>
            <a:ext cx="15897839" cy="4225643"/>
          </a:xfrm>
        </p:spPr>
        <p:txBody>
          <a:bodyPr vert="horz" lIns="91440" tIns="45720" rIns="91440" bIns="45720" rtlCol="0" anchor="t">
            <a:normAutofit fontScale="92500" lnSpcReduction="10000"/>
          </a:bodyPr>
          <a:lstStyle/>
          <a:p>
            <a:pPr algn="just">
              <a:spcAft>
                <a:spcPts val="1200"/>
              </a:spcAft>
            </a:pPr>
            <a:r>
              <a:rPr lang="en-US" sz="3600" dirty="0">
                <a:latin typeface="Gill Sans MT"/>
              </a:rPr>
              <a:t>The </a:t>
            </a:r>
            <a:r>
              <a:rPr lang="en-US" sz="3600" b="1" dirty="0">
                <a:latin typeface="Gill Sans MT"/>
              </a:rPr>
              <a:t>key features </a:t>
            </a:r>
            <a:r>
              <a:rPr lang="en-US" sz="3600" dirty="0">
                <a:latin typeface="Gill Sans MT"/>
              </a:rPr>
              <a:t>of mobile computing </a:t>
            </a:r>
            <a:r>
              <a:rPr lang="en-US" sz="3600" dirty="0" smtClean="0">
                <a:latin typeface="Gill Sans MT"/>
              </a:rPr>
              <a:t>are: </a:t>
            </a:r>
            <a:r>
              <a:rPr lang="en-US" sz="3600" dirty="0">
                <a:latin typeface="Gill Sans MT"/>
              </a:rPr>
              <a:t>the computing devices are </a:t>
            </a:r>
            <a:r>
              <a:rPr lang="en-US" sz="3600" dirty="0">
                <a:solidFill>
                  <a:srgbClr val="FF0000"/>
                </a:solidFill>
                <a:latin typeface="Gill Sans MT"/>
              </a:rPr>
              <a:t>portable, Mobile</a:t>
            </a:r>
            <a:r>
              <a:rPr lang="en-US" sz="3600" dirty="0">
                <a:latin typeface="Gill Sans MT"/>
              </a:rPr>
              <a:t> and </a:t>
            </a:r>
            <a:r>
              <a:rPr lang="en-US" sz="3600" dirty="0">
                <a:solidFill>
                  <a:srgbClr val="FF0000"/>
                </a:solidFill>
                <a:latin typeface="Gill Sans MT"/>
              </a:rPr>
              <a:t>connected over a network</a:t>
            </a:r>
            <a:r>
              <a:rPr lang="en-US" sz="3600" dirty="0">
                <a:latin typeface="Gill Sans MT"/>
              </a:rPr>
              <a:t>.</a:t>
            </a:r>
            <a:endParaRPr lang="en-US" dirty="0"/>
          </a:p>
          <a:p>
            <a:pPr algn="just">
              <a:spcAft>
                <a:spcPts val="1200"/>
              </a:spcAft>
            </a:pPr>
            <a:r>
              <a:rPr lang="en-US" sz="3600" dirty="0">
                <a:latin typeface="Gill Sans MT"/>
              </a:rPr>
              <a:t>The </a:t>
            </a:r>
            <a:r>
              <a:rPr lang="en-US" sz="3600" b="1" dirty="0">
                <a:latin typeface="Gill Sans MT"/>
              </a:rPr>
              <a:t>major elements </a:t>
            </a:r>
            <a:r>
              <a:rPr lang="en-US" sz="3600" dirty="0">
                <a:latin typeface="Gill Sans MT"/>
              </a:rPr>
              <a:t>of mobile computing are </a:t>
            </a:r>
            <a:r>
              <a:rPr lang="en-US" sz="3600" dirty="0">
                <a:solidFill>
                  <a:srgbClr val="FF0000"/>
                </a:solidFill>
                <a:latin typeface="Gill Sans MT"/>
              </a:rPr>
              <a:t>mobile communication</a:t>
            </a:r>
            <a:r>
              <a:rPr lang="en-US" sz="3600" dirty="0">
                <a:latin typeface="Gill Sans MT"/>
              </a:rPr>
              <a:t>, </a:t>
            </a:r>
            <a:r>
              <a:rPr lang="en-US" sz="3600" dirty="0">
                <a:solidFill>
                  <a:srgbClr val="FF0000"/>
                </a:solidFill>
                <a:latin typeface="Gill Sans MT"/>
              </a:rPr>
              <a:t>mobile hardware</a:t>
            </a:r>
            <a:r>
              <a:rPr lang="en-US" sz="3600" dirty="0">
                <a:latin typeface="Gill Sans MT"/>
              </a:rPr>
              <a:t>, and </a:t>
            </a:r>
            <a:r>
              <a:rPr lang="en-US" sz="3600" dirty="0">
                <a:solidFill>
                  <a:srgbClr val="FF0000"/>
                </a:solidFill>
                <a:latin typeface="Gill Sans MT"/>
              </a:rPr>
              <a:t>mobile software</a:t>
            </a:r>
            <a:r>
              <a:rPr lang="en-US" sz="3600" dirty="0">
                <a:latin typeface="Gill Sans MT"/>
              </a:rPr>
              <a:t>.</a:t>
            </a:r>
            <a:endParaRPr lang="en-US" sz="3600" dirty="0"/>
          </a:p>
          <a:p>
            <a:pPr algn="just">
              <a:spcAft>
                <a:spcPts val="1200"/>
              </a:spcAft>
            </a:pPr>
            <a:r>
              <a:rPr lang="en-US" sz="3600" b="1" dirty="0">
                <a:latin typeface="Gill Sans MT"/>
                <a:ea typeface="+mn-lt"/>
                <a:cs typeface="+mn-lt"/>
              </a:rPr>
              <a:t>Goal of Mobile Computing</a:t>
            </a:r>
            <a:r>
              <a:rPr lang="en-US" sz="3600" dirty="0">
                <a:latin typeface="Gill Sans MT"/>
                <a:ea typeface="+mn-lt"/>
                <a:cs typeface="+mn-lt"/>
              </a:rPr>
              <a:t>: “People and their machines should be able to access information and communicate with each other easily and securely, in any medium or combination of media – voice, data, image, video, or multimedia – anytime, anywhere, in a timely, cost-effective way.”</a:t>
            </a:r>
            <a:endParaRPr lang="en-US" sz="3600" dirty="0">
              <a:latin typeface="Gill Sans MT"/>
            </a:endParaRPr>
          </a:p>
          <a:p>
            <a:pPr algn="just"/>
            <a:endParaRPr lang="en-US" sz="3600" dirty="0">
              <a:latin typeface="Gill Sans MT"/>
            </a:endParaRPr>
          </a:p>
          <a:p>
            <a:pPr algn="just"/>
            <a:endParaRPr lang="en-US" sz="3600" dirty="0">
              <a:latin typeface="Gill Sans MT"/>
            </a:endParaRPr>
          </a:p>
          <a:p>
            <a:endParaRPr lang="en-US" dirty="0"/>
          </a:p>
        </p:txBody>
      </p:sp>
    </p:spTree>
    <p:extLst>
      <p:ext uri="{BB962C8B-B14F-4D97-AF65-F5344CB8AC3E}">
        <p14:creationId xmlns:p14="http://schemas.microsoft.com/office/powerpoint/2010/main" val="2798819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5FBE-D70A-CD92-C8BA-B3DB452BC2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3685DC-3FB2-37B4-BA8C-89DE9FB4DAE8}"/>
              </a:ext>
            </a:extLst>
          </p:cNvPr>
          <p:cNvSpPr>
            <a:spLocks noGrp="1"/>
          </p:cNvSpPr>
          <p:nvPr>
            <p:ph type="title"/>
          </p:nvPr>
        </p:nvSpPr>
        <p:spPr>
          <a:xfrm>
            <a:off x="274188" y="194607"/>
            <a:ext cx="15040454" cy="1595839"/>
          </a:xfrm>
        </p:spPr>
        <p:txBody>
          <a:bodyPr>
            <a:normAutofit/>
          </a:bodyPr>
          <a:lstStyle/>
          <a:p>
            <a:r>
              <a:rPr lang="en-US" cap="all" dirty="0">
                <a:latin typeface="Gill Sans MT"/>
              </a:rPr>
              <a:t>BLOCK DIAGRAM OF WIRELESS COMMUNICATION</a:t>
            </a:r>
          </a:p>
        </p:txBody>
      </p:sp>
      <p:sp>
        <p:nvSpPr>
          <p:cNvPr id="3" name="Content Placeholder 2">
            <a:extLst>
              <a:ext uri="{FF2B5EF4-FFF2-40B4-BE49-F238E27FC236}">
                <a16:creationId xmlns:a16="http://schemas.microsoft.com/office/drawing/2014/main" id="{5A1E3CD7-B5F8-27C3-8917-0444270B5089}"/>
              </a:ext>
            </a:extLst>
          </p:cNvPr>
          <p:cNvSpPr>
            <a:spLocks noGrp="1"/>
          </p:cNvSpPr>
          <p:nvPr>
            <p:ph idx="1"/>
          </p:nvPr>
        </p:nvSpPr>
        <p:spPr>
          <a:xfrm>
            <a:off x="280450" y="2129387"/>
            <a:ext cx="15839611" cy="4723729"/>
          </a:xfrm>
        </p:spPr>
        <p:txBody>
          <a:bodyPr vert="horz" lIns="91440" tIns="45720" rIns="91440" bIns="45720" rtlCol="0" anchor="t">
            <a:noAutofit/>
          </a:bodyPr>
          <a:lstStyle/>
          <a:p>
            <a:pPr marL="0" indent="0" algn="just">
              <a:buNone/>
            </a:pPr>
            <a:endParaRPr lang="en-US" sz="3600" dirty="0">
              <a:latin typeface="Gill Sans MT"/>
            </a:endParaRPr>
          </a:p>
          <a:p>
            <a:pPr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latin typeface="Gill Sans MT"/>
            </a:endParaRPr>
          </a:p>
          <a:p>
            <a:pPr marL="571500" indent="-571500" algn="just">
              <a:buFont typeface="Courier New" panose="020B0604020202020204" pitchFamily="34" charset="0"/>
              <a:buChar char="o"/>
            </a:pPr>
            <a:endParaRPr lang="en-US" sz="3600" dirty="0">
              <a:latin typeface="Gill Sans MT"/>
            </a:endParaRPr>
          </a:p>
        </p:txBody>
      </p:sp>
      <p:pic>
        <p:nvPicPr>
          <p:cNvPr id="4" name="Picture 3" descr="A diagram of a channel decoding&#10;&#10;AI-generated content may be incorrect.">
            <a:extLst>
              <a:ext uri="{FF2B5EF4-FFF2-40B4-BE49-F238E27FC236}">
                <a16:creationId xmlns:a16="http://schemas.microsoft.com/office/drawing/2014/main" id="{FD2E26B8-E7BC-EAE3-97CB-FBAA7291EF5C}"/>
              </a:ext>
            </a:extLst>
          </p:cNvPr>
          <p:cNvPicPr>
            <a:picLocks noChangeAspect="1"/>
          </p:cNvPicPr>
          <p:nvPr/>
        </p:nvPicPr>
        <p:blipFill>
          <a:blip r:embed="rId3"/>
          <a:stretch>
            <a:fillRect/>
          </a:stretch>
        </p:blipFill>
        <p:spPr>
          <a:xfrm>
            <a:off x="2079036" y="1788219"/>
            <a:ext cx="11856285" cy="5219700"/>
          </a:xfrm>
          <a:prstGeom prst="rect">
            <a:avLst/>
          </a:prstGeom>
        </p:spPr>
      </p:pic>
    </p:spTree>
    <p:extLst>
      <p:ext uri="{BB962C8B-B14F-4D97-AF65-F5344CB8AC3E}">
        <p14:creationId xmlns:p14="http://schemas.microsoft.com/office/powerpoint/2010/main" val="3688493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49142-6661-1160-B457-5F4D71B5F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5B17E-5E2B-8B12-8E80-A05744D0AC65}"/>
              </a:ext>
            </a:extLst>
          </p:cNvPr>
          <p:cNvSpPr>
            <a:spLocks noGrp="1"/>
          </p:cNvSpPr>
          <p:nvPr>
            <p:ph type="title"/>
          </p:nvPr>
        </p:nvSpPr>
        <p:spPr>
          <a:xfrm>
            <a:off x="287176" y="389467"/>
            <a:ext cx="15040454" cy="1426927"/>
          </a:xfrm>
        </p:spPr>
        <p:txBody>
          <a:bodyPr/>
          <a:lstStyle/>
          <a:p>
            <a:r>
              <a:rPr lang="en-US" dirty="0">
                <a:latin typeface="Gill Sans MT"/>
              </a:rPr>
              <a:t>TYPES OF MOBILITY</a:t>
            </a:r>
          </a:p>
        </p:txBody>
      </p:sp>
      <p:sp>
        <p:nvSpPr>
          <p:cNvPr id="3" name="Content Placeholder 2">
            <a:extLst>
              <a:ext uri="{FF2B5EF4-FFF2-40B4-BE49-F238E27FC236}">
                <a16:creationId xmlns:a16="http://schemas.microsoft.com/office/drawing/2014/main" id="{63942DAA-BEE0-6573-14E6-78E674C0C3E4}"/>
              </a:ext>
            </a:extLst>
          </p:cNvPr>
          <p:cNvSpPr>
            <a:spLocks noGrp="1"/>
          </p:cNvSpPr>
          <p:nvPr>
            <p:ph idx="1"/>
          </p:nvPr>
        </p:nvSpPr>
        <p:spPr>
          <a:xfrm>
            <a:off x="222222" y="2363117"/>
            <a:ext cx="15897839" cy="4225643"/>
          </a:xfrm>
        </p:spPr>
        <p:txBody>
          <a:bodyPr vert="horz" lIns="91440" tIns="45720" rIns="91440" bIns="45720" rtlCol="0" anchor="t">
            <a:normAutofit/>
          </a:bodyPr>
          <a:lstStyle/>
          <a:p>
            <a:pPr algn="just">
              <a:spcAft>
                <a:spcPts val="1200"/>
              </a:spcAft>
            </a:pPr>
            <a:r>
              <a:rPr lang="en-US" sz="3600" b="1" dirty="0">
                <a:latin typeface="Gill Sans MT"/>
                <a:ea typeface="+mn-lt"/>
                <a:cs typeface="+mn-lt"/>
              </a:rPr>
              <a:t>Macro-mobility</a:t>
            </a:r>
            <a:r>
              <a:rPr lang="en-US" sz="3600" dirty="0">
                <a:latin typeface="Gill Sans MT"/>
                <a:ea typeface="+mn-lt"/>
                <a:cs typeface="+mn-lt"/>
              </a:rPr>
              <a:t>: This is mobility through a global network. While moving in such a network, it should be possible to communicate without breaking the existing access. mobile IP, which is the protocol that takes care of macro-mobility.</a:t>
            </a:r>
            <a:endParaRPr lang="en-US" sz="3600" dirty="0">
              <a:latin typeface="Gill Sans MT"/>
            </a:endParaRPr>
          </a:p>
          <a:p>
            <a:pPr algn="just">
              <a:spcAft>
                <a:spcPts val="1200"/>
              </a:spcAft>
            </a:pPr>
            <a:r>
              <a:rPr lang="en-US" sz="3600" b="1" dirty="0">
                <a:latin typeface="Gill Sans MT"/>
                <a:ea typeface="+mn-lt"/>
                <a:cs typeface="+mn-lt"/>
              </a:rPr>
              <a:t>Micro-mobility</a:t>
            </a:r>
            <a:r>
              <a:rPr lang="en-US" sz="3600" dirty="0">
                <a:latin typeface="Gill Sans MT"/>
                <a:ea typeface="+mn-lt"/>
                <a:cs typeface="+mn-lt"/>
              </a:rPr>
              <a:t>: This is mobility of a device in one single administrative domain of the global network. For cellular networks, this is the lowest level of mobility. Cellular IP is the protocol designed to take care of micro-mobility.</a:t>
            </a:r>
            <a:endParaRPr lang="en-US" sz="3600" dirty="0">
              <a:latin typeface="Gill Sans MT"/>
            </a:endParaRPr>
          </a:p>
          <a:p>
            <a:pPr algn="just"/>
            <a:endParaRPr lang="en-US" sz="3600" dirty="0">
              <a:latin typeface="Gill Sans MT"/>
            </a:endParaRPr>
          </a:p>
          <a:p>
            <a:pPr algn="just"/>
            <a:endParaRPr lang="en-US" sz="3600" dirty="0">
              <a:latin typeface="Gill Sans MT"/>
            </a:endParaRPr>
          </a:p>
          <a:p>
            <a:endParaRPr lang="en-US" dirty="0"/>
          </a:p>
        </p:txBody>
      </p:sp>
    </p:spTree>
    <p:extLst>
      <p:ext uri="{BB962C8B-B14F-4D97-AF65-F5344CB8AC3E}">
        <p14:creationId xmlns:p14="http://schemas.microsoft.com/office/powerpoint/2010/main" val="304101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A9D06-F601-FEB8-575F-FF037A5A2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AECC7-E57A-BA67-7FF0-38DF94A00950}"/>
              </a:ext>
            </a:extLst>
          </p:cNvPr>
          <p:cNvSpPr>
            <a:spLocks noGrp="1"/>
          </p:cNvSpPr>
          <p:nvPr>
            <p:ph type="title"/>
          </p:nvPr>
        </p:nvSpPr>
        <p:spPr>
          <a:xfrm>
            <a:off x="287176" y="389467"/>
            <a:ext cx="15040454" cy="1426927"/>
          </a:xfrm>
        </p:spPr>
        <p:txBody>
          <a:bodyPr/>
          <a:lstStyle/>
          <a:p>
            <a:r>
              <a:rPr lang="en-US" dirty="0">
                <a:latin typeface="Gill Sans MT"/>
              </a:rPr>
              <a:t>TYPES OF MOBILITY</a:t>
            </a:r>
          </a:p>
        </p:txBody>
      </p:sp>
      <p:sp>
        <p:nvSpPr>
          <p:cNvPr id="3" name="Content Placeholder 2">
            <a:extLst>
              <a:ext uri="{FF2B5EF4-FFF2-40B4-BE49-F238E27FC236}">
                <a16:creationId xmlns:a16="http://schemas.microsoft.com/office/drawing/2014/main" id="{AB418920-5BB5-5F54-16A8-26E36CDDAF52}"/>
              </a:ext>
            </a:extLst>
          </p:cNvPr>
          <p:cNvSpPr>
            <a:spLocks noGrp="1"/>
          </p:cNvSpPr>
          <p:nvPr>
            <p:ph idx="1"/>
          </p:nvPr>
        </p:nvSpPr>
        <p:spPr>
          <a:xfrm>
            <a:off x="222222" y="2363117"/>
            <a:ext cx="15897839" cy="4225643"/>
          </a:xfrm>
        </p:spPr>
        <p:txBody>
          <a:bodyPr vert="horz" lIns="91440" tIns="45720" rIns="91440" bIns="45720" rtlCol="0" anchor="t">
            <a:normAutofit/>
          </a:bodyPr>
          <a:lstStyle/>
          <a:p>
            <a:pPr algn="just">
              <a:spcAft>
                <a:spcPts val="1200"/>
              </a:spcAft>
            </a:pPr>
            <a:r>
              <a:rPr lang="en-US" sz="3600" b="1" dirty="0">
                <a:latin typeface="Gill Sans MT"/>
                <a:ea typeface="+mn-lt"/>
                <a:cs typeface="+mn-lt"/>
              </a:rPr>
              <a:t>Ad hoc mobility</a:t>
            </a:r>
            <a:r>
              <a:rPr lang="en-US" sz="3600" dirty="0">
                <a:ea typeface="+mn-lt"/>
                <a:cs typeface="+mn-lt"/>
              </a:rPr>
              <a:t>: </a:t>
            </a:r>
            <a:r>
              <a:rPr lang="en-US" sz="3300" dirty="0">
                <a:latin typeface="Gill Sans MT"/>
                <a:ea typeface="+mn-lt"/>
                <a:cs typeface="+mn-lt"/>
              </a:rPr>
              <a:t>This is mobility within a mobile ad hoc network (MANET), caused by device mobility constantly changing the network topology.</a:t>
            </a:r>
          </a:p>
          <a:p>
            <a:pPr algn="just"/>
            <a:endParaRPr lang="en-US" sz="3600" dirty="0">
              <a:latin typeface="Gill Sans MT"/>
            </a:endParaRPr>
          </a:p>
          <a:p>
            <a:pPr algn="just"/>
            <a:endParaRPr lang="en-US" sz="3600" dirty="0">
              <a:latin typeface="Gill Sans MT"/>
            </a:endParaRPr>
          </a:p>
          <a:p>
            <a:endParaRPr lang="en-US" dirty="0"/>
          </a:p>
        </p:txBody>
      </p:sp>
    </p:spTree>
    <p:extLst>
      <p:ext uri="{BB962C8B-B14F-4D97-AF65-F5344CB8AC3E}">
        <p14:creationId xmlns:p14="http://schemas.microsoft.com/office/powerpoint/2010/main" val="1407294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18CB7-9E60-5245-557D-46753CB66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D3CB3-9D13-7030-D86B-8B34E3958FA6}"/>
              </a:ext>
            </a:extLst>
          </p:cNvPr>
          <p:cNvSpPr>
            <a:spLocks noGrp="1"/>
          </p:cNvSpPr>
          <p:nvPr>
            <p:ph type="title"/>
          </p:nvPr>
        </p:nvSpPr>
        <p:spPr>
          <a:xfrm>
            <a:off x="287176" y="389467"/>
            <a:ext cx="15040454" cy="1426927"/>
          </a:xfrm>
        </p:spPr>
        <p:txBody>
          <a:bodyPr/>
          <a:lstStyle/>
          <a:p>
            <a:r>
              <a:rPr lang="en-US" dirty="0">
                <a:latin typeface="Gill Sans MT"/>
              </a:rPr>
              <a:t>WHY IS MOBILITY IMPORTANT IN MOBILE COMPUTING</a:t>
            </a:r>
          </a:p>
        </p:txBody>
      </p:sp>
      <p:sp>
        <p:nvSpPr>
          <p:cNvPr id="3" name="Content Placeholder 2">
            <a:extLst>
              <a:ext uri="{FF2B5EF4-FFF2-40B4-BE49-F238E27FC236}">
                <a16:creationId xmlns:a16="http://schemas.microsoft.com/office/drawing/2014/main" id="{6F93D0CC-B03F-AD94-6904-F7207F96BCDF}"/>
              </a:ext>
            </a:extLst>
          </p:cNvPr>
          <p:cNvSpPr>
            <a:spLocks noGrp="1"/>
          </p:cNvSpPr>
          <p:nvPr>
            <p:ph idx="1"/>
          </p:nvPr>
        </p:nvSpPr>
        <p:spPr>
          <a:xfrm>
            <a:off x="280450" y="2363117"/>
            <a:ext cx="15839611" cy="4710736"/>
          </a:xfrm>
        </p:spPr>
        <p:txBody>
          <a:bodyPr vert="horz" lIns="91440" tIns="45720" rIns="91440" bIns="45720" rtlCol="0" anchor="t">
            <a:normAutofit/>
          </a:bodyPr>
          <a:lstStyle/>
          <a:p>
            <a:pPr algn="just"/>
            <a:r>
              <a:rPr lang="en-US" sz="3600" dirty="0">
                <a:latin typeface="Gill Sans MT"/>
                <a:ea typeface="+mn-lt"/>
                <a:cs typeface="+mn-lt"/>
              </a:rPr>
              <a:t>User convenience and flexibility</a:t>
            </a:r>
            <a:endParaRPr lang="en-US" sz="3600" dirty="0">
              <a:latin typeface="Gill Sans MT"/>
            </a:endParaRPr>
          </a:p>
          <a:p>
            <a:pPr algn="just"/>
            <a:r>
              <a:rPr lang="en-US" sz="3600" dirty="0">
                <a:latin typeface="Gill Sans MT"/>
                <a:ea typeface="+mn-lt"/>
                <a:cs typeface="+mn-lt"/>
              </a:rPr>
              <a:t>Support for remote work and field operations</a:t>
            </a:r>
            <a:endParaRPr lang="en-US" sz="3600">
              <a:latin typeface="Gill Sans MT"/>
            </a:endParaRPr>
          </a:p>
          <a:p>
            <a:pPr algn="just"/>
            <a:r>
              <a:rPr lang="en-US" sz="3600" dirty="0">
                <a:latin typeface="Gill Sans MT"/>
                <a:ea typeface="+mn-lt"/>
                <a:cs typeface="+mn-lt"/>
              </a:rPr>
              <a:t>Continuous access to services</a:t>
            </a:r>
            <a:endParaRPr lang="en-US" sz="3600">
              <a:latin typeface="Gill Sans MT"/>
            </a:endParaRPr>
          </a:p>
          <a:p>
            <a:pPr algn="just"/>
            <a:r>
              <a:rPr lang="en-US" sz="3600" dirty="0">
                <a:latin typeface="Gill Sans MT"/>
                <a:ea typeface="+mn-lt"/>
                <a:cs typeface="+mn-lt"/>
              </a:rPr>
              <a:t>Enhanced productivity and responsiveness</a:t>
            </a:r>
            <a:endParaRPr lang="en-US" dirty="0">
              <a:latin typeface="Gill Sans MT"/>
            </a:endParaRPr>
          </a:p>
          <a:p>
            <a:pPr algn="just"/>
            <a:endParaRPr lang="en-US" sz="3600" dirty="0">
              <a:latin typeface="Gill Sans MT"/>
            </a:endParaRPr>
          </a:p>
          <a:p>
            <a:pPr algn="just"/>
            <a:endParaRPr lang="en-US" sz="3600" dirty="0">
              <a:latin typeface="Gill Sans MT"/>
            </a:endParaRPr>
          </a:p>
          <a:p>
            <a:endParaRPr lang="en-US" dirty="0"/>
          </a:p>
        </p:txBody>
      </p:sp>
    </p:spTree>
    <p:extLst>
      <p:ext uri="{BB962C8B-B14F-4D97-AF65-F5344CB8AC3E}">
        <p14:creationId xmlns:p14="http://schemas.microsoft.com/office/powerpoint/2010/main" val="3418960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B54AF-BA9B-7765-D701-0EA20A9CC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BD402-1688-E739-56B3-549F415424F0}"/>
              </a:ext>
            </a:extLst>
          </p:cNvPr>
          <p:cNvSpPr>
            <a:spLocks noGrp="1"/>
          </p:cNvSpPr>
          <p:nvPr>
            <p:ph type="title"/>
          </p:nvPr>
        </p:nvSpPr>
        <p:spPr>
          <a:xfrm>
            <a:off x="287176" y="389467"/>
            <a:ext cx="15040454" cy="1426927"/>
          </a:xfrm>
        </p:spPr>
        <p:txBody>
          <a:bodyPr/>
          <a:lstStyle/>
          <a:p>
            <a:r>
              <a:rPr lang="en-US">
                <a:latin typeface="Gill Sans MT"/>
              </a:rPr>
              <a:t>MOBILE COMPUTING LIMITATIONS</a:t>
            </a:r>
            <a:endParaRPr lang="en-US" dirty="0">
              <a:latin typeface="Gill Sans MT"/>
            </a:endParaRPr>
          </a:p>
        </p:txBody>
      </p:sp>
      <p:sp>
        <p:nvSpPr>
          <p:cNvPr id="3" name="Content Placeholder 2">
            <a:extLst>
              <a:ext uri="{FF2B5EF4-FFF2-40B4-BE49-F238E27FC236}">
                <a16:creationId xmlns:a16="http://schemas.microsoft.com/office/drawing/2014/main" id="{A3025CFF-6557-BDD8-CE61-3150D33953C4}"/>
              </a:ext>
            </a:extLst>
          </p:cNvPr>
          <p:cNvSpPr>
            <a:spLocks noGrp="1"/>
          </p:cNvSpPr>
          <p:nvPr>
            <p:ph idx="1"/>
          </p:nvPr>
        </p:nvSpPr>
        <p:spPr>
          <a:xfrm>
            <a:off x="280450" y="2363117"/>
            <a:ext cx="15839611" cy="4710736"/>
          </a:xfrm>
        </p:spPr>
        <p:txBody>
          <a:bodyPr vert="horz" lIns="91440" tIns="45720" rIns="91440" bIns="45720" rtlCol="0" anchor="t">
            <a:normAutofit fontScale="92500" lnSpcReduction="10000"/>
          </a:bodyPr>
          <a:lstStyle/>
          <a:p>
            <a:pPr algn="just"/>
            <a:r>
              <a:rPr lang="en-US" sz="3600" b="1" dirty="0">
                <a:latin typeface="Gill Sans MT"/>
                <a:ea typeface="+mn-lt"/>
                <a:cs typeface="+mn-lt"/>
              </a:rPr>
              <a:t>Range &amp; Bandwidth</a:t>
            </a:r>
            <a:r>
              <a:rPr lang="en-US" sz="3600" dirty="0">
                <a:latin typeface="Gill Sans MT"/>
                <a:ea typeface="+mn-lt"/>
                <a:cs typeface="+mn-lt"/>
              </a:rPr>
              <a:t>: Mobile Internet access is generally slower than direct cable connections,</a:t>
            </a:r>
            <a:endParaRPr lang="en-US" sz="3600">
              <a:latin typeface="Gill Sans MT"/>
            </a:endParaRPr>
          </a:p>
          <a:p>
            <a:pPr algn="just"/>
            <a:r>
              <a:rPr lang="en-US" sz="3600" b="1" dirty="0">
                <a:latin typeface="Gill Sans MT"/>
                <a:ea typeface="+mn-lt"/>
                <a:cs typeface="+mn-lt"/>
              </a:rPr>
              <a:t>Security standards</a:t>
            </a:r>
            <a:r>
              <a:rPr lang="en-US" sz="3600" dirty="0">
                <a:latin typeface="Gill Sans MT"/>
                <a:ea typeface="+mn-lt"/>
                <a:cs typeface="+mn-lt"/>
              </a:rPr>
              <a:t>: When working mobile, one is dependent on public networks.</a:t>
            </a:r>
            <a:endParaRPr lang="en-US" sz="3600">
              <a:latin typeface="Gill Sans MT"/>
            </a:endParaRPr>
          </a:p>
          <a:p>
            <a:pPr algn="just"/>
            <a:r>
              <a:rPr lang="en-US" sz="3600" b="1" dirty="0">
                <a:latin typeface="Gill Sans MT"/>
                <a:ea typeface="+mn-lt"/>
                <a:cs typeface="+mn-lt"/>
              </a:rPr>
              <a:t>Power consumption</a:t>
            </a:r>
            <a:r>
              <a:rPr lang="en-US" sz="3600" dirty="0">
                <a:latin typeface="Gill Sans MT"/>
                <a:ea typeface="+mn-lt"/>
                <a:cs typeface="+mn-lt"/>
              </a:rPr>
              <a:t>: rely entirely on battery power</a:t>
            </a:r>
            <a:endParaRPr lang="en-US" sz="3600">
              <a:latin typeface="Gill Sans MT"/>
            </a:endParaRPr>
          </a:p>
          <a:p>
            <a:pPr algn="just"/>
            <a:r>
              <a:rPr lang="en-US" sz="3600" b="1" dirty="0">
                <a:latin typeface="Gill Sans MT"/>
                <a:ea typeface="+mn-lt"/>
                <a:cs typeface="+mn-lt"/>
              </a:rPr>
              <a:t>Transmission interferences</a:t>
            </a:r>
            <a:r>
              <a:rPr lang="en-US" sz="3600" dirty="0">
                <a:latin typeface="Gill Sans MT"/>
                <a:ea typeface="+mn-lt"/>
                <a:cs typeface="+mn-lt"/>
              </a:rPr>
              <a:t>: Weather, terrain, and the range from the nearest signal point can all interfere with signal reception.</a:t>
            </a:r>
            <a:endParaRPr lang="en-US" sz="3600">
              <a:latin typeface="Gill Sans MT"/>
            </a:endParaRPr>
          </a:p>
          <a:p>
            <a:pPr algn="just"/>
            <a:r>
              <a:rPr lang="en-US" sz="3600" b="1" dirty="0">
                <a:latin typeface="Gill Sans MT"/>
                <a:ea typeface="+mn-lt"/>
                <a:cs typeface="+mn-lt"/>
              </a:rPr>
              <a:t>Potential health hazards</a:t>
            </a:r>
            <a:r>
              <a:rPr lang="en-US" sz="3600" dirty="0">
                <a:latin typeface="Gill Sans MT"/>
                <a:ea typeface="+mn-lt"/>
                <a:cs typeface="+mn-lt"/>
              </a:rPr>
              <a:t>: more likely to be involved in traffic accidents.</a:t>
            </a:r>
            <a:endParaRPr lang="en-US" sz="3600">
              <a:latin typeface="Gill Sans MT"/>
            </a:endParaRPr>
          </a:p>
          <a:p>
            <a:pPr algn="just">
              <a:spcAft>
                <a:spcPts val="1200"/>
              </a:spcAft>
            </a:pPr>
            <a:r>
              <a:rPr lang="en-US" sz="3600" b="1" dirty="0">
                <a:latin typeface="Gill Sans MT"/>
                <a:ea typeface="+mn-lt"/>
                <a:cs typeface="+mn-lt"/>
              </a:rPr>
              <a:t>Human interface with device</a:t>
            </a:r>
            <a:r>
              <a:rPr lang="en-US" sz="3600" dirty="0">
                <a:latin typeface="Gill Sans MT"/>
                <a:ea typeface="+mn-lt"/>
                <a:cs typeface="+mn-lt"/>
              </a:rPr>
              <a:t>: Screens and keyboards tend to be small, which may make them hard to use.</a:t>
            </a:r>
            <a:endParaRPr lang="en-US" dirty="0">
              <a:latin typeface="Gill Sans MT"/>
              <a:ea typeface="+mn-lt"/>
              <a:cs typeface="+mn-lt"/>
            </a:endParaRPr>
          </a:p>
          <a:p>
            <a:endParaRPr lang="en-US" dirty="0">
              <a:latin typeface="Aptos" panose="020B0004020202020204"/>
            </a:endParaRPr>
          </a:p>
        </p:txBody>
      </p:sp>
    </p:spTree>
    <p:extLst>
      <p:ext uri="{BB962C8B-B14F-4D97-AF65-F5344CB8AC3E}">
        <p14:creationId xmlns:p14="http://schemas.microsoft.com/office/powerpoint/2010/main" val="4086315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684BA-A431-C200-0B0E-CBD61FA93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97C20-5A2C-484F-908B-6947C164BB1E}"/>
              </a:ext>
            </a:extLst>
          </p:cNvPr>
          <p:cNvSpPr>
            <a:spLocks noGrp="1"/>
          </p:cNvSpPr>
          <p:nvPr>
            <p:ph type="title"/>
          </p:nvPr>
        </p:nvSpPr>
        <p:spPr>
          <a:xfrm>
            <a:off x="287176" y="389467"/>
            <a:ext cx="15040454" cy="1426927"/>
          </a:xfrm>
        </p:spPr>
        <p:txBody>
          <a:bodyPr/>
          <a:lstStyle/>
          <a:p>
            <a:r>
              <a:rPr lang="en-US" dirty="0">
                <a:latin typeface="Gill Sans MT"/>
              </a:rPr>
              <a:t>MOBILE HARDWARE COMPONENTS</a:t>
            </a:r>
          </a:p>
        </p:txBody>
      </p:sp>
      <p:sp>
        <p:nvSpPr>
          <p:cNvPr id="3" name="Content Placeholder 2">
            <a:extLst>
              <a:ext uri="{FF2B5EF4-FFF2-40B4-BE49-F238E27FC236}">
                <a16:creationId xmlns:a16="http://schemas.microsoft.com/office/drawing/2014/main" id="{C6B7429D-B37E-63FA-AC96-9954AD330550}"/>
              </a:ext>
            </a:extLst>
          </p:cNvPr>
          <p:cNvSpPr>
            <a:spLocks noGrp="1"/>
          </p:cNvSpPr>
          <p:nvPr>
            <p:ph idx="1"/>
          </p:nvPr>
        </p:nvSpPr>
        <p:spPr>
          <a:xfrm>
            <a:off x="280450" y="2363117"/>
            <a:ext cx="15839611" cy="4710736"/>
          </a:xfrm>
        </p:spPr>
        <p:txBody>
          <a:bodyPr vert="horz" lIns="91440" tIns="45720" rIns="91440" bIns="45720" rtlCol="0" anchor="t">
            <a:normAutofit/>
          </a:bodyPr>
          <a:lstStyle/>
          <a:p>
            <a:pPr algn="just"/>
            <a:r>
              <a:rPr lang="en-US" sz="3600" dirty="0">
                <a:latin typeface="Gill Sans MT"/>
                <a:ea typeface="+mn-lt"/>
                <a:cs typeface="+mn-lt"/>
              </a:rPr>
              <a:t>Mobile computing devices have almost the same components as a normal computer but may be different in size to make it portable.</a:t>
            </a:r>
          </a:p>
          <a:p>
            <a:pPr algn="just"/>
            <a:r>
              <a:rPr lang="en-US" sz="3600" dirty="0">
                <a:latin typeface="Gill Sans MT"/>
                <a:ea typeface="+mn-lt"/>
                <a:cs typeface="+mn-lt"/>
              </a:rPr>
              <a:t>The following are some of the main mobile computing components:-</a:t>
            </a:r>
          </a:p>
          <a:p>
            <a:pPr lvl="1" algn="just">
              <a:buFont typeface="Courier New" panose="020B0604020202020204" pitchFamily="34" charset="0"/>
              <a:buChar char="o"/>
            </a:pPr>
            <a:r>
              <a:rPr lang="en-US" sz="3200" dirty="0">
                <a:solidFill>
                  <a:srgbClr val="FF0000"/>
                </a:solidFill>
                <a:latin typeface="Gill Sans MT"/>
                <a:ea typeface="+mn-lt"/>
                <a:cs typeface="+mn-lt"/>
              </a:rPr>
              <a:t>CPU, Memory, Display, Battery, Connectivity, and Sensor</a:t>
            </a:r>
            <a:endParaRPr lang="en-US">
              <a:solidFill>
                <a:srgbClr val="FF0000"/>
              </a:solidFill>
              <a:latin typeface="Gill Sans MT"/>
              <a:ea typeface="+mn-lt"/>
              <a:cs typeface="+mn-lt"/>
            </a:endParaRPr>
          </a:p>
          <a:p>
            <a:endParaRPr lang="en-US" dirty="0">
              <a:latin typeface="Aptos" panose="020B0004020202020204"/>
            </a:endParaRPr>
          </a:p>
        </p:txBody>
      </p:sp>
    </p:spTree>
    <p:extLst>
      <p:ext uri="{BB962C8B-B14F-4D97-AF65-F5344CB8AC3E}">
        <p14:creationId xmlns:p14="http://schemas.microsoft.com/office/powerpoint/2010/main" val="3181125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A8927-1DBA-F6E5-9A28-5259F2FE6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0A8A6-EFF1-8BB4-332C-2A956ADE10CE}"/>
              </a:ext>
            </a:extLst>
          </p:cNvPr>
          <p:cNvSpPr>
            <a:spLocks noGrp="1"/>
          </p:cNvSpPr>
          <p:nvPr>
            <p:ph type="title"/>
          </p:nvPr>
        </p:nvSpPr>
        <p:spPr>
          <a:xfrm>
            <a:off x="263335" y="474796"/>
            <a:ext cx="7490954" cy="1161164"/>
          </a:xfrm>
        </p:spPr>
        <p:txBody>
          <a:bodyPr>
            <a:noAutofit/>
          </a:bodyPr>
          <a:lstStyle/>
          <a:p>
            <a:r>
              <a:rPr lang="en-US" sz="4400" dirty="0">
                <a:latin typeface="Gill Sans MT"/>
              </a:rPr>
              <a:t>CENTRAL PROCESSING UNIT</a:t>
            </a:r>
          </a:p>
        </p:txBody>
      </p:sp>
      <p:sp>
        <p:nvSpPr>
          <p:cNvPr id="3" name="Content Placeholder 2">
            <a:extLst>
              <a:ext uri="{FF2B5EF4-FFF2-40B4-BE49-F238E27FC236}">
                <a16:creationId xmlns:a16="http://schemas.microsoft.com/office/drawing/2014/main" id="{39783369-5B4A-1236-36C8-7CE61FC8DAA5}"/>
              </a:ext>
            </a:extLst>
          </p:cNvPr>
          <p:cNvSpPr>
            <a:spLocks noGrp="1"/>
          </p:cNvSpPr>
          <p:nvPr>
            <p:ph idx="1"/>
          </p:nvPr>
        </p:nvSpPr>
        <p:spPr/>
        <p:txBody>
          <a:bodyPr vert="horz" lIns="91440" tIns="45720" rIns="91440" bIns="45720" rtlCol="0" anchor="t">
            <a:normAutofit/>
          </a:bodyPr>
          <a:lstStyle/>
          <a:p>
            <a:pPr algn="just"/>
            <a:endParaRPr lang="en-US" sz="3600" dirty="0">
              <a:latin typeface="Gill Sans MT"/>
            </a:endParaRPr>
          </a:p>
          <a:p>
            <a:endParaRPr lang="en-US" dirty="0">
              <a:latin typeface="Aptos" panose="020B0004020202020204"/>
            </a:endParaRPr>
          </a:p>
        </p:txBody>
      </p:sp>
      <p:sp>
        <p:nvSpPr>
          <p:cNvPr id="4" name="Text Placeholder 3">
            <a:extLst>
              <a:ext uri="{FF2B5EF4-FFF2-40B4-BE49-F238E27FC236}">
                <a16:creationId xmlns:a16="http://schemas.microsoft.com/office/drawing/2014/main" id="{80FD3F48-5EAD-8858-7469-D8D342F236D2}"/>
              </a:ext>
            </a:extLst>
          </p:cNvPr>
          <p:cNvSpPr>
            <a:spLocks noGrp="1"/>
          </p:cNvSpPr>
          <p:nvPr>
            <p:ph type="body" sz="half" idx="2"/>
          </p:nvPr>
        </p:nvSpPr>
        <p:spPr>
          <a:xfrm>
            <a:off x="263338" y="2194560"/>
            <a:ext cx="6724504" cy="4884268"/>
          </a:xfrm>
        </p:spPr>
        <p:txBody>
          <a:bodyPr vert="horz" lIns="91440" tIns="45720" rIns="91440" bIns="45720" rtlCol="0" anchor="t">
            <a:normAutofit/>
          </a:bodyPr>
          <a:lstStyle/>
          <a:p>
            <a:pPr algn="just"/>
            <a:r>
              <a:rPr lang="en-US" sz="3600" dirty="0">
                <a:latin typeface="Gill Sans MT"/>
              </a:rPr>
              <a:t>The CPU (Central Processing Unit) is the brain of any mobile computing device, responsible for </a:t>
            </a:r>
            <a:r>
              <a:rPr lang="en-US" sz="3600" b="1" dirty="0">
                <a:latin typeface="Gill Sans MT"/>
              </a:rPr>
              <a:t>executing instructions,</a:t>
            </a:r>
            <a:r>
              <a:rPr lang="en-US" sz="3600" dirty="0">
                <a:latin typeface="Gill Sans MT"/>
              </a:rPr>
              <a:t> </a:t>
            </a:r>
            <a:r>
              <a:rPr lang="en-US" sz="3600" b="1" dirty="0">
                <a:latin typeface="Gill Sans MT"/>
              </a:rPr>
              <a:t>running applications</a:t>
            </a:r>
            <a:r>
              <a:rPr lang="en-US" sz="3600" dirty="0">
                <a:latin typeface="Gill Sans MT"/>
              </a:rPr>
              <a:t>, and </a:t>
            </a:r>
            <a:r>
              <a:rPr lang="en-US" sz="3600" b="1" dirty="0">
                <a:latin typeface="Gill Sans MT"/>
              </a:rPr>
              <a:t>managing system performance</a:t>
            </a:r>
            <a:r>
              <a:rPr lang="en-US" sz="3600" dirty="0">
                <a:latin typeface="Gill Sans MT"/>
              </a:rPr>
              <a:t>.</a:t>
            </a:r>
            <a:endParaRPr lang="en-US" dirty="0"/>
          </a:p>
        </p:txBody>
      </p:sp>
      <p:pic>
        <p:nvPicPr>
          <p:cNvPr id="5" name="Picture 4" descr="A diagram of a control unit&#10;&#10;AI-generated content may be incorrect.">
            <a:extLst>
              <a:ext uri="{FF2B5EF4-FFF2-40B4-BE49-F238E27FC236}">
                <a16:creationId xmlns:a16="http://schemas.microsoft.com/office/drawing/2014/main" id="{C3585334-AB7F-74A0-F609-5E499E4A5CD1}"/>
              </a:ext>
            </a:extLst>
          </p:cNvPr>
          <p:cNvPicPr>
            <a:picLocks noChangeAspect="1"/>
          </p:cNvPicPr>
          <p:nvPr/>
        </p:nvPicPr>
        <p:blipFill>
          <a:blip r:embed="rId3"/>
          <a:stretch>
            <a:fillRect/>
          </a:stretch>
        </p:blipFill>
        <p:spPr>
          <a:xfrm>
            <a:off x="8237277" y="1001502"/>
            <a:ext cx="7995024" cy="6078659"/>
          </a:xfrm>
          <a:prstGeom prst="rect">
            <a:avLst/>
          </a:prstGeom>
        </p:spPr>
      </p:pic>
    </p:spTree>
    <p:extLst>
      <p:ext uri="{BB962C8B-B14F-4D97-AF65-F5344CB8AC3E}">
        <p14:creationId xmlns:p14="http://schemas.microsoft.com/office/powerpoint/2010/main" val="2358585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40AC8-35C6-EBDF-978F-3F32FF4EE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5363E-5556-ECE4-9069-CEE38A87DB3C}"/>
              </a:ext>
            </a:extLst>
          </p:cNvPr>
          <p:cNvSpPr>
            <a:spLocks noGrp="1"/>
          </p:cNvSpPr>
          <p:nvPr>
            <p:ph type="title"/>
          </p:nvPr>
        </p:nvSpPr>
        <p:spPr>
          <a:xfrm>
            <a:off x="287176" y="389467"/>
            <a:ext cx="15040454" cy="1426927"/>
          </a:xfrm>
        </p:spPr>
        <p:txBody>
          <a:bodyPr/>
          <a:lstStyle/>
          <a:p>
            <a:r>
              <a:rPr lang="en-US" dirty="0">
                <a:latin typeface="Gill Sans MT"/>
              </a:rPr>
              <a:t>TYPES OF CENTRAL PROCESSING UNITs</a:t>
            </a:r>
          </a:p>
        </p:txBody>
      </p:sp>
      <p:sp>
        <p:nvSpPr>
          <p:cNvPr id="3" name="Content Placeholder 2">
            <a:extLst>
              <a:ext uri="{FF2B5EF4-FFF2-40B4-BE49-F238E27FC236}">
                <a16:creationId xmlns:a16="http://schemas.microsoft.com/office/drawing/2014/main" id="{AA086A49-1188-3B7B-48C6-E9924CB17992}"/>
              </a:ext>
            </a:extLst>
          </p:cNvPr>
          <p:cNvSpPr>
            <a:spLocks noGrp="1"/>
          </p:cNvSpPr>
          <p:nvPr>
            <p:ph idx="1"/>
          </p:nvPr>
        </p:nvSpPr>
        <p:spPr>
          <a:xfrm>
            <a:off x="280450" y="2363117"/>
            <a:ext cx="15839611" cy="4710736"/>
          </a:xfrm>
        </p:spPr>
        <p:txBody>
          <a:bodyPr vert="horz" lIns="91440" tIns="45720" rIns="91440" bIns="45720" rtlCol="0" anchor="t">
            <a:normAutofit/>
          </a:bodyPr>
          <a:lstStyle/>
          <a:p>
            <a:pPr marL="0" indent="0" algn="just">
              <a:buNone/>
            </a:pPr>
            <a:r>
              <a:rPr lang="en-US" sz="3600" b="1" dirty="0">
                <a:latin typeface="Gill Sans MT"/>
                <a:ea typeface="+mn-lt"/>
                <a:cs typeface="+mn-lt"/>
              </a:rPr>
              <a:t>Mobile CPUs can be categorized into two:</a:t>
            </a:r>
            <a:endParaRPr lang="en-US" sz="3600" b="1">
              <a:latin typeface="Gill Sans MT"/>
              <a:ea typeface="+mn-lt"/>
              <a:cs typeface="+mn-lt"/>
            </a:endParaRPr>
          </a:p>
          <a:p>
            <a:pPr algn="just"/>
            <a:r>
              <a:rPr lang="en-US" sz="3600" dirty="0">
                <a:latin typeface="Gill Sans MT"/>
                <a:ea typeface="+mn-lt"/>
                <a:cs typeface="+mn-lt"/>
              </a:rPr>
              <a:t>Architecture base (ARM, X86)</a:t>
            </a:r>
            <a:endParaRPr lang="en-US" sz="3600">
              <a:latin typeface="Gill Sans MT"/>
            </a:endParaRPr>
          </a:p>
          <a:p>
            <a:pPr algn="just"/>
            <a:r>
              <a:rPr lang="en-US" sz="3600" dirty="0">
                <a:latin typeface="Gill Sans MT"/>
                <a:ea typeface="+mn-lt"/>
                <a:cs typeface="+mn-lt"/>
              </a:rPr>
              <a:t>Core base (Single, Multi and </a:t>
            </a:r>
            <a:r>
              <a:rPr lang="en-US" sz="3600" err="1">
                <a:latin typeface="Gill Sans MT"/>
                <a:ea typeface="+mn-lt"/>
                <a:cs typeface="+mn-lt"/>
              </a:rPr>
              <a:t>Big.Little</a:t>
            </a:r>
            <a:r>
              <a:rPr lang="en-US" sz="3600" dirty="0">
                <a:latin typeface="Gill Sans MT"/>
                <a:ea typeface="+mn-lt"/>
                <a:cs typeface="+mn-lt"/>
              </a:rPr>
              <a:t>)</a:t>
            </a:r>
            <a:endParaRPr lang="en-US" dirty="0">
              <a:latin typeface="Gill Sans MT"/>
            </a:endParaRPr>
          </a:p>
          <a:p>
            <a:endParaRPr lang="en-US" dirty="0">
              <a:latin typeface="Aptos" panose="020B0004020202020204"/>
            </a:endParaRPr>
          </a:p>
        </p:txBody>
      </p:sp>
    </p:spTree>
    <p:extLst>
      <p:ext uri="{BB962C8B-B14F-4D97-AF65-F5344CB8AC3E}">
        <p14:creationId xmlns:p14="http://schemas.microsoft.com/office/powerpoint/2010/main" val="1305935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62811-94F6-FC65-277F-1FD8C1AF7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AA276-887B-CDB2-7CD7-CAF7946FB461}"/>
              </a:ext>
            </a:extLst>
          </p:cNvPr>
          <p:cNvSpPr>
            <a:spLocks noGrp="1"/>
          </p:cNvSpPr>
          <p:nvPr>
            <p:ph type="title"/>
          </p:nvPr>
        </p:nvSpPr>
        <p:spPr>
          <a:xfrm>
            <a:off x="287176" y="389467"/>
            <a:ext cx="15040454" cy="1426927"/>
          </a:xfrm>
        </p:spPr>
        <p:txBody>
          <a:bodyPr/>
          <a:lstStyle/>
          <a:p>
            <a:r>
              <a:rPr lang="en-US" dirty="0">
                <a:latin typeface="Gill Sans MT"/>
                <a:ea typeface="+mj-lt"/>
                <a:cs typeface="+mj-lt"/>
              </a:rPr>
              <a:t>DESIGN CONSTRAINTS OF MOBILE CPUs</a:t>
            </a:r>
            <a:endParaRPr lang="en-US" dirty="0">
              <a:latin typeface="Gill Sans MT"/>
            </a:endParaRPr>
          </a:p>
        </p:txBody>
      </p:sp>
      <p:sp>
        <p:nvSpPr>
          <p:cNvPr id="3" name="Content Placeholder 2">
            <a:extLst>
              <a:ext uri="{FF2B5EF4-FFF2-40B4-BE49-F238E27FC236}">
                <a16:creationId xmlns:a16="http://schemas.microsoft.com/office/drawing/2014/main" id="{E55B74C3-AB05-1453-410A-4CCF088AE37B}"/>
              </a:ext>
            </a:extLst>
          </p:cNvPr>
          <p:cNvSpPr>
            <a:spLocks noGrp="1"/>
          </p:cNvSpPr>
          <p:nvPr>
            <p:ph idx="1"/>
          </p:nvPr>
        </p:nvSpPr>
        <p:spPr>
          <a:xfrm>
            <a:off x="280450" y="2363117"/>
            <a:ext cx="15839611" cy="4710736"/>
          </a:xfrm>
        </p:spPr>
        <p:txBody>
          <a:bodyPr vert="horz" lIns="91440" tIns="45720" rIns="91440" bIns="45720" rtlCol="0" anchor="t">
            <a:normAutofit/>
          </a:bodyPr>
          <a:lstStyle/>
          <a:p>
            <a:pPr marL="571500" indent="-571500" algn="just"/>
            <a:r>
              <a:rPr lang="en-US" sz="3600" b="1" dirty="0">
                <a:latin typeface="Gill Sans MT"/>
                <a:ea typeface="+mn-lt"/>
                <a:cs typeface="+mn-lt"/>
              </a:rPr>
              <a:t>Power Consumption</a:t>
            </a:r>
            <a:r>
              <a:rPr lang="en-US" sz="3600" dirty="0">
                <a:latin typeface="Gill Sans MT"/>
                <a:ea typeface="+mn-lt"/>
                <a:cs typeface="+mn-lt"/>
              </a:rPr>
              <a:t>: Mobile CPUs must balance performance and battery life</a:t>
            </a:r>
            <a:endParaRPr lang="en-US" dirty="0">
              <a:latin typeface="Gill Sans MT"/>
              <a:ea typeface="+mn-lt"/>
              <a:cs typeface="+mn-lt"/>
            </a:endParaRPr>
          </a:p>
          <a:p>
            <a:pPr marL="571500" indent="-571500" algn="just"/>
            <a:r>
              <a:rPr lang="en-US" sz="3600" b="1" dirty="0">
                <a:latin typeface="Gill Sans MT"/>
                <a:ea typeface="+mn-lt"/>
                <a:cs typeface="+mn-lt"/>
              </a:rPr>
              <a:t>Heat Dissipation</a:t>
            </a:r>
            <a:r>
              <a:rPr lang="en-US" sz="3600" dirty="0">
                <a:latin typeface="Gill Sans MT"/>
                <a:ea typeface="+mn-lt"/>
                <a:cs typeface="+mn-lt"/>
              </a:rPr>
              <a:t>: Unlike desktop CPUs, mobile CPUs do not have cooling fans</a:t>
            </a:r>
            <a:endParaRPr lang="en-US" dirty="0">
              <a:latin typeface="Gill Sans MT"/>
              <a:ea typeface="+mn-lt"/>
              <a:cs typeface="+mn-lt"/>
            </a:endParaRPr>
          </a:p>
          <a:p>
            <a:pPr marL="571500" indent="-571500" algn="just"/>
            <a:r>
              <a:rPr lang="en-US" sz="3600" b="1" dirty="0">
                <a:latin typeface="Gill Sans MT"/>
                <a:ea typeface="+mn-lt"/>
                <a:cs typeface="+mn-lt"/>
              </a:rPr>
              <a:t>Size &amp; Integration</a:t>
            </a:r>
            <a:r>
              <a:rPr lang="en-US" sz="3600" dirty="0">
                <a:latin typeface="Gill Sans MT"/>
                <a:ea typeface="+mn-lt"/>
                <a:cs typeface="+mn-lt"/>
              </a:rPr>
              <a:t>: Mobile CPUs must be compact to fit within thin devices</a:t>
            </a:r>
            <a:endParaRPr lang="en-US" dirty="0">
              <a:latin typeface="Gill Sans MT"/>
              <a:ea typeface="+mn-lt"/>
              <a:cs typeface="+mn-lt"/>
            </a:endParaRPr>
          </a:p>
          <a:p>
            <a:pPr marL="571500" indent="-571500" algn="just"/>
            <a:r>
              <a:rPr lang="en-US" sz="3600" b="1">
                <a:latin typeface="Gill Sans MT"/>
                <a:ea typeface="+mn-lt"/>
                <a:cs typeface="+mn-lt"/>
              </a:rPr>
              <a:t>Performance vs. Efficiency Trade-off</a:t>
            </a:r>
            <a:r>
              <a:rPr lang="en-US" sz="3600" dirty="0">
                <a:latin typeface="Gill Sans MT"/>
                <a:ea typeface="+mn-lt"/>
                <a:cs typeface="+mn-lt"/>
              </a:rPr>
              <a:t>: High performance consumes more power and generates more heat</a:t>
            </a:r>
            <a:endParaRPr lang="en-US">
              <a:latin typeface="Gill Sans MT"/>
            </a:endParaRPr>
          </a:p>
        </p:txBody>
      </p:sp>
    </p:spTree>
    <p:extLst>
      <p:ext uri="{BB962C8B-B14F-4D97-AF65-F5344CB8AC3E}">
        <p14:creationId xmlns:p14="http://schemas.microsoft.com/office/powerpoint/2010/main" val="4250863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D12FC-B6B4-6A1F-309C-00DAD2035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C4012-AA38-26F2-961E-0B186532C23A}"/>
              </a:ext>
            </a:extLst>
          </p:cNvPr>
          <p:cNvSpPr>
            <a:spLocks noGrp="1"/>
          </p:cNvSpPr>
          <p:nvPr>
            <p:ph type="title"/>
          </p:nvPr>
        </p:nvSpPr>
        <p:spPr>
          <a:xfrm>
            <a:off x="287176" y="389467"/>
            <a:ext cx="15040454" cy="1426927"/>
          </a:xfrm>
        </p:spPr>
        <p:txBody>
          <a:bodyPr/>
          <a:lstStyle/>
          <a:p>
            <a:r>
              <a:rPr lang="en-US" dirty="0">
                <a:latin typeface="Gill Sans MT"/>
              </a:rPr>
              <a:t>BATTERY</a:t>
            </a:r>
          </a:p>
        </p:txBody>
      </p:sp>
      <p:sp>
        <p:nvSpPr>
          <p:cNvPr id="3" name="Content Placeholder 2">
            <a:extLst>
              <a:ext uri="{FF2B5EF4-FFF2-40B4-BE49-F238E27FC236}">
                <a16:creationId xmlns:a16="http://schemas.microsoft.com/office/drawing/2014/main" id="{72E1D804-8665-4CDC-FE59-F5BE937AF136}"/>
              </a:ext>
            </a:extLst>
          </p:cNvPr>
          <p:cNvSpPr>
            <a:spLocks noGrp="1"/>
          </p:cNvSpPr>
          <p:nvPr>
            <p:ph idx="1"/>
          </p:nvPr>
        </p:nvSpPr>
        <p:spPr>
          <a:xfrm>
            <a:off x="280450" y="2363117"/>
            <a:ext cx="15839611" cy="4710736"/>
          </a:xfrm>
        </p:spPr>
        <p:txBody>
          <a:bodyPr vert="horz" lIns="91440" tIns="45720" rIns="91440" bIns="45720" rtlCol="0" anchor="t">
            <a:normAutofit/>
          </a:bodyPr>
          <a:lstStyle/>
          <a:p>
            <a:pPr algn="just"/>
            <a:r>
              <a:rPr lang="en-US" sz="3600" b="1" dirty="0">
                <a:latin typeface="Gill Sans MT"/>
                <a:ea typeface="+mn-lt"/>
                <a:cs typeface="+mn-lt"/>
              </a:rPr>
              <a:t>Battery </a:t>
            </a:r>
            <a:r>
              <a:rPr lang="en-US" sz="3600" dirty="0">
                <a:latin typeface="Gill Sans MT"/>
                <a:ea typeface="+mn-lt"/>
                <a:cs typeface="+mn-lt"/>
              </a:rPr>
              <a:t>— the limited battery capacity of mobile devices can restrict their usage time and  can often be a source of frustration for users.</a:t>
            </a:r>
          </a:p>
          <a:p>
            <a:pPr algn="just"/>
            <a:r>
              <a:rPr lang="en-US" sz="3600" dirty="0">
                <a:latin typeface="Gill Sans MT"/>
                <a:ea typeface="+mn-lt"/>
                <a:cs typeface="+mn-lt"/>
              </a:rPr>
              <a:t>Some of the reasons that cause battery constraints in mobile computing are: </a:t>
            </a:r>
            <a:r>
              <a:rPr lang="en-US" sz="3600" dirty="0">
                <a:solidFill>
                  <a:srgbClr val="FF0000"/>
                </a:solidFill>
                <a:latin typeface="Gill Sans MT"/>
                <a:ea typeface="+mn-lt"/>
                <a:cs typeface="+mn-lt"/>
              </a:rPr>
              <a:t>Small size and weight</a:t>
            </a:r>
            <a:r>
              <a:rPr lang="en-US" sz="3600" dirty="0">
                <a:latin typeface="Gill Sans MT"/>
                <a:ea typeface="+mn-lt"/>
                <a:cs typeface="+mn-lt"/>
              </a:rPr>
              <a:t>, </a:t>
            </a:r>
            <a:r>
              <a:rPr lang="en-US" sz="3600" dirty="0">
                <a:solidFill>
                  <a:srgbClr val="FF0000"/>
                </a:solidFill>
                <a:latin typeface="Gill Sans MT"/>
                <a:ea typeface="+mn-lt"/>
                <a:cs typeface="+mn-lt"/>
              </a:rPr>
              <a:t>mobile features </a:t>
            </a:r>
            <a:r>
              <a:rPr lang="en-US" sz="3600" dirty="0">
                <a:latin typeface="Gill Sans MT"/>
                <a:ea typeface="+mn-lt"/>
                <a:cs typeface="+mn-lt"/>
              </a:rPr>
              <a:t>such as GPS, camera and internet connectivity, </a:t>
            </a:r>
            <a:r>
              <a:rPr lang="en-US" sz="3600" dirty="0">
                <a:solidFill>
                  <a:srgbClr val="FF0000"/>
                </a:solidFill>
                <a:latin typeface="Gill Sans MT"/>
                <a:ea typeface="+mn-lt"/>
                <a:cs typeface="+mn-lt"/>
              </a:rPr>
              <a:t>battery degradation</a:t>
            </a:r>
            <a:r>
              <a:rPr lang="en-US" sz="3600" dirty="0">
                <a:latin typeface="Gill Sans MT"/>
                <a:ea typeface="+mn-lt"/>
                <a:cs typeface="+mn-lt"/>
              </a:rPr>
              <a:t>.</a:t>
            </a:r>
            <a:endParaRPr lang="en-US" sz="3600">
              <a:latin typeface="Gill Sans MT"/>
            </a:endParaRPr>
          </a:p>
          <a:p>
            <a:pPr algn="just"/>
            <a:r>
              <a:rPr lang="en-US" sz="3600" dirty="0">
                <a:latin typeface="Gill Sans MT"/>
                <a:ea typeface="+mn-lt"/>
                <a:cs typeface="+mn-lt"/>
              </a:rPr>
              <a:t>List the technologies that have been developed to improve battery life.</a:t>
            </a:r>
            <a:endParaRPr lang="en-US" sz="3600" dirty="0"/>
          </a:p>
          <a:p>
            <a:pPr marL="571500" indent="-571500" algn="just"/>
            <a:endParaRPr lang="en-US" sz="3600" dirty="0">
              <a:latin typeface="Gill Sans MT"/>
            </a:endParaRPr>
          </a:p>
        </p:txBody>
      </p:sp>
    </p:spTree>
    <p:extLst>
      <p:ext uri="{BB962C8B-B14F-4D97-AF65-F5344CB8AC3E}">
        <p14:creationId xmlns:p14="http://schemas.microsoft.com/office/powerpoint/2010/main" val="45591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491E5-B515-5F1D-113E-FBC9D85C3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AE30C-0D9C-8F92-70EC-A81CD279612C}"/>
              </a:ext>
            </a:extLst>
          </p:cNvPr>
          <p:cNvSpPr>
            <a:spLocks noGrp="1"/>
          </p:cNvSpPr>
          <p:nvPr>
            <p:ph type="title"/>
          </p:nvPr>
        </p:nvSpPr>
        <p:spPr>
          <a:xfrm>
            <a:off x="287176" y="389467"/>
            <a:ext cx="15040454" cy="1426927"/>
          </a:xfrm>
        </p:spPr>
        <p:txBody>
          <a:bodyPr/>
          <a:lstStyle/>
          <a:p>
            <a:r>
              <a:rPr lang="en-US" dirty="0">
                <a:latin typeface="Gill Sans MT"/>
              </a:rPr>
              <a:t>EXAMPLE</a:t>
            </a:r>
          </a:p>
        </p:txBody>
      </p:sp>
      <p:sp>
        <p:nvSpPr>
          <p:cNvPr id="3" name="Content Placeholder 2">
            <a:extLst>
              <a:ext uri="{FF2B5EF4-FFF2-40B4-BE49-F238E27FC236}">
                <a16:creationId xmlns:a16="http://schemas.microsoft.com/office/drawing/2014/main" id="{A2EA3504-E10D-64D2-0417-3DC90806A0F7}"/>
              </a:ext>
            </a:extLst>
          </p:cNvPr>
          <p:cNvSpPr>
            <a:spLocks noGrp="1"/>
          </p:cNvSpPr>
          <p:nvPr>
            <p:ph idx="1"/>
          </p:nvPr>
        </p:nvSpPr>
        <p:spPr>
          <a:xfrm>
            <a:off x="280450" y="2363117"/>
            <a:ext cx="15839611" cy="4710736"/>
          </a:xfrm>
        </p:spPr>
        <p:txBody>
          <a:bodyPr vert="horz" lIns="91440" tIns="45720" rIns="91440" bIns="45720" rtlCol="0" anchor="t">
            <a:normAutofit/>
          </a:bodyPr>
          <a:lstStyle/>
          <a:p>
            <a:pPr algn="just"/>
            <a:r>
              <a:rPr lang="en-US" sz="3600" dirty="0">
                <a:latin typeface="Gill Sans MT"/>
                <a:ea typeface="+mn-lt"/>
                <a:cs typeface="+mn-lt"/>
              </a:rPr>
              <a:t>To illustrate the constraint of limited available power, consider a laptop computer with a CD-ROM and a display. The constant power dissipation in a CD-ROM (for disk spinning) is approximately 1.0 W and the power dissipation for the display is approximately 2.5 W. Assume a cell used as power </a:t>
            </a:r>
            <a:r>
              <a:rPr lang="en-US" sz="3600" dirty="0">
                <a:solidFill>
                  <a:srgbClr val="000000"/>
                </a:solidFill>
                <a:latin typeface="Gill Sans MT"/>
                <a:ea typeface="+mn-lt"/>
                <a:cs typeface="+mn-lt"/>
              </a:rPr>
              <a:t>source is rated to </a:t>
            </a:r>
            <a:r>
              <a:rPr lang="en-US" sz="3600" dirty="0">
                <a:latin typeface="Gill Sans MT"/>
                <a:ea typeface="+mn-lt"/>
                <a:cs typeface="+mn-lt"/>
              </a:rPr>
              <a:t>give</a:t>
            </a:r>
            <a:r>
              <a:rPr lang="en-US" sz="3600" dirty="0">
                <a:solidFill>
                  <a:srgbClr val="000000"/>
                </a:solidFill>
                <a:latin typeface="Gill Sans MT"/>
                <a:ea typeface="+mn-lt"/>
                <a:cs typeface="+mn-lt"/>
              </a:rPr>
              <a:t> 800 mA-</a:t>
            </a:r>
            <a:r>
              <a:rPr lang="en-US" sz="3600" dirty="0" err="1">
                <a:solidFill>
                  <a:srgbClr val="000000"/>
                </a:solidFill>
                <a:latin typeface="Gill Sans MT"/>
                <a:ea typeface="+mn-lt"/>
                <a:cs typeface="+mn-lt"/>
              </a:rPr>
              <a:t>Hr</a:t>
            </a:r>
            <a:r>
              <a:rPr lang="en-US" sz="3600" dirty="0">
                <a:solidFill>
                  <a:srgbClr val="000000"/>
                </a:solidFill>
                <a:latin typeface="Gill Sans MT"/>
                <a:ea typeface="+mn-lt"/>
                <a:cs typeface="+mn-lt"/>
              </a:rPr>
              <a:t> at </a:t>
            </a:r>
            <a:r>
              <a:rPr lang="en-US" sz="3600" dirty="0">
                <a:latin typeface="Gill Sans MT"/>
                <a:ea typeface="+mn-lt"/>
                <a:cs typeface="+mn-lt"/>
              </a:rPr>
              <a:t>1.2 V (0.96 W-</a:t>
            </a:r>
            <a:r>
              <a:rPr lang="en-US" sz="3600" dirty="0" err="1">
                <a:latin typeface="Gill Sans MT"/>
                <a:ea typeface="+mn-lt"/>
                <a:cs typeface="+mn-lt"/>
              </a:rPr>
              <a:t>Hr</a:t>
            </a:r>
            <a:r>
              <a:rPr lang="en-US" sz="3600" dirty="0">
                <a:latin typeface="Gill Sans MT"/>
                <a:ea typeface="+mn-lt"/>
                <a:cs typeface="+mn-lt"/>
              </a:rPr>
              <a:t>). How long does the assumed </a:t>
            </a:r>
            <a:r>
              <a:rPr lang="en-US" sz="3600" dirty="0">
                <a:solidFill>
                  <a:srgbClr val="000000"/>
                </a:solidFill>
                <a:latin typeface="Gill Sans MT"/>
                <a:ea typeface="+mn-lt"/>
                <a:cs typeface="+mn-lt"/>
              </a:rPr>
              <a:t>power source last?</a:t>
            </a:r>
            <a:endParaRPr lang="en-US" sz="3600" dirty="0">
              <a:latin typeface="Gill Sans MT"/>
              <a:ea typeface="+mn-lt"/>
              <a:cs typeface="+mn-lt"/>
            </a:endParaRPr>
          </a:p>
          <a:p>
            <a:pPr algn="just"/>
            <a:r>
              <a:rPr lang="en-US" sz="3600" dirty="0">
                <a:solidFill>
                  <a:srgbClr val="FF0000"/>
                </a:solidFill>
                <a:latin typeface="Gill Sans MT"/>
                <a:ea typeface="+mn-lt"/>
                <a:cs typeface="+mn-lt"/>
              </a:rPr>
              <a:t>What do you think can be done to increase the longevity of the cell chosen?</a:t>
            </a:r>
            <a:endParaRPr lang="en-US" sz="3600" dirty="0"/>
          </a:p>
          <a:p>
            <a:pPr algn="just"/>
            <a:endParaRPr lang="en-US" sz="3600" dirty="0">
              <a:latin typeface="Gill Sans MT"/>
            </a:endParaRPr>
          </a:p>
          <a:p>
            <a:pPr marL="571500" indent="-571500" algn="just"/>
            <a:endParaRPr lang="en-US" sz="3600" dirty="0">
              <a:latin typeface="Gill Sans MT"/>
            </a:endParaRPr>
          </a:p>
        </p:txBody>
      </p:sp>
    </p:spTree>
    <p:extLst>
      <p:ext uri="{BB962C8B-B14F-4D97-AF65-F5344CB8AC3E}">
        <p14:creationId xmlns:p14="http://schemas.microsoft.com/office/powerpoint/2010/main" val="3348219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8BB5A-EAB2-CCAB-B227-4DBBE5AAC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70CFE-3BA6-75C5-6A27-5762A8556D13}"/>
              </a:ext>
            </a:extLst>
          </p:cNvPr>
          <p:cNvSpPr>
            <a:spLocks noGrp="1"/>
          </p:cNvSpPr>
          <p:nvPr>
            <p:ph type="title"/>
          </p:nvPr>
        </p:nvSpPr>
        <p:spPr>
          <a:xfrm>
            <a:off x="287176" y="389467"/>
            <a:ext cx="15040454" cy="1426927"/>
          </a:xfrm>
        </p:spPr>
        <p:txBody>
          <a:bodyPr>
            <a:normAutofit/>
          </a:bodyPr>
          <a:lstStyle/>
          <a:p>
            <a:r>
              <a:rPr lang="en-US" cap="all" dirty="0">
                <a:latin typeface="Gill Sans MT"/>
              </a:rPr>
              <a:t>General Battery key design constraints</a:t>
            </a:r>
            <a:endParaRPr lang="en-US" dirty="0"/>
          </a:p>
        </p:txBody>
      </p:sp>
      <p:sp>
        <p:nvSpPr>
          <p:cNvPr id="3" name="Content Placeholder 2">
            <a:extLst>
              <a:ext uri="{FF2B5EF4-FFF2-40B4-BE49-F238E27FC236}">
                <a16:creationId xmlns:a16="http://schemas.microsoft.com/office/drawing/2014/main" id="{DDB2B692-DCE2-07B7-7AE3-E82DB0A3D95E}"/>
              </a:ext>
            </a:extLst>
          </p:cNvPr>
          <p:cNvSpPr>
            <a:spLocks noGrp="1"/>
          </p:cNvSpPr>
          <p:nvPr>
            <p:ph idx="1"/>
          </p:nvPr>
        </p:nvSpPr>
        <p:spPr>
          <a:xfrm>
            <a:off x="280450" y="2363117"/>
            <a:ext cx="15839611" cy="4710736"/>
          </a:xfrm>
        </p:spPr>
        <p:txBody>
          <a:bodyPr vert="horz" lIns="91440" tIns="45720" rIns="91440" bIns="45720" rtlCol="0" anchor="t">
            <a:normAutofit/>
          </a:bodyPr>
          <a:lstStyle/>
          <a:p>
            <a:pPr marL="742950" indent="-742950" algn="just">
              <a:buAutoNum type="arabicPeriod"/>
            </a:pPr>
            <a:r>
              <a:rPr lang="en-US" sz="3600" dirty="0">
                <a:solidFill>
                  <a:srgbClr val="FF0000"/>
                </a:solidFill>
                <a:latin typeface="Gill Sans MT"/>
                <a:ea typeface="+mn-lt"/>
                <a:cs typeface="+mn-lt"/>
              </a:rPr>
              <a:t>Energy density</a:t>
            </a:r>
            <a:endParaRPr lang="en-US" sz="3600">
              <a:solidFill>
                <a:srgbClr val="000000"/>
              </a:solidFill>
              <a:latin typeface="Gill Sans MT"/>
              <a:ea typeface="+mn-lt"/>
              <a:cs typeface="+mn-lt"/>
            </a:endParaRPr>
          </a:p>
          <a:p>
            <a:pPr marL="742950" indent="-742950" algn="just">
              <a:buAutoNum type="arabicPeriod"/>
            </a:pPr>
            <a:r>
              <a:rPr lang="en-US" sz="3600" dirty="0">
                <a:solidFill>
                  <a:srgbClr val="FF0000"/>
                </a:solidFill>
                <a:latin typeface="Gill Sans MT"/>
                <a:ea typeface="+mn-lt"/>
                <a:cs typeface="+mn-lt"/>
              </a:rPr>
              <a:t>Safety</a:t>
            </a:r>
            <a:endParaRPr lang="en-US" sz="3600">
              <a:latin typeface="Gill Sans MT"/>
            </a:endParaRPr>
          </a:p>
          <a:p>
            <a:pPr marL="742950" indent="-742950" algn="just">
              <a:buAutoNum type="arabicPeriod"/>
            </a:pPr>
            <a:r>
              <a:rPr lang="en-US" sz="3600" dirty="0">
                <a:solidFill>
                  <a:srgbClr val="FF0000"/>
                </a:solidFill>
                <a:latin typeface="Gill Sans MT"/>
                <a:ea typeface="+mn-lt"/>
                <a:cs typeface="+mn-lt"/>
              </a:rPr>
              <a:t>Cycle life</a:t>
            </a:r>
            <a:endParaRPr lang="en-US" sz="3600">
              <a:latin typeface="Gill Sans MT"/>
            </a:endParaRPr>
          </a:p>
          <a:p>
            <a:pPr marL="742950" indent="-742950" algn="just">
              <a:buAutoNum type="arabicPeriod"/>
            </a:pPr>
            <a:r>
              <a:rPr lang="en-US" sz="3600" dirty="0">
                <a:solidFill>
                  <a:srgbClr val="FF0000"/>
                </a:solidFill>
                <a:latin typeface="Gill Sans MT"/>
                <a:ea typeface="+mn-lt"/>
                <a:cs typeface="+mn-lt"/>
              </a:rPr>
              <a:t>Temperature sensitivity</a:t>
            </a:r>
            <a:endParaRPr lang="en-US" sz="3600">
              <a:latin typeface="Gill Sans MT"/>
            </a:endParaRPr>
          </a:p>
          <a:p>
            <a:pPr marL="742950" indent="-742950" algn="just">
              <a:buAutoNum type="arabicPeriod"/>
            </a:pPr>
            <a:r>
              <a:rPr lang="en-US" sz="3600" dirty="0">
                <a:solidFill>
                  <a:srgbClr val="FF0000"/>
                </a:solidFill>
                <a:latin typeface="Gill Sans MT"/>
                <a:ea typeface="+mn-lt"/>
                <a:cs typeface="+mn-lt"/>
              </a:rPr>
              <a:t>Fast charging</a:t>
            </a:r>
            <a:endParaRPr lang="en-US" sz="3600">
              <a:latin typeface="Gill Sans MT"/>
            </a:endParaRPr>
          </a:p>
          <a:p>
            <a:pPr marL="742950" indent="-742950" algn="just">
              <a:buAutoNum type="arabicPeriod"/>
            </a:pPr>
            <a:r>
              <a:rPr lang="en-US" sz="3600" dirty="0">
                <a:solidFill>
                  <a:srgbClr val="FF0000"/>
                </a:solidFill>
                <a:latin typeface="Gill Sans MT"/>
                <a:ea typeface="+mn-lt"/>
                <a:cs typeface="+mn-lt"/>
              </a:rPr>
              <a:t>Environmental impact</a:t>
            </a:r>
            <a:endParaRPr lang="en-US" sz="3600" dirty="0"/>
          </a:p>
          <a:p>
            <a:pPr algn="just">
              <a:buAutoNum type="arabicPeriod"/>
            </a:pPr>
            <a:endParaRPr lang="en-US" sz="3600" dirty="0">
              <a:latin typeface="Gill Sans MT"/>
            </a:endParaRPr>
          </a:p>
          <a:p>
            <a:pPr algn="just">
              <a:buAutoNum type="arabicPeriod"/>
            </a:pPr>
            <a:endParaRPr lang="en-US" sz="3600" dirty="0">
              <a:latin typeface="Gill Sans MT"/>
            </a:endParaRPr>
          </a:p>
          <a:p>
            <a:pPr marL="571500" indent="-571500" algn="just">
              <a:buAutoNum type="arabicPeriod"/>
            </a:pPr>
            <a:endParaRPr lang="en-US" sz="3600" dirty="0">
              <a:latin typeface="Gill Sans MT"/>
            </a:endParaRPr>
          </a:p>
        </p:txBody>
      </p:sp>
    </p:spTree>
    <p:extLst>
      <p:ext uri="{BB962C8B-B14F-4D97-AF65-F5344CB8AC3E}">
        <p14:creationId xmlns:p14="http://schemas.microsoft.com/office/powerpoint/2010/main" val="1027102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C2707-4424-2E49-ACCC-23267B31D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0AE094-DD6B-FFDE-DA8C-12E5FCD49DC3}"/>
              </a:ext>
            </a:extLst>
          </p:cNvPr>
          <p:cNvSpPr>
            <a:spLocks noGrp="1"/>
          </p:cNvSpPr>
          <p:nvPr>
            <p:ph type="title"/>
          </p:nvPr>
        </p:nvSpPr>
        <p:spPr>
          <a:xfrm>
            <a:off x="274188" y="194607"/>
            <a:ext cx="15040454" cy="1154069"/>
          </a:xfrm>
        </p:spPr>
        <p:txBody>
          <a:bodyPr>
            <a:normAutofit/>
          </a:bodyPr>
          <a:lstStyle/>
          <a:p>
            <a:r>
              <a:rPr lang="en-US" cap="all" dirty="0">
                <a:latin typeface="Gill Sans MT"/>
              </a:rPr>
              <a:t>screen</a:t>
            </a:r>
            <a:endParaRPr lang="en-US" dirty="0" err="1"/>
          </a:p>
        </p:txBody>
      </p:sp>
      <p:sp>
        <p:nvSpPr>
          <p:cNvPr id="3" name="Content Placeholder 2">
            <a:extLst>
              <a:ext uri="{FF2B5EF4-FFF2-40B4-BE49-F238E27FC236}">
                <a16:creationId xmlns:a16="http://schemas.microsoft.com/office/drawing/2014/main" id="{1CCB3563-CC91-D604-E923-DFC37BFBED8E}"/>
              </a:ext>
            </a:extLst>
          </p:cNvPr>
          <p:cNvSpPr>
            <a:spLocks noGrp="1"/>
          </p:cNvSpPr>
          <p:nvPr>
            <p:ph idx="1"/>
          </p:nvPr>
        </p:nvSpPr>
        <p:spPr>
          <a:xfrm>
            <a:off x="280450" y="1609657"/>
            <a:ext cx="15839611" cy="5672236"/>
          </a:xfrm>
        </p:spPr>
        <p:txBody>
          <a:bodyPr vert="horz" lIns="91440" tIns="45720" rIns="91440" bIns="45720" rtlCol="0" anchor="t">
            <a:noAutofit/>
          </a:bodyPr>
          <a:lstStyle/>
          <a:p>
            <a:pPr algn="just"/>
            <a:r>
              <a:rPr lang="en-US" sz="3600" b="1" dirty="0">
                <a:solidFill>
                  <a:srgbClr val="000000"/>
                </a:solidFill>
                <a:latin typeface="Gill Sans MT"/>
                <a:ea typeface="+mn-lt"/>
                <a:cs typeface="+mn-lt"/>
              </a:rPr>
              <a:t>Touch screen </a:t>
            </a:r>
            <a:r>
              <a:rPr lang="en-US" sz="3600" dirty="0">
                <a:solidFill>
                  <a:srgbClr val="000000"/>
                </a:solidFill>
                <a:latin typeface="Gill Sans MT"/>
                <a:ea typeface="+mn-lt"/>
                <a:cs typeface="+mn-lt"/>
              </a:rPr>
              <a:t>— is an input device that allow users to give a desire command by simply touching the display screen.  A touch screen kit includes the following components:- </a:t>
            </a:r>
            <a:endParaRPr lang="en-US" sz="3600">
              <a:solidFill>
                <a:srgbClr val="000000"/>
              </a:solidFill>
              <a:latin typeface="Gill Sans MT"/>
              <a:ea typeface="+mn-lt"/>
              <a:cs typeface="+mn-lt"/>
            </a:endParaRPr>
          </a:p>
          <a:p>
            <a:pPr lvl="1" algn="just">
              <a:buFont typeface="Courier New" panose="020B0604020202020204" pitchFamily="34" charset="0"/>
              <a:buChar char="o"/>
            </a:pPr>
            <a:r>
              <a:rPr lang="en-US" sz="3600" b="1" dirty="0">
                <a:solidFill>
                  <a:srgbClr val="000000"/>
                </a:solidFill>
                <a:latin typeface="Gill Sans MT"/>
                <a:ea typeface="+mn-lt"/>
                <a:cs typeface="+mn-lt"/>
              </a:rPr>
              <a:t>Touch sensor</a:t>
            </a:r>
            <a:r>
              <a:rPr lang="en-US" sz="3600" dirty="0">
                <a:solidFill>
                  <a:srgbClr val="000000"/>
                </a:solidFill>
                <a:latin typeface="Gill Sans MT"/>
                <a:ea typeface="+mn-lt"/>
                <a:cs typeface="+mn-lt"/>
              </a:rPr>
              <a:t>: Clear glass panel with responsive surface</a:t>
            </a:r>
            <a:endParaRPr lang="en-US" sz="3600">
              <a:latin typeface="Gill Sans MT"/>
            </a:endParaRPr>
          </a:p>
          <a:p>
            <a:pPr lvl="1" algn="just">
              <a:buFont typeface="Courier New" panose="020B0604020202020204" pitchFamily="34" charset="0"/>
              <a:buChar char="o"/>
            </a:pPr>
            <a:r>
              <a:rPr lang="en-US" sz="3600" b="1" dirty="0">
                <a:solidFill>
                  <a:srgbClr val="000000"/>
                </a:solidFill>
                <a:latin typeface="Gill Sans MT"/>
                <a:ea typeface="+mn-lt"/>
                <a:cs typeface="+mn-lt"/>
              </a:rPr>
              <a:t>Controller</a:t>
            </a:r>
            <a:r>
              <a:rPr lang="en-US" sz="3600" dirty="0">
                <a:solidFill>
                  <a:srgbClr val="000000"/>
                </a:solidFill>
                <a:latin typeface="Gill Sans MT"/>
                <a:ea typeface="+mn-lt"/>
                <a:cs typeface="+mn-lt"/>
              </a:rPr>
              <a:t>: Card that connects the touch sensor and the device.</a:t>
            </a:r>
            <a:endParaRPr lang="en-US" sz="3600">
              <a:latin typeface="Gill Sans MT"/>
            </a:endParaRPr>
          </a:p>
          <a:p>
            <a:pPr lvl="1" algn="just">
              <a:buFont typeface="Courier New" panose="020B0604020202020204" pitchFamily="34" charset="0"/>
              <a:buChar char="o"/>
            </a:pPr>
            <a:r>
              <a:rPr lang="en-US" sz="3600" b="1" dirty="0">
                <a:solidFill>
                  <a:srgbClr val="000000"/>
                </a:solidFill>
                <a:latin typeface="Gill Sans MT"/>
                <a:ea typeface="+mn-lt"/>
                <a:cs typeface="+mn-lt"/>
              </a:rPr>
              <a:t>Driver</a:t>
            </a:r>
            <a:r>
              <a:rPr lang="en-US" sz="3600" dirty="0">
                <a:solidFill>
                  <a:srgbClr val="000000"/>
                </a:solidFill>
                <a:latin typeface="Gill Sans MT"/>
                <a:ea typeface="+mn-lt"/>
                <a:cs typeface="+mn-lt"/>
              </a:rPr>
              <a:t> </a:t>
            </a:r>
            <a:endParaRPr lang="en-US" sz="3600">
              <a:latin typeface="Gill Sans MT"/>
            </a:endParaRPr>
          </a:p>
          <a:p>
            <a:pPr algn="just"/>
            <a:r>
              <a:rPr lang="en-US" sz="3600" dirty="0">
                <a:solidFill>
                  <a:srgbClr val="000000"/>
                </a:solidFill>
                <a:latin typeface="Gill Sans MT"/>
                <a:ea typeface="+mn-lt"/>
                <a:cs typeface="+mn-lt"/>
              </a:rPr>
              <a:t>There are two primary themes to consider when it comes to smartphone touchscreens:-</a:t>
            </a:r>
            <a:endParaRPr lang="en-US" sz="3600">
              <a:latin typeface="Gill Sans MT"/>
            </a:endParaRPr>
          </a:p>
          <a:p>
            <a:pPr lvl="1" algn="just">
              <a:buFont typeface="Courier New" panose="020B0604020202020204" pitchFamily="34" charset="0"/>
              <a:buChar char="o"/>
            </a:pPr>
            <a:r>
              <a:rPr lang="en-US" sz="3600" dirty="0">
                <a:solidFill>
                  <a:srgbClr val="000000"/>
                </a:solidFill>
                <a:latin typeface="Gill Sans MT"/>
                <a:ea typeface="+mn-lt"/>
                <a:cs typeface="+mn-lt"/>
              </a:rPr>
              <a:t> Sensitivity </a:t>
            </a:r>
            <a:endParaRPr lang="en-US" sz="3600">
              <a:latin typeface="Gill Sans MT"/>
            </a:endParaRPr>
          </a:p>
          <a:p>
            <a:pPr lvl="1" algn="just">
              <a:buFont typeface="Courier New" panose="020B0604020202020204" pitchFamily="34" charset="0"/>
              <a:buChar char="o"/>
            </a:pPr>
            <a:r>
              <a:rPr lang="en-US" sz="3600" dirty="0">
                <a:solidFill>
                  <a:srgbClr val="000000"/>
                </a:solidFill>
                <a:latin typeface="Gill Sans MT"/>
                <a:ea typeface="+mn-lt"/>
                <a:cs typeface="+mn-lt"/>
              </a:rPr>
              <a:t> Resolution quality</a:t>
            </a:r>
            <a:endParaRPr lang="en-US" sz="3600"/>
          </a:p>
          <a:p>
            <a:pPr marL="742950" indent="-742950" algn="just">
              <a:buAutoNum type="arabicPeriod"/>
            </a:pPr>
            <a:endParaRPr lang="en-US" sz="3600" dirty="0">
              <a:solidFill>
                <a:srgbClr val="FF0000"/>
              </a:solidFill>
              <a:latin typeface="Gill Sans MT"/>
            </a:endParaRPr>
          </a:p>
          <a:p>
            <a:pPr algn="just">
              <a:buAutoNum type="arabicPeriod"/>
            </a:pPr>
            <a:endParaRPr lang="en-US" sz="3600" dirty="0">
              <a:latin typeface="Gill Sans MT"/>
            </a:endParaRPr>
          </a:p>
          <a:p>
            <a:pPr algn="just">
              <a:buAutoNum type="arabicPeriod"/>
            </a:pPr>
            <a:endParaRPr lang="en-US" sz="3600" dirty="0">
              <a:latin typeface="Gill Sans MT"/>
            </a:endParaRPr>
          </a:p>
          <a:p>
            <a:pPr marL="571500" indent="-571500" algn="just">
              <a:buAutoNum type="arabicPeriod"/>
            </a:pPr>
            <a:endParaRPr lang="en-US" sz="3600" dirty="0">
              <a:latin typeface="Gill Sans MT"/>
            </a:endParaRPr>
          </a:p>
        </p:txBody>
      </p:sp>
    </p:spTree>
    <p:extLst>
      <p:ext uri="{BB962C8B-B14F-4D97-AF65-F5344CB8AC3E}">
        <p14:creationId xmlns:p14="http://schemas.microsoft.com/office/powerpoint/2010/main" val="2296930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0C918-DA77-99D2-AE27-8F7168FF6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AF9AD-86E9-5677-D89D-FDA1D3218365}"/>
              </a:ext>
            </a:extLst>
          </p:cNvPr>
          <p:cNvSpPr>
            <a:spLocks noGrp="1"/>
          </p:cNvSpPr>
          <p:nvPr>
            <p:ph type="title"/>
          </p:nvPr>
        </p:nvSpPr>
        <p:spPr>
          <a:xfrm>
            <a:off x="274188" y="194607"/>
            <a:ext cx="15040454" cy="1595839"/>
          </a:xfrm>
        </p:spPr>
        <p:txBody>
          <a:bodyPr>
            <a:normAutofit/>
          </a:bodyPr>
          <a:lstStyle/>
          <a:p>
            <a:r>
              <a:rPr lang="en-US" cap="all" dirty="0">
                <a:latin typeface="Gill Sans MT"/>
              </a:rPr>
              <a:t>TYPES OF Touchscreen</a:t>
            </a:r>
            <a:endParaRPr lang="en-US" dirty="0" err="1"/>
          </a:p>
        </p:txBody>
      </p:sp>
      <p:sp>
        <p:nvSpPr>
          <p:cNvPr id="3" name="Content Placeholder 2">
            <a:extLst>
              <a:ext uri="{FF2B5EF4-FFF2-40B4-BE49-F238E27FC236}">
                <a16:creationId xmlns:a16="http://schemas.microsoft.com/office/drawing/2014/main" id="{EBB966AB-CD62-699F-E4B3-6B3620985D07}"/>
              </a:ext>
            </a:extLst>
          </p:cNvPr>
          <p:cNvSpPr>
            <a:spLocks noGrp="1"/>
          </p:cNvSpPr>
          <p:nvPr>
            <p:ph idx="1"/>
          </p:nvPr>
        </p:nvSpPr>
        <p:spPr>
          <a:xfrm>
            <a:off x="280450" y="2129387"/>
            <a:ext cx="15839611" cy="4723729"/>
          </a:xfrm>
        </p:spPr>
        <p:txBody>
          <a:bodyPr vert="horz" lIns="91440" tIns="45720" rIns="91440" bIns="45720" rtlCol="0" anchor="t">
            <a:noAutofit/>
          </a:bodyPr>
          <a:lstStyle/>
          <a:p>
            <a:pPr algn="just"/>
            <a:r>
              <a:rPr lang="en-US" sz="3600" dirty="0">
                <a:solidFill>
                  <a:srgbClr val="000000"/>
                </a:solidFill>
                <a:latin typeface="Gill Sans MT"/>
                <a:ea typeface="+mn-lt"/>
                <a:cs typeface="+mn-lt"/>
              </a:rPr>
              <a:t>There are couple of different touchscreen nowadays that includes:-</a:t>
            </a:r>
          </a:p>
          <a:p>
            <a:pPr lvl="1" algn="just">
              <a:buFont typeface="Courier New" panose="020B0604020202020204" pitchFamily="34" charset="0"/>
              <a:buChar char="o"/>
            </a:pPr>
            <a:r>
              <a:rPr lang="en-US" sz="3600" dirty="0">
                <a:solidFill>
                  <a:srgbClr val="000000"/>
                </a:solidFill>
                <a:latin typeface="Gill Sans MT"/>
                <a:ea typeface="+mn-lt"/>
                <a:cs typeface="+mn-lt"/>
              </a:rPr>
              <a:t>Resistive screen</a:t>
            </a:r>
            <a:endParaRPr lang="en-US" sz="3600">
              <a:latin typeface="Gill Sans MT"/>
              <a:ea typeface="+mn-lt"/>
              <a:cs typeface="+mn-lt"/>
            </a:endParaRPr>
          </a:p>
          <a:p>
            <a:pPr lvl="1" algn="just">
              <a:buFont typeface="Courier New" panose="020B0604020202020204" pitchFamily="34" charset="0"/>
              <a:buChar char="o"/>
            </a:pPr>
            <a:r>
              <a:rPr lang="en-US" sz="3600" dirty="0">
                <a:solidFill>
                  <a:srgbClr val="000000"/>
                </a:solidFill>
                <a:latin typeface="Gill Sans MT"/>
                <a:ea typeface="+mn-lt"/>
                <a:cs typeface="+mn-lt"/>
              </a:rPr>
              <a:t>Capacitive touch screen</a:t>
            </a:r>
            <a:endParaRPr lang="en-US" sz="3600">
              <a:latin typeface="Gill Sans MT"/>
              <a:ea typeface="+mn-lt"/>
              <a:cs typeface="+mn-lt"/>
            </a:endParaRPr>
          </a:p>
          <a:p>
            <a:pPr lvl="1" algn="just">
              <a:buFont typeface="Courier New" panose="020B0604020202020204" pitchFamily="34" charset="0"/>
              <a:buChar char="o"/>
            </a:pPr>
            <a:r>
              <a:rPr lang="en-US" sz="3600" dirty="0">
                <a:solidFill>
                  <a:srgbClr val="000000"/>
                </a:solidFill>
                <a:latin typeface="Gill Sans MT"/>
                <a:ea typeface="+mn-lt"/>
                <a:cs typeface="+mn-lt"/>
              </a:rPr>
              <a:t>Haptic screen</a:t>
            </a:r>
            <a:endParaRPr lang="en-US" sz="3600">
              <a:latin typeface="Gill Sans MT"/>
              <a:ea typeface="+mn-lt"/>
              <a:cs typeface="+mn-lt"/>
            </a:endParaRPr>
          </a:p>
          <a:p>
            <a:pPr lvl="1" algn="just">
              <a:buFont typeface="Courier New" panose="020B0604020202020204" pitchFamily="34" charset="0"/>
              <a:buChar char="o"/>
            </a:pPr>
            <a:r>
              <a:rPr lang="en-US" sz="3600" dirty="0">
                <a:solidFill>
                  <a:srgbClr val="000000"/>
                </a:solidFill>
                <a:latin typeface="Gill Sans MT"/>
                <a:ea typeface="+mn-lt"/>
                <a:cs typeface="+mn-lt"/>
              </a:rPr>
              <a:t>AMOLED (Active Matrix Organic Light Emitting Diode) screen</a:t>
            </a:r>
            <a:endParaRPr lang="en-US" sz="3600" dirty="0">
              <a:latin typeface="Gill Sans MT"/>
            </a:endParaRPr>
          </a:p>
          <a:p>
            <a:pPr algn="just">
              <a:buAutoNum type="arabicPeriod"/>
            </a:pPr>
            <a:endParaRPr lang="en-US" sz="3600" dirty="0">
              <a:latin typeface="Gill Sans MT"/>
            </a:endParaRPr>
          </a:p>
          <a:p>
            <a:pPr algn="just">
              <a:buAutoNum type="arabicPeriod"/>
            </a:pPr>
            <a:endParaRPr lang="en-US" sz="3600" dirty="0">
              <a:solidFill>
                <a:srgbClr val="000000"/>
              </a:solidFill>
              <a:latin typeface="Gill Sans MT"/>
            </a:endParaRPr>
          </a:p>
          <a:p>
            <a:pPr marL="571500" indent="-571500" algn="just">
              <a:buAutoNum type="arabicPeriod"/>
            </a:pPr>
            <a:endParaRPr lang="en-US" sz="3600" dirty="0">
              <a:latin typeface="Gill Sans MT"/>
            </a:endParaRPr>
          </a:p>
        </p:txBody>
      </p:sp>
    </p:spTree>
    <p:extLst>
      <p:ext uri="{BB962C8B-B14F-4D97-AF65-F5344CB8AC3E}">
        <p14:creationId xmlns:p14="http://schemas.microsoft.com/office/powerpoint/2010/main" val="1510151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DEA8D-6D7F-D031-B81E-BDD6EA0A26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B114BC-15EE-F12B-F7DC-3FDAC67EE676}"/>
              </a:ext>
            </a:extLst>
          </p:cNvPr>
          <p:cNvSpPr>
            <a:spLocks noGrp="1"/>
          </p:cNvSpPr>
          <p:nvPr>
            <p:ph idx="4294967295"/>
          </p:nvPr>
        </p:nvSpPr>
        <p:spPr>
          <a:xfrm>
            <a:off x="480655" y="2128838"/>
            <a:ext cx="15357833" cy="4724400"/>
          </a:xfrm>
        </p:spPr>
        <p:txBody>
          <a:bodyPr vert="horz" lIns="91440" tIns="45720" rIns="91440" bIns="45720" rtlCol="0" anchor="ctr">
            <a:noAutofit/>
          </a:bodyPr>
          <a:lstStyle/>
          <a:p>
            <a:pPr marL="0" indent="0" algn="ctr">
              <a:buNone/>
            </a:pPr>
            <a:r>
              <a:rPr lang="en-US" sz="4400" b="1" dirty="0">
                <a:solidFill>
                  <a:srgbClr val="FF0000"/>
                </a:solidFill>
                <a:latin typeface="Gill Sans MT"/>
                <a:ea typeface="+mn-lt"/>
                <a:cs typeface="+mn-lt"/>
              </a:rPr>
              <a:t>Form a group and choose one mobile computing hardware component to explain its functionality, types and design constraints</a:t>
            </a:r>
            <a:endParaRPr lang="en-US" sz="4400" dirty="0"/>
          </a:p>
        </p:txBody>
      </p:sp>
    </p:spTree>
    <p:extLst>
      <p:ext uri="{BB962C8B-B14F-4D97-AF65-F5344CB8AC3E}">
        <p14:creationId xmlns:p14="http://schemas.microsoft.com/office/powerpoint/2010/main" val="1772504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60E2A-98DE-6AD5-EE6E-66DE731DA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C31C9-7F4D-8060-26AA-8AE71B144C9C}"/>
              </a:ext>
            </a:extLst>
          </p:cNvPr>
          <p:cNvSpPr>
            <a:spLocks noGrp="1"/>
          </p:cNvSpPr>
          <p:nvPr>
            <p:ph type="title"/>
          </p:nvPr>
        </p:nvSpPr>
        <p:spPr>
          <a:xfrm>
            <a:off x="274188" y="194607"/>
            <a:ext cx="15040454" cy="1595839"/>
          </a:xfrm>
        </p:spPr>
        <p:txBody>
          <a:bodyPr>
            <a:normAutofit/>
          </a:bodyPr>
          <a:lstStyle/>
          <a:p>
            <a:r>
              <a:rPr lang="en-US" cap="all" dirty="0">
                <a:latin typeface="Gill Sans MT"/>
              </a:rPr>
              <a:t>CONNECTIVITY IN MOBILE DEVICES</a:t>
            </a:r>
          </a:p>
        </p:txBody>
      </p:sp>
      <p:sp>
        <p:nvSpPr>
          <p:cNvPr id="3" name="Content Placeholder 2">
            <a:extLst>
              <a:ext uri="{FF2B5EF4-FFF2-40B4-BE49-F238E27FC236}">
                <a16:creationId xmlns:a16="http://schemas.microsoft.com/office/drawing/2014/main" id="{9BE53DE4-016E-012F-E840-B9DFE4654C54}"/>
              </a:ext>
            </a:extLst>
          </p:cNvPr>
          <p:cNvSpPr>
            <a:spLocks noGrp="1"/>
          </p:cNvSpPr>
          <p:nvPr>
            <p:ph idx="1"/>
          </p:nvPr>
        </p:nvSpPr>
        <p:spPr>
          <a:xfrm>
            <a:off x="280450" y="2129387"/>
            <a:ext cx="15839611" cy="4723729"/>
          </a:xfrm>
        </p:spPr>
        <p:txBody>
          <a:bodyPr vert="horz" lIns="91440" tIns="45720" rIns="91440" bIns="45720" rtlCol="0" anchor="t">
            <a:noAutofit/>
          </a:bodyPr>
          <a:lstStyle/>
          <a:p>
            <a:pPr algn="just"/>
            <a:r>
              <a:rPr lang="en-US" sz="3600" dirty="0">
                <a:solidFill>
                  <a:srgbClr val="000000"/>
                </a:solidFill>
                <a:latin typeface="Gill Sans MT"/>
                <a:ea typeface="+mn-lt"/>
                <a:cs typeface="+mn-lt"/>
              </a:rPr>
              <a:t>There are so many ways of adapting connectivity in mobile devices such as:</a:t>
            </a:r>
            <a:endParaRPr lang="en-US" sz="3600">
              <a:latin typeface="Gill Sans MT"/>
            </a:endParaRPr>
          </a:p>
          <a:p>
            <a:pPr marL="971550" lvl="1" indent="-514350" algn="just">
              <a:buFont typeface="Courier New" panose="020B0604020202020204" pitchFamily="34" charset="0"/>
              <a:buChar char="o"/>
            </a:pPr>
            <a:r>
              <a:rPr lang="en-US" sz="3600" b="1" dirty="0">
                <a:solidFill>
                  <a:srgbClr val="000000"/>
                </a:solidFill>
                <a:latin typeface="Gill Sans MT"/>
                <a:ea typeface="+mn-lt"/>
                <a:cs typeface="+mn-lt"/>
              </a:rPr>
              <a:t>Cellular networks </a:t>
            </a:r>
            <a:r>
              <a:rPr lang="en-US" sz="3600" dirty="0">
                <a:solidFill>
                  <a:srgbClr val="000000"/>
                </a:solidFill>
                <a:latin typeface="Gill Sans MT"/>
                <a:ea typeface="+mn-lt"/>
                <a:cs typeface="+mn-lt"/>
              </a:rPr>
              <a:t>is a system of wireless communication that uses radio waves to connect mobile devices to each other and the internet.</a:t>
            </a:r>
            <a:endParaRPr lang="en-US" sz="3600">
              <a:latin typeface="Gill Sans MT"/>
            </a:endParaRPr>
          </a:p>
          <a:p>
            <a:pPr marL="971550" lvl="1" indent="-514350" algn="just">
              <a:buFont typeface="Courier New" panose="020B0604020202020204" pitchFamily="34" charset="0"/>
              <a:buChar char="o"/>
            </a:pPr>
            <a:r>
              <a:rPr lang="en-US" sz="3600" b="1" dirty="0">
                <a:solidFill>
                  <a:srgbClr val="000000"/>
                </a:solidFill>
                <a:latin typeface="Gill Sans MT"/>
                <a:ea typeface="+mn-lt"/>
                <a:cs typeface="+mn-lt"/>
              </a:rPr>
              <a:t>Wi-Fi</a:t>
            </a:r>
            <a:r>
              <a:rPr lang="en-US" sz="3600" dirty="0">
                <a:solidFill>
                  <a:srgbClr val="000000"/>
                </a:solidFill>
                <a:latin typeface="Gill Sans MT"/>
                <a:ea typeface="+mn-lt"/>
                <a:cs typeface="+mn-lt"/>
              </a:rPr>
              <a:t> is a popular connectivity solution for mobile devices. Wi-Fi provides faster speeds and can be more cost-effective than cellular networks.</a:t>
            </a:r>
            <a:endParaRPr lang="en-US" sz="3600" dirty="0">
              <a:latin typeface="Gill Sans MT"/>
            </a:endParaRPr>
          </a:p>
          <a:p>
            <a:pPr marL="971550" lvl="1" indent="-514350" algn="just">
              <a:buFont typeface="Courier New" panose="020B0604020202020204" pitchFamily="34" charset="0"/>
              <a:buChar char="o"/>
            </a:pPr>
            <a:r>
              <a:rPr lang="en-US" sz="3600" b="1" dirty="0">
                <a:latin typeface="Gill Sans MT"/>
              </a:rPr>
              <a:t>Near Field Communication (NFC) </a:t>
            </a:r>
            <a:r>
              <a:rPr lang="en-US" sz="3600" dirty="0">
                <a:latin typeface="Gill Sans MT"/>
              </a:rPr>
              <a:t>is a wireless communication technology that enables mobile devices to interact with other devices and objects that are equipped with NFC technology. This technology is commonly used for contactless payments and data transfers.</a:t>
            </a:r>
            <a:endParaRPr lang="en-US" sz="3600">
              <a:latin typeface="Gill Sans MT"/>
            </a:endParaRPr>
          </a:p>
          <a:p>
            <a:pPr algn="just"/>
            <a:endParaRPr lang="en-US" sz="3600" dirty="0">
              <a:latin typeface="Gill Sans MT"/>
            </a:endParaRPr>
          </a:p>
          <a:p>
            <a:pPr algn="just">
              <a:buAutoNum type="arabicPeriod"/>
            </a:pPr>
            <a:endParaRPr lang="en-US" sz="3600" dirty="0">
              <a:latin typeface="Gill Sans MT"/>
            </a:endParaRPr>
          </a:p>
          <a:p>
            <a:pPr algn="just">
              <a:buAutoNum type="arabicPeriod"/>
            </a:pPr>
            <a:endParaRPr lang="en-US" sz="3600" dirty="0">
              <a:latin typeface="Gill Sans MT"/>
            </a:endParaRPr>
          </a:p>
          <a:p>
            <a:pPr marL="571500" indent="-571500" algn="just">
              <a:buAutoNum type="arabicPeriod"/>
            </a:pPr>
            <a:endParaRPr lang="en-US" sz="3600" dirty="0">
              <a:solidFill>
                <a:srgbClr val="000000"/>
              </a:solidFill>
              <a:latin typeface="Gill Sans MT"/>
            </a:endParaRPr>
          </a:p>
        </p:txBody>
      </p:sp>
    </p:spTree>
    <p:extLst>
      <p:ext uri="{BB962C8B-B14F-4D97-AF65-F5344CB8AC3E}">
        <p14:creationId xmlns:p14="http://schemas.microsoft.com/office/powerpoint/2010/main" val="1933339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0B994-C75F-6120-573F-184DFF836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64B62-AEF1-F261-9E13-378944025F08}"/>
              </a:ext>
            </a:extLst>
          </p:cNvPr>
          <p:cNvSpPr>
            <a:spLocks noGrp="1"/>
          </p:cNvSpPr>
          <p:nvPr>
            <p:ph type="title"/>
          </p:nvPr>
        </p:nvSpPr>
        <p:spPr>
          <a:xfrm>
            <a:off x="274188" y="194607"/>
            <a:ext cx="15040454" cy="1595839"/>
          </a:xfrm>
        </p:spPr>
        <p:txBody>
          <a:bodyPr>
            <a:normAutofit/>
          </a:bodyPr>
          <a:lstStyle/>
          <a:p>
            <a:r>
              <a:rPr lang="en-US" cap="all" dirty="0" smtClean="0">
                <a:latin typeface="Gill Sans MT"/>
              </a:rPr>
              <a:t>BASICs of NFC</a:t>
            </a:r>
            <a:endParaRPr lang="en-US" cap="all" dirty="0">
              <a:latin typeface="Gill Sans MT"/>
            </a:endParaRPr>
          </a:p>
        </p:txBody>
      </p:sp>
      <p:sp>
        <p:nvSpPr>
          <p:cNvPr id="3" name="Content Placeholder 2">
            <a:extLst>
              <a:ext uri="{FF2B5EF4-FFF2-40B4-BE49-F238E27FC236}">
                <a16:creationId xmlns:a16="http://schemas.microsoft.com/office/drawing/2014/main" id="{4881BCFE-E27C-582C-976E-FAA9D9735B1D}"/>
              </a:ext>
            </a:extLst>
          </p:cNvPr>
          <p:cNvSpPr>
            <a:spLocks noGrp="1"/>
          </p:cNvSpPr>
          <p:nvPr>
            <p:ph idx="1"/>
          </p:nvPr>
        </p:nvSpPr>
        <p:spPr>
          <a:xfrm>
            <a:off x="280450" y="1460811"/>
            <a:ext cx="15839611" cy="5392306"/>
          </a:xfrm>
        </p:spPr>
        <p:txBody>
          <a:bodyPr vert="horz" lIns="91440" tIns="45720" rIns="91440" bIns="45720" rtlCol="0" anchor="t">
            <a:noAutofit/>
          </a:bodyPr>
          <a:lstStyle/>
          <a:p>
            <a:pPr marL="971550" lvl="1" indent="-514350" algn="just">
              <a:buFont typeface="Courier New" panose="020B0604020202020204" pitchFamily="34" charset="0"/>
              <a:buChar char="o"/>
            </a:pPr>
            <a:r>
              <a:rPr lang="en-US" sz="3600" dirty="0" smtClean="0">
                <a:solidFill>
                  <a:srgbClr val="000000"/>
                </a:solidFill>
                <a:latin typeface="Gill Sans MT"/>
                <a:ea typeface="+mn-lt"/>
                <a:cs typeface="+mn-lt"/>
              </a:rPr>
              <a:t>Near </a:t>
            </a:r>
            <a:r>
              <a:rPr lang="en-US" sz="3600" dirty="0">
                <a:solidFill>
                  <a:srgbClr val="000000"/>
                </a:solidFill>
                <a:latin typeface="Gill Sans MT"/>
                <a:ea typeface="+mn-lt"/>
                <a:cs typeface="+mn-lt"/>
              </a:rPr>
              <a:t>Field Communication (NFC) is a set of short-range wireless technologies, typically requiring a distance of </a:t>
            </a:r>
            <a:r>
              <a:rPr lang="en-US" sz="3600" b="1" dirty="0">
                <a:solidFill>
                  <a:srgbClr val="000000"/>
                </a:solidFill>
                <a:latin typeface="Gill Sans MT"/>
                <a:ea typeface="+mn-lt"/>
                <a:cs typeface="+mn-lt"/>
              </a:rPr>
              <a:t>4 cm </a:t>
            </a:r>
            <a:r>
              <a:rPr lang="en-US" sz="3600" dirty="0">
                <a:solidFill>
                  <a:srgbClr val="000000"/>
                </a:solidFill>
                <a:latin typeface="Gill Sans MT"/>
                <a:ea typeface="+mn-lt"/>
                <a:cs typeface="+mn-lt"/>
              </a:rPr>
              <a:t>or less to initiate a connection. </a:t>
            </a:r>
            <a:endParaRPr lang="en-US" sz="3600" dirty="0" smtClean="0">
              <a:solidFill>
                <a:srgbClr val="000000"/>
              </a:solidFill>
              <a:latin typeface="Gill Sans MT"/>
              <a:ea typeface="+mn-lt"/>
              <a:cs typeface="+mn-lt"/>
            </a:endParaRPr>
          </a:p>
          <a:p>
            <a:pPr marL="971550" lvl="1" indent="-514350" algn="just">
              <a:buFont typeface="Courier New" panose="020B0604020202020204" pitchFamily="34" charset="0"/>
              <a:buChar char="o"/>
            </a:pPr>
            <a:r>
              <a:rPr lang="en-US" sz="3600" dirty="0" smtClean="0">
                <a:solidFill>
                  <a:srgbClr val="000000"/>
                </a:solidFill>
                <a:latin typeface="Gill Sans MT"/>
                <a:ea typeface="+mn-lt"/>
                <a:cs typeface="+mn-lt"/>
              </a:rPr>
              <a:t>NFC </a:t>
            </a:r>
            <a:r>
              <a:rPr lang="en-US" sz="3600" dirty="0">
                <a:solidFill>
                  <a:srgbClr val="000000"/>
                </a:solidFill>
                <a:latin typeface="Gill Sans MT"/>
                <a:ea typeface="+mn-lt"/>
                <a:cs typeface="+mn-lt"/>
              </a:rPr>
              <a:t>lets you share small payloads of data between an NFC tag and an Android-powered device, or between two Android-powered devices</a:t>
            </a:r>
            <a:r>
              <a:rPr lang="en-US" sz="3600" dirty="0" smtClean="0">
                <a:solidFill>
                  <a:srgbClr val="000000"/>
                </a:solidFill>
                <a:latin typeface="Gill Sans MT"/>
                <a:ea typeface="+mn-lt"/>
                <a:cs typeface="+mn-lt"/>
              </a:rPr>
              <a:t>.</a:t>
            </a:r>
            <a:endParaRPr lang="en-US" sz="3600" dirty="0">
              <a:solidFill>
                <a:srgbClr val="000000"/>
              </a:solidFill>
              <a:latin typeface="Gill Sans MT"/>
              <a:ea typeface="+mn-lt"/>
              <a:cs typeface="+mn-lt"/>
            </a:endParaRPr>
          </a:p>
          <a:p>
            <a:pPr marL="971550" lvl="1" indent="-514350">
              <a:buFont typeface="Courier New" panose="020B0604020202020204" pitchFamily="34" charset="0"/>
              <a:buChar char="o"/>
            </a:pPr>
            <a:r>
              <a:rPr lang="en-US" sz="3600" dirty="0">
                <a:solidFill>
                  <a:srgbClr val="000000"/>
                </a:solidFill>
                <a:latin typeface="Gill Sans MT"/>
                <a:ea typeface="+mn-lt"/>
                <a:cs typeface="+mn-lt"/>
              </a:rPr>
              <a:t>For more information about NFC visit: </a:t>
            </a:r>
            <a:r>
              <a:rPr lang="en-US" sz="3600" dirty="0" smtClean="0">
                <a:hlinkClick r:id="rId3"/>
              </a:rPr>
              <a:t>https</a:t>
            </a:r>
            <a:r>
              <a:rPr lang="en-US" sz="3600" dirty="0">
                <a:hlinkClick r:id="rId3"/>
              </a:rPr>
              <a:t>://</a:t>
            </a:r>
            <a:r>
              <a:rPr lang="en-US" sz="3600" dirty="0" smtClean="0">
                <a:hlinkClick r:id="rId3"/>
              </a:rPr>
              <a:t>developer.android.com/develop/connectivity/nfc/nfc</a:t>
            </a:r>
            <a:endParaRPr lang="en-US" sz="3600" dirty="0" smtClean="0"/>
          </a:p>
          <a:p>
            <a:pPr marL="971550" lvl="1" indent="-514350" algn="just">
              <a:buFont typeface="Courier New" panose="020B0604020202020204" pitchFamily="34" charset="0"/>
              <a:buChar char="o"/>
            </a:pPr>
            <a:endParaRPr lang="en-US" sz="3600" dirty="0"/>
          </a:p>
          <a:p>
            <a:pPr marL="971550" lvl="1" indent="-514350"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solidFill>
                <a:srgbClr val="000000"/>
              </a:solidFill>
              <a:latin typeface="Gill Sans MT"/>
            </a:endParaRPr>
          </a:p>
          <a:p>
            <a:pPr marL="571500" indent="-571500" algn="just">
              <a:buFont typeface="Courier New" panose="020B0604020202020204" pitchFamily="34" charset="0"/>
              <a:buChar char="o"/>
            </a:pPr>
            <a:endParaRPr lang="en-US" sz="3600" dirty="0">
              <a:latin typeface="Gill Sans MT"/>
            </a:endParaRPr>
          </a:p>
        </p:txBody>
      </p:sp>
    </p:spTree>
    <p:extLst>
      <p:ext uri="{BB962C8B-B14F-4D97-AF65-F5344CB8AC3E}">
        <p14:creationId xmlns:p14="http://schemas.microsoft.com/office/powerpoint/2010/main" val="16610932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0B994-C75F-6120-573F-184DFF836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64B62-AEF1-F261-9E13-378944025F08}"/>
              </a:ext>
            </a:extLst>
          </p:cNvPr>
          <p:cNvSpPr>
            <a:spLocks noGrp="1"/>
          </p:cNvSpPr>
          <p:nvPr>
            <p:ph type="title"/>
          </p:nvPr>
        </p:nvSpPr>
        <p:spPr>
          <a:xfrm>
            <a:off x="274188" y="194607"/>
            <a:ext cx="15040454" cy="1595839"/>
          </a:xfrm>
        </p:spPr>
        <p:txBody>
          <a:bodyPr>
            <a:normAutofit/>
          </a:bodyPr>
          <a:lstStyle/>
          <a:p>
            <a:r>
              <a:rPr lang="en-US" cap="all" dirty="0" smtClean="0">
                <a:latin typeface="Gill Sans MT"/>
              </a:rPr>
              <a:t>BASICs of NFC</a:t>
            </a:r>
            <a:endParaRPr lang="en-US" cap="all" dirty="0">
              <a:latin typeface="Gill Sans MT"/>
            </a:endParaRPr>
          </a:p>
        </p:txBody>
      </p:sp>
      <p:sp>
        <p:nvSpPr>
          <p:cNvPr id="3" name="Content Placeholder 2">
            <a:extLst>
              <a:ext uri="{FF2B5EF4-FFF2-40B4-BE49-F238E27FC236}">
                <a16:creationId xmlns:a16="http://schemas.microsoft.com/office/drawing/2014/main" id="{4881BCFE-E27C-582C-976E-FAA9D9735B1D}"/>
              </a:ext>
            </a:extLst>
          </p:cNvPr>
          <p:cNvSpPr>
            <a:spLocks noGrp="1"/>
          </p:cNvSpPr>
          <p:nvPr>
            <p:ph idx="1"/>
          </p:nvPr>
        </p:nvSpPr>
        <p:spPr>
          <a:xfrm>
            <a:off x="280450" y="1460811"/>
            <a:ext cx="15839611" cy="5392306"/>
          </a:xfrm>
        </p:spPr>
        <p:txBody>
          <a:bodyPr vert="horz" lIns="91440" tIns="45720" rIns="91440" bIns="45720" rtlCol="0" anchor="t">
            <a:noAutofit/>
          </a:bodyPr>
          <a:lstStyle/>
          <a:p>
            <a:pPr marL="971550" lvl="1" indent="-514350" algn="just">
              <a:buFont typeface="Courier New" panose="020B0604020202020204" pitchFamily="34" charset="0"/>
              <a:buChar char="o"/>
            </a:pPr>
            <a:r>
              <a:rPr lang="en-US" sz="3600" dirty="0" smtClean="0">
                <a:solidFill>
                  <a:srgbClr val="000000"/>
                </a:solidFill>
                <a:latin typeface="Gill Sans MT"/>
                <a:ea typeface="+mn-lt"/>
                <a:cs typeface="+mn-lt"/>
              </a:rPr>
              <a:t>Android-powered </a:t>
            </a:r>
            <a:r>
              <a:rPr lang="en-US" sz="3600" dirty="0">
                <a:solidFill>
                  <a:srgbClr val="000000"/>
                </a:solidFill>
                <a:latin typeface="Gill Sans MT"/>
                <a:ea typeface="+mn-lt"/>
                <a:cs typeface="+mn-lt"/>
              </a:rPr>
              <a:t>devices with NFC simultaneously support two main modes of operation:</a:t>
            </a:r>
          </a:p>
          <a:p>
            <a:pPr marL="1428750" lvl="2" indent="-514350" algn="just">
              <a:buFont typeface="+mj-lt"/>
              <a:buAutoNum type="arabicPeriod"/>
            </a:pPr>
            <a:r>
              <a:rPr lang="en-US" sz="3200" b="1" dirty="0">
                <a:solidFill>
                  <a:srgbClr val="000000"/>
                </a:solidFill>
                <a:latin typeface="Gill Sans MT"/>
                <a:ea typeface="+mn-lt"/>
                <a:cs typeface="+mn-lt"/>
              </a:rPr>
              <a:t>Reader/writer mode</a:t>
            </a:r>
            <a:r>
              <a:rPr lang="en-US" sz="3200" dirty="0">
                <a:solidFill>
                  <a:srgbClr val="000000"/>
                </a:solidFill>
                <a:latin typeface="Gill Sans MT"/>
                <a:ea typeface="+mn-lt"/>
                <a:cs typeface="+mn-lt"/>
              </a:rPr>
              <a:t>, allowing the NFC device to read and write passive NFC tags and stickers.</a:t>
            </a:r>
          </a:p>
          <a:p>
            <a:pPr marL="1428750" lvl="2" indent="-514350" algn="just">
              <a:buFont typeface="+mj-lt"/>
              <a:buAutoNum type="arabicPeriod"/>
            </a:pPr>
            <a:r>
              <a:rPr lang="en-US" sz="3200" b="1" dirty="0">
                <a:solidFill>
                  <a:srgbClr val="000000"/>
                </a:solidFill>
                <a:latin typeface="Gill Sans MT"/>
                <a:ea typeface="+mn-lt"/>
                <a:cs typeface="+mn-lt"/>
              </a:rPr>
              <a:t>Card emulation mode,</a:t>
            </a:r>
            <a:r>
              <a:rPr lang="en-US" sz="3200" dirty="0">
                <a:solidFill>
                  <a:srgbClr val="000000"/>
                </a:solidFill>
                <a:latin typeface="Gill Sans MT"/>
                <a:ea typeface="+mn-lt"/>
                <a:cs typeface="+mn-lt"/>
              </a:rPr>
              <a:t> allowing the NFC device itself to act as an NFC card. The emulated NFC card can then be accessed by an external NFC reader, such as an NFC point-of-sale terminal</a:t>
            </a:r>
            <a:r>
              <a:rPr lang="en-US" sz="3200" dirty="0" smtClean="0">
                <a:solidFill>
                  <a:srgbClr val="000000"/>
                </a:solidFill>
                <a:latin typeface="Gill Sans MT"/>
                <a:ea typeface="+mn-lt"/>
                <a:cs typeface="+mn-lt"/>
              </a:rPr>
              <a:t>.</a:t>
            </a:r>
            <a:endParaRPr lang="en-US" sz="3200" dirty="0"/>
          </a:p>
          <a:p>
            <a:pPr marL="971550" lvl="1" indent="-514350"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solidFill>
                <a:srgbClr val="000000"/>
              </a:solidFill>
              <a:latin typeface="Gill Sans MT"/>
            </a:endParaRPr>
          </a:p>
          <a:p>
            <a:pPr marL="571500" indent="-571500" algn="just">
              <a:buFont typeface="Courier New" panose="020B0604020202020204" pitchFamily="34" charset="0"/>
              <a:buChar char="o"/>
            </a:pPr>
            <a:endParaRPr lang="en-US" sz="3600" dirty="0">
              <a:latin typeface="Gill Sans MT"/>
            </a:endParaRPr>
          </a:p>
        </p:txBody>
      </p:sp>
    </p:spTree>
    <p:extLst>
      <p:ext uri="{BB962C8B-B14F-4D97-AF65-F5344CB8AC3E}">
        <p14:creationId xmlns:p14="http://schemas.microsoft.com/office/powerpoint/2010/main" val="260616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0B994-C75F-6120-573F-184DFF836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64B62-AEF1-F261-9E13-378944025F08}"/>
              </a:ext>
            </a:extLst>
          </p:cNvPr>
          <p:cNvSpPr>
            <a:spLocks noGrp="1"/>
          </p:cNvSpPr>
          <p:nvPr>
            <p:ph type="title"/>
          </p:nvPr>
        </p:nvSpPr>
        <p:spPr>
          <a:xfrm>
            <a:off x="274188" y="194607"/>
            <a:ext cx="15040454" cy="1595839"/>
          </a:xfrm>
        </p:spPr>
        <p:txBody>
          <a:bodyPr>
            <a:normAutofit/>
          </a:bodyPr>
          <a:lstStyle/>
          <a:p>
            <a:r>
              <a:rPr lang="en-US" cap="all" dirty="0">
                <a:latin typeface="Gill Sans MT"/>
              </a:rPr>
              <a:t>CONNECTIVITY IN MOBILE DEVICES</a:t>
            </a:r>
          </a:p>
        </p:txBody>
      </p:sp>
      <p:sp>
        <p:nvSpPr>
          <p:cNvPr id="3" name="Content Placeholder 2">
            <a:extLst>
              <a:ext uri="{FF2B5EF4-FFF2-40B4-BE49-F238E27FC236}">
                <a16:creationId xmlns:a16="http://schemas.microsoft.com/office/drawing/2014/main" id="{4881BCFE-E27C-582C-976E-FAA9D9735B1D}"/>
              </a:ext>
            </a:extLst>
          </p:cNvPr>
          <p:cNvSpPr>
            <a:spLocks noGrp="1"/>
          </p:cNvSpPr>
          <p:nvPr>
            <p:ph idx="1"/>
          </p:nvPr>
        </p:nvSpPr>
        <p:spPr>
          <a:xfrm>
            <a:off x="280450" y="2129387"/>
            <a:ext cx="15839611" cy="4723729"/>
          </a:xfrm>
        </p:spPr>
        <p:txBody>
          <a:bodyPr vert="horz" lIns="91440" tIns="45720" rIns="91440" bIns="45720" rtlCol="0" anchor="t">
            <a:noAutofit/>
          </a:bodyPr>
          <a:lstStyle/>
          <a:p>
            <a:pPr marL="914400" indent="-457200" algn="just">
              <a:buFont typeface="Courier New" panose="020B0604020202020204" pitchFamily="34" charset="0"/>
              <a:buChar char="o"/>
            </a:pPr>
            <a:r>
              <a:rPr lang="en-US" sz="3600" b="1" dirty="0">
                <a:solidFill>
                  <a:srgbClr val="000000"/>
                </a:solidFill>
                <a:latin typeface="Gill Sans MT"/>
                <a:ea typeface="+mn-lt"/>
                <a:cs typeface="+mn-lt"/>
              </a:rPr>
              <a:t>Bluetooth</a:t>
            </a:r>
            <a:r>
              <a:rPr lang="en-US" sz="3600" dirty="0">
                <a:solidFill>
                  <a:srgbClr val="000000"/>
                </a:solidFill>
                <a:latin typeface="Gill Sans MT"/>
                <a:ea typeface="+mn-lt"/>
                <a:cs typeface="+mn-lt"/>
              </a:rPr>
              <a:t> is a short-range wireless connectivity technology that is commonly used to connect mobile devices to other devices, such as wireless headphones, speakers, and car audio systems over a short  distance typically up to </a:t>
            </a:r>
            <a:r>
              <a:rPr lang="en-US" sz="3600" dirty="0">
                <a:solidFill>
                  <a:srgbClr val="000000"/>
                </a:solidFill>
                <a:latin typeface="Gill Sans MT"/>
                <a:ea typeface="Cambria Math"/>
                <a:cs typeface="+mn-lt"/>
              </a:rPr>
              <a:t>10</a:t>
            </a:r>
            <a:r>
              <a:rPr lang="en-US" sz="3600" dirty="0">
                <a:solidFill>
                  <a:srgbClr val="000000"/>
                </a:solidFill>
                <a:latin typeface="Gill Sans MT"/>
                <a:ea typeface="+mn-lt"/>
                <a:cs typeface="+mn-lt"/>
              </a:rPr>
              <a:t> meters.</a:t>
            </a:r>
            <a:endParaRPr lang="en-US" sz="3600">
              <a:latin typeface="Gill Sans MT"/>
            </a:endParaRPr>
          </a:p>
          <a:p>
            <a:pPr marL="971550" lvl="1" indent="-514350" algn="just">
              <a:buFont typeface="Courier New" panose="020B0604020202020204" pitchFamily="34" charset="0"/>
              <a:buChar char="o"/>
            </a:pPr>
            <a:r>
              <a:rPr lang="en-US" sz="3600" b="1" dirty="0">
                <a:solidFill>
                  <a:srgbClr val="000000"/>
                </a:solidFill>
                <a:latin typeface="Gill Sans MT"/>
                <a:ea typeface="+mn-lt"/>
                <a:cs typeface="+mn-lt"/>
              </a:rPr>
              <a:t>ZigBee</a:t>
            </a:r>
            <a:r>
              <a:rPr lang="en-US" sz="3600" dirty="0">
                <a:solidFill>
                  <a:srgbClr val="000000"/>
                </a:solidFill>
                <a:latin typeface="Gill Sans MT"/>
                <a:ea typeface="+mn-lt"/>
                <a:cs typeface="+mn-lt"/>
              </a:rPr>
              <a:t> is a wireless technology specifically developed to replace Bluetooth and Wi-Fi. It commonly used in home automation applications such as: Lighting control, temperature control and security systems.</a:t>
            </a:r>
            <a:endParaRPr lang="en-US" sz="3600" dirty="0"/>
          </a:p>
          <a:p>
            <a:pPr marL="971550" lvl="1" indent="-514350"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solidFill>
                <a:srgbClr val="000000"/>
              </a:solidFill>
              <a:latin typeface="Gill Sans MT"/>
            </a:endParaRPr>
          </a:p>
          <a:p>
            <a:pPr marL="571500" indent="-571500" algn="just">
              <a:buFont typeface="Courier New" panose="020B0604020202020204" pitchFamily="34" charset="0"/>
              <a:buChar char="o"/>
            </a:pPr>
            <a:endParaRPr lang="en-US" sz="3600" dirty="0">
              <a:latin typeface="Gill Sans MT"/>
            </a:endParaRPr>
          </a:p>
        </p:txBody>
      </p:sp>
    </p:spTree>
    <p:extLst>
      <p:ext uri="{BB962C8B-B14F-4D97-AF65-F5344CB8AC3E}">
        <p14:creationId xmlns:p14="http://schemas.microsoft.com/office/powerpoint/2010/main" val="1790590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8567-8E3F-0A57-7322-1517358AE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F4D60-BD66-81F4-8ED7-F6D8B6AEDA57}"/>
              </a:ext>
            </a:extLst>
          </p:cNvPr>
          <p:cNvSpPr>
            <a:spLocks noGrp="1"/>
          </p:cNvSpPr>
          <p:nvPr>
            <p:ph type="title"/>
          </p:nvPr>
        </p:nvSpPr>
        <p:spPr>
          <a:xfrm>
            <a:off x="274188" y="194607"/>
            <a:ext cx="15040454" cy="1595839"/>
          </a:xfrm>
        </p:spPr>
        <p:txBody>
          <a:bodyPr>
            <a:normAutofit/>
          </a:bodyPr>
          <a:lstStyle/>
          <a:p>
            <a:r>
              <a:rPr lang="en-US" cap="all" dirty="0">
                <a:latin typeface="Gill Sans MT"/>
              </a:rPr>
              <a:t>Generation of cellular networks</a:t>
            </a:r>
          </a:p>
        </p:txBody>
      </p:sp>
      <p:sp>
        <p:nvSpPr>
          <p:cNvPr id="3" name="Content Placeholder 2">
            <a:extLst>
              <a:ext uri="{FF2B5EF4-FFF2-40B4-BE49-F238E27FC236}">
                <a16:creationId xmlns:a16="http://schemas.microsoft.com/office/drawing/2014/main" id="{8D790218-EF99-211D-150C-AD41D791D52E}"/>
              </a:ext>
            </a:extLst>
          </p:cNvPr>
          <p:cNvSpPr>
            <a:spLocks noGrp="1"/>
          </p:cNvSpPr>
          <p:nvPr>
            <p:ph idx="1"/>
          </p:nvPr>
        </p:nvSpPr>
        <p:spPr>
          <a:xfrm>
            <a:off x="280450" y="2129387"/>
            <a:ext cx="15839611" cy="4723729"/>
          </a:xfrm>
        </p:spPr>
        <p:txBody>
          <a:bodyPr vert="horz" lIns="91440" tIns="45720" rIns="91440" bIns="45720" rtlCol="0" anchor="t">
            <a:noAutofit/>
          </a:bodyPr>
          <a:lstStyle/>
          <a:p>
            <a:pPr marL="1028700" indent="-571500" algn="just"/>
            <a:r>
              <a:rPr lang="en-US" sz="3600" dirty="0">
                <a:solidFill>
                  <a:srgbClr val="000000"/>
                </a:solidFill>
                <a:latin typeface="Gill Sans MT"/>
                <a:ea typeface="+mn-lt"/>
                <a:cs typeface="+mn-lt"/>
              </a:rPr>
              <a:t>1G: Analog voice services </a:t>
            </a:r>
            <a:r>
              <a:rPr lang="en-US" sz="3600" dirty="0" smtClean="0">
                <a:solidFill>
                  <a:srgbClr val="000000"/>
                </a:solidFill>
                <a:latin typeface="Gill Sans MT"/>
                <a:ea typeface="+mn-lt"/>
                <a:cs typeface="+mn-lt"/>
              </a:rPr>
              <a:t>(AMTS)</a:t>
            </a:r>
            <a:endParaRPr lang="en-US" sz="3600" dirty="0">
              <a:solidFill>
                <a:srgbClr val="000000"/>
              </a:solidFill>
              <a:latin typeface="Gill Sans MT"/>
              <a:ea typeface="+mn-lt"/>
              <a:cs typeface="+mn-lt"/>
            </a:endParaRPr>
          </a:p>
          <a:p>
            <a:pPr marL="1028700" indent="-571500" algn="just"/>
            <a:r>
              <a:rPr lang="en-US" sz="3600" dirty="0">
                <a:solidFill>
                  <a:srgbClr val="000000"/>
                </a:solidFill>
                <a:latin typeface="Gill Sans MT"/>
                <a:ea typeface="+mn-lt"/>
                <a:cs typeface="+mn-lt"/>
              </a:rPr>
              <a:t>2G: Digital voice and basic data (GSM, </a:t>
            </a:r>
            <a:r>
              <a:rPr lang="en-US" sz="3600" dirty="0" smtClean="0">
                <a:solidFill>
                  <a:srgbClr val="000000"/>
                </a:solidFill>
                <a:latin typeface="Gill Sans MT"/>
                <a:ea typeface="+mn-lt"/>
                <a:cs typeface="+mn-lt"/>
              </a:rPr>
              <a:t>CDMA,TDMA) </a:t>
            </a:r>
            <a:endParaRPr lang="en-US" sz="3600" dirty="0">
              <a:solidFill>
                <a:srgbClr val="000000"/>
              </a:solidFill>
              <a:latin typeface="Gill Sans MT"/>
              <a:ea typeface="+mn-lt"/>
              <a:cs typeface="+mn-lt"/>
            </a:endParaRPr>
          </a:p>
          <a:p>
            <a:pPr marL="1028700" indent="-571500" algn="just"/>
            <a:r>
              <a:rPr lang="en-US" sz="3600" dirty="0">
                <a:solidFill>
                  <a:srgbClr val="000000"/>
                </a:solidFill>
                <a:latin typeface="Gill Sans MT"/>
                <a:ea typeface="+mn-lt"/>
                <a:cs typeface="+mn-lt"/>
              </a:rPr>
              <a:t>3G: Enhanced data services (UMTS, HSPA) </a:t>
            </a:r>
          </a:p>
          <a:p>
            <a:pPr marL="1028700" indent="-571500" algn="just"/>
            <a:r>
              <a:rPr lang="en-US" sz="3600" dirty="0">
                <a:solidFill>
                  <a:srgbClr val="000000"/>
                </a:solidFill>
                <a:latin typeface="Gill Sans MT"/>
                <a:ea typeface="+mn-lt"/>
                <a:cs typeface="+mn-lt"/>
              </a:rPr>
              <a:t>4G: High-speed data and IP-based services (LTE) </a:t>
            </a:r>
          </a:p>
          <a:p>
            <a:pPr marL="1028700" indent="-571500" algn="just"/>
            <a:r>
              <a:rPr lang="en-US" sz="3600" dirty="0">
                <a:solidFill>
                  <a:srgbClr val="000000"/>
                </a:solidFill>
                <a:latin typeface="Gill Sans MT"/>
                <a:ea typeface="+mn-lt"/>
                <a:cs typeface="+mn-lt"/>
              </a:rPr>
              <a:t>5G: Ultra-low latency, massive connectivity, enhanced broadband</a:t>
            </a:r>
            <a:endParaRPr lang="en-US" sz="3600" dirty="0">
              <a:latin typeface="Gill Sans MT"/>
            </a:endParaRPr>
          </a:p>
          <a:p>
            <a:pPr marL="971550" lvl="1" indent="-514350" algn="just">
              <a:buFont typeface="Courier New" panose="020B0604020202020204" pitchFamily="34" charset="0"/>
              <a:buChar char="o"/>
            </a:pPr>
            <a:endParaRPr lang="en-US" sz="3600" dirty="0">
              <a:latin typeface="Gill Sans MT"/>
            </a:endParaRPr>
          </a:p>
          <a:p>
            <a:pPr algn="just"/>
            <a:endParaRPr lang="en-US" sz="3600" dirty="0">
              <a:latin typeface="Gill Sans MT"/>
            </a:endParaRPr>
          </a:p>
          <a:p>
            <a:pPr algn="just"/>
            <a:endParaRPr lang="en-US" sz="3600" dirty="0">
              <a:latin typeface="Gill Sans MT"/>
            </a:endParaRPr>
          </a:p>
          <a:p>
            <a:pPr algn="just"/>
            <a:endParaRPr lang="en-US" sz="3600" dirty="0">
              <a:solidFill>
                <a:srgbClr val="000000"/>
              </a:solidFill>
              <a:latin typeface="Gill Sans MT"/>
            </a:endParaRPr>
          </a:p>
          <a:p>
            <a:pPr marL="571500" indent="-571500" algn="just"/>
            <a:endParaRPr lang="en-US" sz="3600" dirty="0">
              <a:latin typeface="Gill Sans MT"/>
            </a:endParaRPr>
          </a:p>
        </p:txBody>
      </p:sp>
    </p:spTree>
    <p:extLst>
      <p:ext uri="{BB962C8B-B14F-4D97-AF65-F5344CB8AC3E}">
        <p14:creationId xmlns:p14="http://schemas.microsoft.com/office/powerpoint/2010/main" val="1309009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8567-8E3F-0A57-7322-1517358AE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F4D60-BD66-81F4-8ED7-F6D8B6AEDA57}"/>
              </a:ext>
            </a:extLst>
          </p:cNvPr>
          <p:cNvSpPr>
            <a:spLocks noGrp="1"/>
          </p:cNvSpPr>
          <p:nvPr>
            <p:ph type="title"/>
          </p:nvPr>
        </p:nvSpPr>
        <p:spPr>
          <a:xfrm>
            <a:off x="274188" y="194607"/>
            <a:ext cx="15040454" cy="1595839"/>
          </a:xfrm>
        </p:spPr>
        <p:txBody>
          <a:bodyPr>
            <a:normAutofit/>
          </a:bodyPr>
          <a:lstStyle/>
          <a:p>
            <a:r>
              <a:rPr lang="en-US" cap="all" dirty="0" smtClean="0">
                <a:latin typeface="Gill Sans MT"/>
              </a:rPr>
              <a:t>ADVANCED MOBILE PHONE SYSTEM</a:t>
            </a:r>
            <a:endParaRPr lang="en-US" cap="all" dirty="0">
              <a:latin typeface="Gill Sans MT"/>
            </a:endParaRPr>
          </a:p>
        </p:txBody>
      </p:sp>
      <p:sp>
        <p:nvSpPr>
          <p:cNvPr id="3" name="Content Placeholder 2">
            <a:extLst>
              <a:ext uri="{FF2B5EF4-FFF2-40B4-BE49-F238E27FC236}">
                <a16:creationId xmlns:a16="http://schemas.microsoft.com/office/drawing/2014/main" id="{8D790218-EF99-211D-150C-AD41D791D52E}"/>
              </a:ext>
            </a:extLst>
          </p:cNvPr>
          <p:cNvSpPr>
            <a:spLocks noGrp="1"/>
          </p:cNvSpPr>
          <p:nvPr>
            <p:ph idx="1"/>
          </p:nvPr>
        </p:nvSpPr>
        <p:spPr>
          <a:xfrm>
            <a:off x="280450" y="2129387"/>
            <a:ext cx="15839611" cy="4723729"/>
          </a:xfrm>
        </p:spPr>
        <p:txBody>
          <a:bodyPr vert="horz" lIns="91440" tIns="45720" rIns="91440" bIns="45720" rtlCol="0" anchor="t">
            <a:noAutofit/>
          </a:bodyPr>
          <a:lstStyle/>
          <a:p>
            <a:pPr marL="1028700" indent="-571500" algn="just"/>
            <a:r>
              <a:rPr lang="en-US" sz="3600" dirty="0" smtClean="0">
                <a:solidFill>
                  <a:srgbClr val="000000"/>
                </a:solidFill>
                <a:latin typeface="Gill Sans MT"/>
                <a:ea typeface="+mn-lt"/>
                <a:cs typeface="+mn-lt"/>
              </a:rPr>
              <a:t>Used in North America</a:t>
            </a:r>
            <a:endParaRPr lang="en-US" sz="3600" dirty="0">
              <a:solidFill>
                <a:srgbClr val="000000"/>
              </a:solidFill>
              <a:latin typeface="Gill Sans MT"/>
              <a:ea typeface="+mn-lt"/>
              <a:cs typeface="+mn-lt"/>
            </a:endParaRPr>
          </a:p>
          <a:p>
            <a:pPr marL="1028700" indent="-571500" algn="just"/>
            <a:r>
              <a:rPr lang="en-US" sz="3600" dirty="0">
                <a:solidFill>
                  <a:srgbClr val="000000"/>
                </a:solidFill>
                <a:latin typeface="Gill Sans MT"/>
                <a:ea typeface="+mn-lt"/>
                <a:cs typeface="+mn-lt"/>
              </a:rPr>
              <a:t>Uses 800MHz ISM band (Industrial Scientific Medical purpose)</a:t>
            </a:r>
          </a:p>
          <a:p>
            <a:pPr marL="1028700" indent="-571500" algn="just"/>
            <a:r>
              <a:rPr lang="en-US" sz="3600" dirty="0">
                <a:solidFill>
                  <a:srgbClr val="000000"/>
                </a:solidFill>
                <a:latin typeface="Gill Sans MT"/>
                <a:ea typeface="+mn-lt"/>
                <a:cs typeface="+mn-lt"/>
              </a:rPr>
              <a:t>From BS to MS: Forward communication---869 to 894 MHz: downlink of 25MHz</a:t>
            </a:r>
          </a:p>
          <a:p>
            <a:pPr marL="1028700" indent="-571500" algn="just"/>
            <a:r>
              <a:rPr lang="en-US" sz="3600" dirty="0">
                <a:solidFill>
                  <a:srgbClr val="000000"/>
                </a:solidFill>
                <a:latin typeface="Gill Sans MT"/>
                <a:ea typeface="+mn-lt"/>
                <a:cs typeface="+mn-lt"/>
              </a:rPr>
              <a:t>From MS to BS: Reverse communication---824 to 849 MHz: uplink of 25MHz</a:t>
            </a:r>
          </a:p>
          <a:p>
            <a:pPr marL="1028700" indent="-571500" algn="just"/>
            <a:r>
              <a:rPr lang="en-US" sz="3600" dirty="0" smtClean="0">
                <a:solidFill>
                  <a:srgbClr val="000000"/>
                </a:solidFill>
                <a:latin typeface="Gill Sans MT"/>
                <a:ea typeface="+mn-lt"/>
                <a:cs typeface="+mn-lt"/>
              </a:rPr>
              <a:t>Channel </a:t>
            </a:r>
            <a:r>
              <a:rPr lang="en-US" sz="3600" dirty="0">
                <a:solidFill>
                  <a:srgbClr val="000000"/>
                </a:solidFill>
                <a:latin typeface="Gill Sans MT"/>
                <a:ea typeface="+mn-lt"/>
                <a:cs typeface="+mn-lt"/>
              </a:rPr>
              <a:t>spacing is 30 KHz, Total # of channels is 832</a:t>
            </a:r>
          </a:p>
          <a:p>
            <a:pPr marL="1028700" indent="-571500" algn="just"/>
            <a:r>
              <a:rPr lang="en-US" sz="3600" dirty="0">
                <a:solidFill>
                  <a:srgbClr val="000000"/>
                </a:solidFill>
                <a:latin typeface="Gill Sans MT"/>
                <a:ea typeface="+mn-lt"/>
                <a:cs typeface="+mn-lt"/>
              </a:rPr>
              <a:t>Location area is shared by two service provider with 416 channels</a:t>
            </a:r>
          </a:p>
          <a:p>
            <a:pPr marL="1028700" indent="-571500" algn="just"/>
            <a:r>
              <a:rPr lang="en-US" sz="3600" dirty="0">
                <a:solidFill>
                  <a:srgbClr val="000000"/>
                </a:solidFill>
                <a:latin typeface="Gill Sans MT"/>
                <a:ea typeface="+mn-lt"/>
                <a:cs typeface="+mn-lt"/>
              </a:rPr>
              <a:t>12 are control channels and 395 are voice channels</a:t>
            </a:r>
            <a:endParaRPr lang="en-US" sz="3600" dirty="0">
              <a:latin typeface="Gill Sans MT"/>
            </a:endParaRPr>
          </a:p>
          <a:p>
            <a:pPr algn="just"/>
            <a:endParaRPr lang="en-US" sz="3600" dirty="0">
              <a:latin typeface="Gill Sans MT"/>
            </a:endParaRPr>
          </a:p>
          <a:p>
            <a:pPr algn="just"/>
            <a:endParaRPr lang="en-US" sz="3600" dirty="0">
              <a:latin typeface="Gill Sans MT"/>
            </a:endParaRPr>
          </a:p>
          <a:p>
            <a:pPr algn="just"/>
            <a:endParaRPr lang="en-US" sz="3600" dirty="0">
              <a:solidFill>
                <a:srgbClr val="000000"/>
              </a:solidFill>
              <a:latin typeface="Gill Sans MT"/>
            </a:endParaRPr>
          </a:p>
          <a:p>
            <a:pPr marL="571500" indent="-571500" algn="just"/>
            <a:endParaRPr lang="en-US" sz="3600" dirty="0">
              <a:latin typeface="Gill Sans MT"/>
            </a:endParaRPr>
          </a:p>
        </p:txBody>
      </p:sp>
    </p:spTree>
    <p:extLst>
      <p:ext uri="{BB962C8B-B14F-4D97-AF65-F5344CB8AC3E}">
        <p14:creationId xmlns:p14="http://schemas.microsoft.com/office/powerpoint/2010/main" val="3216313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F3628-3A3A-9ED1-F741-C841DB47A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F7A1CE-FEE9-127D-F21F-0A7EC9BCA942}"/>
              </a:ext>
            </a:extLst>
          </p:cNvPr>
          <p:cNvSpPr>
            <a:spLocks noGrp="1"/>
          </p:cNvSpPr>
          <p:nvPr>
            <p:ph type="title"/>
          </p:nvPr>
        </p:nvSpPr>
        <p:spPr/>
        <p:txBody>
          <a:bodyPr>
            <a:normAutofit/>
          </a:bodyPr>
          <a:lstStyle/>
          <a:p>
            <a:r>
              <a:rPr lang="en-US" cap="all" dirty="0">
                <a:latin typeface="Gill Sans MT"/>
              </a:rPr>
              <a:t>Cellular digital packet data</a:t>
            </a:r>
            <a:endParaRPr lang="en-US" dirty="0"/>
          </a:p>
        </p:txBody>
      </p:sp>
      <p:sp>
        <p:nvSpPr>
          <p:cNvPr id="3" name="Content Placeholder 2">
            <a:extLst>
              <a:ext uri="{FF2B5EF4-FFF2-40B4-BE49-F238E27FC236}">
                <a16:creationId xmlns:a16="http://schemas.microsoft.com/office/drawing/2014/main" id="{830ED887-452B-AF5D-5F98-2BA966F2BBE2}"/>
              </a:ext>
            </a:extLst>
          </p:cNvPr>
          <p:cNvSpPr>
            <a:spLocks noGrp="1"/>
          </p:cNvSpPr>
          <p:nvPr>
            <p:ph idx="1"/>
          </p:nvPr>
        </p:nvSpPr>
        <p:spPr>
          <a:xfrm>
            <a:off x="727112" y="2175540"/>
            <a:ext cx="15093732" cy="4742848"/>
          </a:xfrm>
        </p:spPr>
        <p:txBody>
          <a:bodyPr vert="horz" lIns="91440" tIns="45720" rIns="91440" bIns="45720" rtlCol="0" anchor="t">
            <a:normAutofit/>
          </a:bodyPr>
          <a:lstStyle/>
          <a:p>
            <a:pPr algn="just"/>
            <a:r>
              <a:rPr lang="en-US" sz="3600" dirty="0">
                <a:latin typeface="Gill Sans MT"/>
                <a:ea typeface="+mn-lt"/>
                <a:cs typeface="+mn-lt"/>
              </a:rPr>
              <a:t>Designed to provide packet data services on top of AMPS without interfering with voice calls.</a:t>
            </a:r>
            <a:endParaRPr lang="en-US" sz="3600">
              <a:latin typeface="Gill Sans MT"/>
            </a:endParaRPr>
          </a:p>
          <a:p>
            <a:pPr algn="just"/>
            <a:r>
              <a:rPr lang="en-US" sz="3600" dirty="0">
                <a:latin typeface="Gill Sans MT"/>
              </a:rPr>
              <a:t>Data transmission prioritizes voice calls; data can only use channels not occupied by voice calls.</a:t>
            </a:r>
          </a:p>
          <a:p>
            <a:pPr marL="0" indent="0" algn="just">
              <a:buNone/>
            </a:pPr>
            <a:endParaRPr lang="en-US" sz="3600" b="1" dirty="0">
              <a:latin typeface="Gill Sans MT"/>
            </a:endParaRPr>
          </a:p>
          <a:p>
            <a:pPr algn="just"/>
            <a:endParaRPr lang="en-US" sz="3600" dirty="0">
              <a:latin typeface="Gill Sans MT"/>
            </a:endParaRPr>
          </a:p>
          <a:p>
            <a:pPr algn="just"/>
            <a:endParaRPr lang="en-US" sz="4000" dirty="0">
              <a:latin typeface="Gill Sans MT"/>
            </a:endParaRPr>
          </a:p>
          <a:p>
            <a:pPr algn="just"/>
            <a:endParaRPr lang="en-US" sz="3600" b="1" dirty="0">
              <a:latin typeface="Gill Sans MT"/>
            </a:endParaRPr>
          </a:p>
          <a:p>
            <a:pPr algn="just"/>
            <a:endParaRPr lang="en-US" sz="4000" b="1" dirty="0">
              <a:latin typeface="Gill Sans MT"/>
            </a:endParaRPr>
          </a:p>
          <a:p>
            <a:pPr>
              <a:buNone/>
            </a:pPr>
            <a:endParaRPr lang="en-US" sz="3600" b="1" dirty="0">
              <a:latin typeface="Gill Sans MT"/>
            </a:endParaRPr>
          </a:p>
          <a:p>
            <a:pPr algn="just"/>
            <a:endParaRPr lang="en-US" sz="3600" dirty="0">
              <a:latin typeface="Gill Sans MT"/>
            </a:endParaRPr>
          </a:p>
        </p:txBody>
      </p:sp>
    </p:spTree>
    <p:extLst>
      <p:ext uri="{BB962C8B-B14F-4D97-AF65-F5344CB8AC3E}">
        <p14:creationId xmlns:p14="http://schemas.microsoft.com/office/powerpoint/2010/main" val="2048052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8567-8E3F-0A57-7322-1517358AE50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7FF4D60-BD66-81F4-8ED7-F6D8B6AEDA57}"/>
                  </a:ext>
                </a:extLst>
              </p:cNvPr>
              <p:cNvSpPr>
                <a:spLocks noGrp="1"/>
              </p:cNvSpPr>
              <p:nvPr>
                <p:ph type="title"/>
              </p:nvPr>
            </p:nvSpPr>
            <p:spPr>
              <a:xfrm>
                <a:off x="274188" y="194607"/>
                <a:ext cx="15040454" cy="1595839"/>
              </a:xfrm>
            </p:spPr>
            <p:txBody>
              <a:bodyPr>
                <a:normAutofit/>
              </a:bodyPr>
              <a:lstStyle/>
              <a:p>
                <a:r>
                  <a:rPr lang="en-US" cap="all" dirty="0" smtClean="0">
                    <a:latin typeface="Gill Sans MT"/>
                  </a:rPr>
                  <a:t>Limitations of </a:t>
                </a:r>
                <a14:m>
                  <m:oMath xmlns:m="http://schemas.openxmlformats.org/officeDocument/2006/math">
                    <m:r>
                      <a:rPr lang="en-US" i="1" cap="all" dirty="0" smtClean="0">
                        <a:latin typeface="Cambria Math" panose="02040503050406030204" pitchFamily="18" charset="0"/>
                      </a:rPr>
                      <m:t>1</m:t>
                    </m:r>
                  </m:oMath>
                </a14:m>
                <a:r>
                  <a:rPr lang="en-US" cap="all" dirty="0" smtClean="0">
                    <a:latin typeface="Gill Sans MT"/>
                  </a:rPr>
                  <a:t>G</a:t>
                </a:r>
                <a:endParaRPr lang="en-US" cap="all" dirty="0">
                  <a:latin typeface="Gill Sans MT"/>
                </a:endParaRPr>
              </a:p>
            </p:txBody>
          </p:sp>
        </mc:Choice>
        <mc:Fallback xmlns="">
          <p:sp>
            <p:nvSpPr>
              <p:cNvPr id="2" name="Title 1">
                <a:extLst>
                  <a:ext uri="{FF2B5EF4-FFF2-40B4-BE49-F238E27FC236}">
                    <a16:creationId xmlns:a16="http://schemas.microsoft.com/office/drawing/2014/main" id="{B7FF4D60-BD66-81F4-8ED7-F6D8B6AEDA57}"/>
                  </a:ext>
                </a:extLst>
              </p:cNvPr>
              <p:cNvSpPr>
                <a:spLocks noGrp="1" noRot="1" noChangeAspect="1" noMove="1" noResize="1" noEditPoints="1" noAdjustHandles="1" noChangeArrowheads="1" noChangeShapeType="1" noTextEdit="1"/>
              </p:cNvSpPr>
              <p:nvPr>
                <p:ph type="title"/>
              </p:nvPr>
            </p:nvSpPr>
            <p:spPr>
              <a:xfrm>
                <a:off x="274188" y="194607"/>
                <a:ext cx="15040454" cy="1595839"/>
              </a:xfrm>
              <a:blipFill>
                <a:blip r:embed="rId3"/>
                <a:stretch>
                  <a:fillRect l="-1662"/>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8D790218-EF99-211D-150C-AD41D791D52E}"/>
              </a:ext>
            </a:extLst>
          </p:cNvPr>
          <p:cNvSpPr>
            <a:spLocks noGrp="1"/>
          </p:cNvSpPr>
          <p:nvPr>
            <p:ph idx="1"/>
          </p:nvPr>
        </p:nvSpPr>
        <p:spPr>
          <a:xfrm>
            <a:off x="280450" y="2129387"/>
            <a:ext cx="15839611" cy="4723729"/>
          </a:xfrm>
        </p:spPr>
        <p:txBody>
          <a:bodyPr vert="horz" lIns="91440" tIns="45720" rIns="91440" bIns="45720" rtlCol="0" anchor="t">
            <a:noAutofit/>
          </a:bodyPr>
          <a:lstStyle/>
          <a:p>
            <a:pPr marL="1028700" indent="-571500" algn="just"/>
            <a:r>
              <a:rPr lang="en-US" sz="3600" dirty="0" smtClean="0">
                <a:solidFill>
                  <a:srgbClr val="000000"/>
                </a:solidFill>
                <a:latin typeface="Gill Sans MT"/>
                <a:ea typeface="+mn-lt"/>
                <a:cs typeface="+mn-lt"/>
              </a:rPr>
              <a:t>Low </a:t>
            </a:r>
            <a:r>
              <a:rPr lang="en-US" sz="3600" dirty="0">
                <a:solidFill>
                  <a:srgbClr val="000000"/>
                </a:solidFill>
                <a:latin typeface="Gill Sans MT"/>
                <a:ea typeface="+mn-lt"/>
                <a:cs typeface="+mn-lt"/>
              </a:rPr>
              <a:t>capacity</a:t>
            </a:r>
          </a:p>
          <a:p>
            <a:pPr marL="1028700" indent="-571500" algn="just"/>
            <a:r>
              <a:rPr lang="en-US" sz="3600" dirty="0">
                <a:solidFill>
                  <a:srgbClr val="000000"/>
                </a:solidFill>
                <a:latin typeface="Gill Sans MT"/>
                <a:ea typeface="+mn-lt"/>
                <a:cs typeface="+mn-lt"/>
              </a:rPr>
              <a:t>Poor voice quality</a:t>
            </a:r>
          </a:p>
          <a:p>
            <a:pPr marL="1028700" indent="-571500" algn="just"/>
            <a:r>
              <a:rPr lang="en-US" sz="3600" dirty="0">
                <a:solidFill>
                  <a:srgbClr val="000000"/>
                </a:solidFill>
                <a:latin typeface="Gill Sans MT"/>
                <a:ea typeface="+mn-lt"/>
                <a:cs typeface="+mn-lt"/>
              </a:rPr>
              <a:t>Poor battery life</a:t>
            </a:r>
          </a:p>
          <a:p>
            <a:pPr marL="1028700" indent="-571500" algn="just"/>
            <a:r>
              <a:rPr lang="en-US" sz="3600" dirty="0">
                <a:solidFill>
                  <a:srgbClr val="000000"/>
                </a:solidFill>
                <a:latin typeface="Gill Sans MT"/>
                <a:ea typeface="+mn-lt"/>
                <a:cs typeface="+mn-lt"/>
              </a:rPr>
              <a:t>Large phone size</a:t>
            </a:r>
          </a:p>
          <a:p>
            <a:pPr marL="1028700" indent="-571500" algn="just"/>
            <a:r>
              <a:rPr lang="en-US" sz="3600" dirty="0">
                <a:solidFill>
                  <a:srgbClr val="000000"/>
                </a:solidFill>
                <a:latin typeface="Gill Sans MT"/>
                <a:ea typeface="+mn-lt"/>
                <a:cs typeface="+mn-lt"/>
              </a:rPr>
              <a:t>No security</a:t>
            </a:r>
            <a:endParaRPr lang="en-US" sz="3600" dirty="0">
              <a:latin typeface="Gill Sans MT"/>
            </a:endParaRPr>
          </a:p>
          <a:p>
            <a:pPr algn="just"/>
            <a:endParaRPr lang="en-US" sz="3600" dirty="0">
              <a:latin typeface="Gill Sans MT"/>
            </a:endParaRPr>
          </a:p>
          <a:p>
            <a:pPr algn="just"/>
            <a:endParaRPr lang="en-US" sz="3600" dirty="0">
              <a:solidFill>
                <a:srgbClr val="000000"/>
              </a:solidFill>
              <a:latin typeface="Gill Sans MT"/>
            </a:endParaRPr>
          </a:p>
          <a:p>
            <a:pPr marL="571500" indent="-571500" algn="just"/>
            <a:endParaRPr lang="en-US" sz="3600" dirty="0">
              <a:latin typeface="Gill Sans MT"/>
            </a:endParaRPr>
          </a:p>
        </p:txBody>
      </p:sp>
    </p:spTree>
    <p:extLst>
      <p:ext uri="{BB962C8B-B14F-4D97-AF65-F5344CB8AC3E}">
        <p14:creationId xmlns:p14="http://schemas.microsoft.com/office/powerpoint/2010/main" val="3728015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8567-8E3F-0A57-7322-1517358AE50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7FF4D60-BD66-81F4-8ED7-F6D8B6AEDA57}"/>
                  </a:ext>
                </a:extLst>
              </p:cNvPr>
              <p:cNvSpPr>
                <a:spLocks noGrp="1"/>
              </p:cNvSpPr>
              <p:nvPr>
                <p:ph type="title"/>
              </p:nvPr>
            </p:nvSpPr>
            <p:spPr>
              <a:xfrm>
                <a:off x="274188" y="194607"/>
                <a:ext cx="6795685" cy="1595839"/>
              </a:xfrm>
            </p:spPr>
            <p:txBody>
              <a:bodyPr>
                <a:normAutofit/>
              </a:bodyPr>
              <a:lstStyle/>
              <a:p>
                <a14:m>
                  <m:oMath xmlns:m="http://schemas.openxmlformats.org/officeDocument/2006/math">
                    <m:r>
                      <a:rPr lang="en-US" b="0" i="1" cap="all" smtClean="0">
                        <a:latin typeface="Cambria Math" panose="02040503050406030204" pitchFamily="18" charset="0"/>
                      </a:rPr>
                      <m:t>2</m:t>
                    </m:r>
                  </m:oMath>
                </a14:m>
                <a:r>
                  <a:rPr lang="en-US" cap="all" dirty="0" smtClean="0">
                    <a:latin typeface="Gill Sans MT"/>
                  </a:rPr>
                  <a:t>G: Architecture of GSM Network</a:t>
                </a:r>
                <a:endParaRPr lang="en-US" cap="all" dirty="0">
                  <a:latin typeface="Gill Sans MT"/>
                </a:endParaRPr>
              </a:p>
            </p:txBody>
          </p:sp>
        </mc:Choice>
        <mc:Fallback xmlns="">
          <p:sp>
            <p:nvSpPr>
              <p:cNvPr id="2" name="Title 1">
                <a:extLst>
                  <a:ext uri="{FF2B5EF4-FFF2-40B4-BE49-F238E27FC236}">
                    <a16:creationId xmlns:a16="http://schemas.microsoft.com/office/drawing/2014/main" id="{B7FF4D60-BD66-81F4-8ED7-F6D8B6AEDA57}"/>
                  </a:ext>
                </a:extLst>
              </p:cNvPr>
              <p:cNvSpPr>
                <a:spLocks noGrp="1" noRot="1" noChangeAspect="1" noMove="1" noResize="1" noEditPoints="1" noAdjustHandles="1" noChangeArrowheads="1" noChangeShapeType="1" noTextEdit="1"/>
              </p:cNvSpPr>
              <p:nvPr>
                <p:ph type="title"/>
              </p:nvPr>
            </p:nvSpPr>
            <p:spPr>
              <a:xfrm>
                <a:off x="274188" y="194607"/>
                <a:ext cx="6795685" cy="1595839"/>
              </a:xfrm>
              <a:blipFill>
                <a:blip r:embed="rId3"/>
                <a:stretch>
                  <a:fillRect l="-3677" t="-2672" b="-8779"/>
                </a:stretch>
              </a:blipFill>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rot="16200000">
            <a:off x="8404964" y="-850549"/>
            <a:ext cx="6919870" cy="9010182"/>
          </a:xfrm>
          <a:prstGeom prst="rect">
            <a:avLst/>
          </a:prstGeom>
        </p:spPr>
      </p:pic>
    </p:spTree>
    <p:extLst>
      <p:ext uri="{BB962C8B-B14F-4D97-AF65-F5344CB8AC3E}">
        <p14:creationId xmlns:p14="http://schemas.microsoft.com/office/powerpoint/2010/main" val="2512987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8567-8E3F-0A57-7322-1517358AE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F4D60-BD66-81F4-8ED7-F6D8B6AEDA57}"/>
              </a:ext>
            </a:extLst>
          </p:cNvPr>
          <p:cNvSpPr>
            <a:spLocks noGrp="1"/>
          </p:cNvSpPr>
          <p:nvPr>
            <p:ph type="title"/>
          </p:nvPr>
        </p:nvSpPr>
        <p:spPr>
          <a:xfrm>
            <a:off x="274188" y="194607"/>
            <a:ext cx="15040454" cy="1595839"/>
          </a:xfrm>
        </p:spPr>
        <p:txBody>
          <a:bodyPr>
            <a:normAutofit/>
          </a:bodyPr>
          <a:lstStyle/>
          <a:p>
            <a:r>
              <a:rPr lang="en-US" cap="all" dirty="0" smtClean="0">
                <a:latin typeface="Gill Sans MT"/>
              </a:rPr>
              <a:t>Function of GSM components</a:t>
            </a:r>
            <a:endParaRPr lang="en-US" cap="all" dirty="0">
              <a:latin typeface="Gill Sans MT"/>
            </a:endParaRPr>
          </a:p>
        </p:txBody>
      </p:sp>
      <p:sp>
        <p:nvSpPr>
          <p:cNvPr id="3" name="Content Placeholder 2">
            <a:extLst>
              <a:ext uri="{FF2B5EF4-FFF2-40B4-BE49-F238E27FC236}">
                <a16:creationId xmlns:a16="http://schemas.microsoft.com/office/drawing/2014/main" id="{8D790218-EF99-211D-150C-AD41D791D52E}"/>
              </a:ext>
            </a:extLst>
          </p:cNvPr>
          <p:cNvSpPr>
            <a:spLocks noGrp="1"/>
          </p:cNvSpPr>
          <p:nvPr>
            <p:ph idx="1"/>
          </p:nvPr>
        </p:nvSpPr>
        <p:spPr>
          <a:xfrm>
            <a:off x="280450" y="2129387"/>
            <a:ext cx="15839611" cy="4723729"/>
          </a:xfrm>
        </p:spPr>
        <p:txBody>
          <a:bodyPr vert="horz" lIns="91440" tIns="45720" rIns="91440" bIns="45720" rtlCol="0" anchor="t">
            <a:noAutofit/>
          </a:bodyPr>
          <a:lstStyle/>
          <a:p>
            <a:pPr marL="1028700" indent="-571500" algn="just"/>
            <a:r>
              <a:rPr lang="en-US" sz="3600" b="1" dirty="0">
                <a:solidFill>
                  <a:srgbClr val="000000"/>
                </a:solidFill>
                <a:latin typeface="Gill Sans MT"/>
                <a:ea typeface="+mn-lt"/>
                <a:cs typeface="+mn-lt"/>
              </a:rPr>
              <a:t>Base Station Sub-system</a:t>
            </a:r>
          </a:p>
          <a:p>
            <a:pPr marL="1485900" lvl="1" indent="-571500" algn="just">
              <a:buFont typeface="+mj-lt"/>
              <a:buAutoNum type="arabicPeriod"/>
            </a:pPr>
            <a:r>
              <a:rPr lang="en-US" sz="3200" dirty="0">
                <a:solidFill>
                  <a:srgbClr val="000000"/>
                </a:solidFill>
                <a:latin typeface="Gill Sans MT"/>
                <a:ea typeface="+mn-lt"/>
                <a:cs typeface="+mn-lt"/>
              </a:rPr>
              <a:t>Handles traffic b/w MS and NSS</a:t>
            </a:r>
          </a:p>
          <a:p>
            <a:pPr marL="1485900" lvl="1" indent="-571500" algn="just">
              <a:buFont typeface="+mj-lt"/>
              <a:buAutoNum type="arabicPeriod"/>
            </a:pPr>
            <a:r>
              <a:rPr lang="en-US" sz="3200" dirty="0" smtClean="0">
                <a:solidFill>
                  <a:srgbClr val="000000"/>
                </a:solidFill>
                <a:latin typeface="Gill Sans MT"/>
                <a:ea typeface="+mn-lt"/>
                <a:cs typeface="+mn-lt"/>
              </a:rPr>
              <a:t>Two </a:t>
            </a:r>
            <a:r>
              <a:rPr lang="en-US" sz="3200" dirty="0">
                <a:solidFill>
                  <a:srgbClr val="000000"/>
                </a:solidFill>
                <a:latin typeface="Gill Sans MT"/>
                <a:ea typeface="+mn-lt"/>
                <a:cs typeface="+mn-lt"/>
              </a:rPr>
              <a:t>main components: Base Transceiver Station (handle communication to ME) and Base Station Controller (Allocate time slots b/w BTS and ME)</a:t>
            </a:r>
            <a:endParaRPr lang="en-US" sz="3200" dirty="0">
              <a:latin typeface="Gill Sans MT"/>
            </a:endParaRPr>
          </a:p>
          <a:p>
            <a:pPr lvl="1" algn="just"/>
            <a:r>
              <a:rPr lang="en-US" sz="3600" b="1" dirty="0">
                <a:solidFill>
                  <a:srgbClr val="000000"/>
                </a:solidFill>
                <a:latin typeface="Gill Sans MT"/>
                <a:ea typeface="+mn-lt"/>
                <a:cs typeface="+mn-lt"/>
              </a:rPr>
              <a:t>Network Support Sub-system</a:t>
            </a:r>
          </a:p>
          <a:p>
            <a:pPr marL="1428750" lvl="2" indent="-514350" algn="just">
              <a:buFont typeface="+mj-lt"/>
              <a:buAutoNum type="arabicPeriod"/>
            </a:pPr>
            <a:r>
              <a:rPr lang="en-US" sz="3200" dirty="0">
                <a:solidFill>
                  <a:srgbClr val="000000"/>
                </a:solidFill>
                <a:latin typeface="Gill Sans MT"/>
                <a:ea typeface="+mn-lt"/>
                <a:cs typeface="+mn-lt"/>
              </a:rPr>
              <a:t>It tracks the location of callers to enable cellular services</a:t>
            </a:r>
          </a:p>
          <a:p>
            <a:pPr marL="1428750" lvl="2" indent="-514350" algn="just">
              <a:buFont typeface="+mj-lt"/>
              <a:buAutoNum type="arabicPeriod"/>
            </a:pPr>
            <a:r>
              <a:rPr lang="en-US" sz="3200" dirty="0">
                <a:solidFill>
                  <a:srgbClr val="000000"/>
                </a:solidFill>
                <a:latin typeface="Gill Sans MT"/>
                <a:ea typeface="+mn-lt"/>
                <a:cs typeface="+mn-lt"/>
              </a:rPr>
              <a:t>Five main components: </a:t>
            </a:r>
            <a:endParaRPr lang="en-US" sz="3200" dirty="0" smtClean="0">
              <a:solidFill>
                <a:srgbClr val="000000"/>
              </a:solidFill>
              <a:latin typeface="Gill Sans MT"/>
              <a:ea typeface="+mn-lt"/>
              <a:cs typeface="+mn-lt"/>
            </a:endParaRPr>
          </a:p>
          <a:p>
            <a:pPr marL="1885950" lvl="3" indent="-514350" algn="just">
              <a:buFont typeface="+mj-lt"/>
              <a:buAutoNum type="alphaLcParenR"/>
            </a:pPr>
            <a:r>
              <a:rPr lang="en-US" sz="3000" b="1" dirty="0" smtClean="0">
                <a:solidFill>
                  <a:srgbClr val="000000"/>
                </a:solidFill>
                <a:latin typeface="Gill Sans MT"/>
                <a:ea typeface="+mn-lt"/>
                <a:cs typeface="+mn-lt"/>
              </a:rPr>
              <a:t>Mobile </a:t>
            </a:r>
            <a:r>
              <a:rPr lang="en-US" sz="3000" b="1" dirty="0">
                <a:solidFill>
                  <a:srgbClr val="000000"/>
                </a:solidFill>
                <a:latin typeface="Gill Sans MT"/>
                <a:ea typeface="+mn-lt"/>
                <a:cs typeface="+mn-lt"/>
              </a:rPr>
              <a:t>Switching Center </a:t>
            </a:r>
            <a:r>
              <a:rPr lang="en-US" sz="3000" dirty="0">
                <a:solidFill>
                  <a:srgbClr val="000000"/>
                </a:solidFill>
                <a:latin typeface="Gill Sans MT"/>
                <a:ea typeface="+mn-lt"/>
                <a:cs typeface="+mn-lt"/>
              </a:rPr>
              <a:t>(Performs call setup, call release, call tracing, call forward and short message services</a:t>
            </a:r>
            <a:r>
              <a:rPr lang="en-US" sz="3000" dirty="0" smtClean="0">
                <a:solidFill>
                  <a:srgbClr val="000000"/>
                </a:solidFill>
                <a:latin typeface="Gill Sans MT"/>
                <a:ea typeface="+mn-lt"/>
                <a:cs typeface="+mn-lt"/>
              </a:rPr>
              <a:t>)</a:t>
            </a:r>
            <a:endParaRPr lang="en-US" sz="3000" dirty="0">
              <a:solidFill>
                <a:srgbClr val="000000"/>
              </a:solidFill>
              <a:latin typeface="Gill Sans MT"/>
              <a:ea typeface="+mn-lt"/>
              <a:cs typeface="+mn-lt"/>
            </a:endParaRPr>
          </a:p>
        </p:txBody>
      </p:sp>
    </p:spTree>
    <p:extLst>
      <p:ext uri="{BB962C8B-B14F-4D97-AF65-F5344CB8AC3E}">
        <p14:creationId xmlns:p14="http://schemas.microsoft.com/office/powerpoint/2010/main" val="22875176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8567-8E3F-0A57-7322-1517358AE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F4D60-BD66-81F4-8ED7-F6D8B6AEDA57}"/>
              </a:ext>
            </a:extLst>
          </p:cNvPr>
          <p:cNvSpPr>
            <a:spLocks noGrp="1"/>
          </p:cNvSpPr>
          <p:nvPr>
            <p:ph type="title"/>
          </p:nvPr>
        </p:nvSpPr>
        <p:spPr>
          <a:xfrm>
            <a:off x="274188" y="194607"/>
            <a:ext cx="15040454" cy="1595839"/>
          </a:xfrm>
        </p:spPr>
        <p:txBody>
          <a:bodyPr>
            <a:normAutofit/>
          </a:bodyPr>
          <a:lstStyle/>
          <a:p>
            <a:r>
              <a:rPr lang="en-US" cap="all" dirty="0" smtClean="0">
                <a:latin typeface="Gill Sans MT"/>
              </a:rPr>
              <a:t>Function of GSM components</a:t>
            </a:r>
            <a:endParaRPr lang="en-US" cap="all" dirty="0">
              <a:latin typeface="Gill Sans MT"/>
            </a:endParaRPr>
          </a:p>
        </p:txBody>
      </p:sp>
      <p:sp>
        <p:nvSpPr>
          <p:cNvPr id="3" name="Content Placeholder 2">
            <a:extLst>
              <a:ext uri="{FF2B5EF4-FFF2-40B4-BE49-F238E27FC236}">
                <a16:creationId xmlns:a16="http://schemas.microsoft.com/office/drawing/2014/main" id="{8D790218-EF99-211D-150C-AD41D791D52E}"/>
              </a:ext>
            </a:extLst>
          </p:cNvPr>
          <p:cNvSpPr>
            <a:spLocks noGrp="1"/>
          </p:cNvSpPr>
          <p:nvPr>
            <p:ph idx="1"/>
          </p:nvPr>
        </p:nvSpPr>
        <p:spPr>
          <a:xfrm>
            <a:off x="280450" y="2129387"/>
            <a:ext cx="15839611" cy="4723729"/>
          </a:xfrm>
        </p:spPr>
        <p:txBody>
          <a:bodyPr vert="horz" lIns="91440" tIns="45720" rIns="91440" bIns="45720" rtlCol="0" anchor="t">
            <a:noAutofit/>
          </a:bodyPr>
          <a:lstStyle/>
          <a:p>
            <a:pPr lvl="1" algn="just"/>
            <a:r>
              <a:rPr lang="en-US" sz="3600" b="1" dirty="0" smtClean="0">
                <a:solidFill>
                  <a:srgbClr val="000000"/>
                </a:solidFill>
                <a:latin typeface="Gill Sans MT"/>
                <a:ea typeface="+mn-lt"/>
                <a:cs typeface="+mn-lt"/>
              </a:rPr>
              <a:t>Network </a:t>
            </a:r>
            <a:r>
              <a:rPr lang="en-US" sz="3600" b="1" dirty="0">
                <a:solidFill>
                  <a:srgbClr val="000000"/>
                </a:solidFill>
                <a:latin typeface="Gill Sans MT"/>
                <a:ea typeface="+mn-lt"/>
                <a:cs typeface="+mn-lt"/>
              </a:rPr>
              <a:t>Support Sub-system</a:t>
            </a:r>
          </a:p>
          <a:p>
            <a:pPr marL="1428750" lvl="2" indent="-514350" algn="just">
              <a:buFont typeface="+mj-lt"/>
              <a:buAutoNum type="alphaLcParenR" startAt="2"/>
            </a:pPr>
            <a:r>
              <a:rPr lang="en-US" sz="3200" b="1" dirty="0">
                <a:solidFill>
                  <a:srgbClr val="000000"/>
                </a:solidFill>
                <a:latin typeface="Gill Sans MT"/>
                <a:ea typeface="+mn-lt"/>
                <a:cs typeface="+mn-lt"/>
              </a:rPr>
              <a:t>Home Location Register</a:t>
            </a:r>
            <a:r>
              <a:rPr lang="en-US" sz="3200" dirty="0">
                <a:solidFill>
                  <a:srgbClr val="000000"/>
                </a:solidFill>
                <a:latin typeface="Gill Sans MT"/>
                <a:ea typeface="+mn-lt"/>
                <a:cs typeface="+mn-lt"/>
              </a:rPr>
              <a:t>( Subscriber's ID, Plan, Caller tune, Location authentication using SIM cards)</a:t>
            </a:r>
          </a:p>
          <a:p>
            <a:pPr marL="1428750" lvl="2" indent="-514350" algn="just">
              <a:buFont typeface="+mj-lt"/>
              <a:buAutoNum type="alphaLcParenR" startAt="2"/>
            </a:pPr>
            <a:r>
              <a:rPr lang="en-US" sz="3200" b="1" dirty="0">
                <a:solidFill>
                  <a:srgbClr val="000000"/>
                </a:solidFill>
                <a:latin typeface="Gill Sans MT"/>
                <a:ea typeface="+mn-lt"/>
                <a:cs typeface="+mn-lt"/>
              </a:rPr>
              <a:t>Visitor Location Register</a:t>
            </a:r>
            <a:r>
              <a:rPr lang="en-US" sz="3200" dirty="0">
                <a:solidFill>
                  <a:srgbClr val="000000"/>
                </a:solidFill>
                <a:latin typeface="Gill Sans MT"/>
                <a:ea typeface="+mn-lt"/>
                <a:cs typeface="+mn-lt"/>
              </a:rPr>
              <a:t>( Exact location of all subscribers current present in service area of MSC)</a:t>
            </a:r>
          </a:p>
          <a:p>
            <a:pPr marL="1428750" lvl="2" indent="-514350" algn="just">
              <a:buFont typeface="+mj-lt"/>
              <a:buAutoNum type="alphaLcParenR" startAt="2"/>
            </a:pPr>
            <a:r>
              <a:rPr lang="en-US" sz="3200" b="1" dirty="0">
                <a:solidFill>
                  <a:srgbClr val="000000"/>
                </a:solidFill>
                <a:latin typeface="Gill Sans MT"/>
                <a:ea typeface="+mn-lt"/>
                <a:cs typeface="+mn-lt"/>
              </a:rPr>
              <a:t>Equipment Identification Register</a:t>
            </a:r>
            <a:r>
              <a:rPr lang="en-US" sz="3200" dirty="0">
                <a:solidFill>
                  <a:srgbClr val="000000"/>
                </a:solidFill>
                <a:latin typeface="Gill Sans MT"/>
                <a:ea typeface="+mn-lt"/>
                <a:cs typeface="+mn-lt"/>
              </a:rPr>
              <a:t>(Database with records of allowed and banned ME)</a:t>
            </a:r>
          </a:p>
          <a:p>
            <a:pPr marL="1428750" lvl="2" indent="-514350" algn="just">
              <a:buFont typeface="+mj-lt"/>
              <a:buAutoNum type="alphaLcParenR" startAt="2"/>
            </a:pPr>
            <a:r>
              <a:rPr lang="en-US" sz="3200" b="1" dirty="0">
                <a:solidFill>
                  <a:srgbClr val="000000"/>
                </a:solidFill>
                <a:latin typeface="Gill Sans MT"/>
                <a:ea typeface="+mn-lt"/>
                <a:cs typeface="+mn-lt"/>
              </a:rPr>
              <a:t>Authentication Center</a:t>
            </a:r>
            <a:r>
              <a:rPr lang="en-US" sz="3200" dirty="0">
                <a:solidFill>
                  <a:srgbClr val="000000"/>
                </a:solidFill>
                <a:latin typeface="Gill Sans MT"/>
                <a:ea typeface="+mn-lt"/>
                <a:cs typeface="+mn-lt"/>
              </a:rPr>
              <a:t>( Authenticate user in the network)</a:t>
            </a:r>
          </a:p>
        </p:txBody>
      </p:sp>
    </p:spTree>
    <p:extLst>
      <p:ext uri="{BB962C8B-B14F-4D97-AF65-F5344CB8AC3E}">
        <p14:creationId xmlns:p14="http://schemas.microsoft.com/office/powerpoint/2010/main" val="28776927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8567-8E3F-0A57-7322-1517358AE50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7FF4D60-BD66-81F4-8ED7-F6D8B6AEDA57}"/>
                  </a:ext>
                </a:extLst>
              </p:cNvPr>
              <p:cNvSpPr>
                <a:spLocks noGrp="1"/>
              </p:cNvSpPr>
              <p:nvPr>
                <p:ph type="title"/>
              </p:nvPr>
            </p:nvSpPr>
            <p:spPr>
              <a:xfrm>
                <a:off x="274188" y="194607"/>
                <a:ext cx="13185334" cy="1595839"/>
              </a:xfrm>
            </p:spPr>
            <p:txBody>
              <a:bodyPr>
                <a:normAutofit/>
              </a:bodyPr>
              <a:lstStyle/>
              <a:p>
                <a14:m>
                  <m:oMath xmlns:m="http://schemas.openxmlformats.org/officeDocument/2006/math">
                    <m:r>
                      <a:rPr lang="en-US" b="0" i="1" cap="all" smtClean="0">
                        <a:latin typeface="Cambria Math" panose="02040503050406030204" pitchFamily="18" charset="0"/>
                      </a:rPr>
                      <m:t>3</m:t>
                    </m:r>
                  </m:oMath>
                </a14:m>
                <a:r>
                  <a:rPr lang="en-US" cap="all" dirty="0" smtClean="0">
                    <a:latin typeface="Gill Sans MT"/>
                  </a:rPr>
                  <a:t>G: Architecture Network (UMTS)</a:t>
                </a:r>
                <a:endParaRPr lang="en-US" cap="all" dirty="0">
                  <a:latin typeface="Gill Sans MT"/>
                </a:endParaRPr>
              </a:p>
            </p:txBody>
          </p:sp>
        </mc:Choice>
        <mc:Fallback xmlns="">
          <p:sp>
            <p:nvSpPr>
              <p:cNvPr id="2" name="Title 1">
                <a:extLst>
                  <a:ext uri="{FF2B5EF4-FFF2-40B4-BE49-F238E27FC236}">
                    <a16:creationId xmlns:a16="http://schemas.microsoft.com/office/drawing/2014/main" id="{B7FF4D60-BD66-81F4-8ED7-F6D8B6AEDA57}"/>
                  </a:ext>
                </a:extLst>
              </p:cNvPr>
              <p:cNvSpPr>
                <a:spLocks noGrp="1" noRot="1" noChangeAspect="1" noMove="1" noResize="1" noEditPoints="1" noAdjustHandles="1" noChangeArrowheads="1" noChangeShapeType="1" noTextEdit="1"/>
              </p:cNvSpPr>
              <p:nvPr>
                <p:ph type="title"/>
              </p:nvPr>
            </p:nvSpPr>
            <p:spPr>
              <a:xfrm>
                <a:off x="274188" y="194607"/>
                <a:ext cx="13185334" cy="1595839"/>
              </a:xfrm>
              <a:blipFill>
                <a:blip r:embed="rId3"/>
                <a:stretch>
                  <a:fillRect/>
                </a:stretch>
              </a:blipFill>
            </p:spPr>
            <p:txBody>
              <a:bodyPr/>
              <a:lstStyle/>
              <a:p>
                <a:r>
                  <a:rPr lang="en-US">
                    <a:noFill/>
                  </a:rPr>
                  <a:t> </a:t>
                </a:r>
              </a:p>
            </p:txBody>
          </p:sp>
        </mc:Fallback>
      </mc:AlternateContent>
      <p:pic>
        <p:nvPicPr>
          <p:cNvPr id="3" name="Picture 2"/>
          <p:cNvPicPr>
            <a:picLocks noChangeAspect="1"/>
          </p:cNvPicPr>
          <p:nvPr/>
        </p:nvPicPr>
        <p:blipFill>
          <a:blip r:embed="rId4"/>
          <a:stretch>
            <a:fillRect/>
          </a:stretch>
        </p:blipFill>
        <p:spPr>
          <a:xfrm>
            <a:off x="1906859" y="2118732"/>
            <a:ext cx="13626789" cy="4683512"/>
          </a:xfrm>
          <a:prstGeom prst="rect">
            <a:avLst/>
          </a:prstGeom>
        </p:spPr>
      </p:pic>
    </p:spTree>
    <p:extLst>
      <p:ext uri="{BB962C8B-B14F-4D97-AF65-F5344CB8AC3E}">
        <p14:creationId xmlns:p14="http://schemas.microsoft.com/office/powerpoint/2010/main" val="2014067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8567-8E3F-0A57-7322-1517358AE50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7FF4D60-BD66-81F4-8ED7-F6D8B6AEDA57}"/>
                  </a:ext>
                </a:extLst>
              </p:cNvPr>
              <p:cNvSpPr>
                <a:spLocks noGrp="1"/>
              </p:cNvSpPr>
              <p:nvPr>
                <p:ph type="title"/>
              </p:nvPr>
            </p:nvSpPr>
            <p:spPr>
              <a:xfrm>
                <a:off x="274188" y="194607"/>
                <a:ext cx="13185334" cy="1595839"/>
              </a:xfrm>
            </p:spPr>
            <p:txBody>
              <a:bodyPr>
                <a:normAutofit/>
              </a:bodyPr>
              <a:lstStyle/>
              <a:p>
                <a14:m>
                  <m:oMath xmlns:m="http://schemas.openxmlformats.org/officeDocument/2006/math">
                    <m:r>
                      <a:rPr lang="en-US" b="0" i="1" cap="all" smtClean="0">
                        <a:latin typeface="Cambria Math" panose="02040503050406030204" pitchFamily="18" charset="0"/>
                      </a:rPr>
                      <m:t>4</m:t>
                    </m:r>
                  </m:oMath>
                </a14:m>
                <a:r>
                  <a:rPr lang="en-US" cap="all" dirty="0" smtClean="0">
                    <a:latin typeface="Gill Sans MT"/>
                  </a:rPr>
                  <a:t>G: Architecture Network (UMTS)</a:t>
                </a:r>
                <a:endParaRPr lang="en-US" cap="all" dirty="0">
                  <a:latin typeface="Gill Sans MT"/>
                </a:endParaRPr>
              </a:p>
            </p:txBody>
          </p:sp>
        </mc:Choice>
        <mc:Fallback xmlns="">
          <p:sp>
            <p:nvSpPr>
              <p:cNvPr id="2" name="Title 1">
                <a:extLst>
                  <a:ext uri="{FF2B5EF4-FFF2-40B4-BE49-F238E27FC236}">
                    <a16:creationId xmlns:a16="http://schemas.microsoft.com/office/drawing/2014/main" id="{B7FF4D60-BD66-81F4-8ED7-F6D8B6AEDA57}"/>
                  </a:ext>
                </a:extLst>
              </p:cNvPr>
              <p:cNvSpPr>
                <a:spLocks noGrp="1" noRot="1" noChangeAspect="1" noMove="1" noResize="1" noEditPoints="1" noAdjustHandles="1" noChangeArrowheads="1" noChangeShapeType="1" noTextEdit="1"/>
              </p:cNvSpPr>
              <p:nvPr>
                <p:ph type="title"/>
              </p:nvPr>
            </p:nvSpPr>
            <p:spPr>
              <a:xfrm>
                <a:off x="274188" y="194607"/>
                <a:ext cx="13185334" cy="1595839"/>
              </a:xfrm>
              <a:blipFill>
                <a:blip r:embed="rId3"/>
                <a:stretch>
                  <a:fillRect/>
                </a:stretch>
              </a:blipFill>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1851102" y="2183002"/>
            <a:ext cx="12768147" cy="4708452"/>
          </a:xfrm>
          <a:prstGeom prst="rect">
            <a:avLst/>
          </a:prstGeom>
        </p:spPr>
      </p:pic>
    </p:spTree>
    <p:extLst>
      <p:ext uri="{BB962C8B-B14F-4D97-AF65-F5344CB8AC3E}">
        <p14:creationId xmlns:p14="http://schemas.microsoft.com/office/powerpoint/2010/main" val="35447973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62020-C47F-6321-3042-D9478BF5BA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E36593-D375-19FC-52CC-F6B07F902477}"/>
              </a:ext>
            </a:extLst>
          </p:cNvPr>
          <p:cNvSpPr>
            <a:spLocks noGrp="1"/>
          </p:cNvSpPr>
          <p:nvPr>
            <p:ph idx="4294967295"/>
          </p:nvPr>
        </p:nvSpPr>
        <p:spPr>
          <a:xfrm>
            <a:off x="311715" y="2128838"/>
            <a:ext cx="15838488" cy="4724400"/>
          </a:xfrm>
        </p:spPr>
        <p:txBody>
          <a:bodyPr vert="horz" lIns="91440" tIns="45720" rIns="91440" bIns="45720" rtlCol="0" anchor="ctr">
            <a:noAutofit/>
          </a:bodyPr>
          <a:lstStyle/>
          <a:p>
            <a:pPr marL="457200" indent="0" algn="ctr">
              <a:buNone/>
            </a:pPr>
            <a:endParaRPr lang="en-US" sz="4400" dirty="0">
              <a:solidFill>
                <a:srgbClr val="000000"/>
              </a:solidFill>
              <a:latin typeface="Gill Sans MT"/>
              <a:ea typeface="+mn-lt"/>
              <a:cs typeface="+mn-lt"/>
            </a:endParaRPr>
          </a:p>
          <a:p>
            <a:pPr marL="457200" indent="0" algn="ctr">
              <a:buNone/>
            </a:pPr>
            <a:endParaRPr lang="en-US" sz="4400" dirty="0">
              <a:solidFill>
                <a:srgbClr val="000000"/>
              </a:solidFill>
              <a:latin typeface="Gill Sans MT"/>
              <a:ea typeface="+mn-lt"/>
              <a:cs typeface="+mn-lt"/>
            </a:endParaRPr>
          </a:p>
          <a:p>
            <a:pPr marL="457200" indent="0" algn="ctr">
              <a:buNone/>
            </a:pPr>
            <a:endParaRPr lang="en-US" sz="4400" dirty="0">
              <a:solidFill>
                <a:srgbClr val="000000"/>
              </a:solidFill>
              <a:latin typeface="Gill Sans MT"/>
              <a:ea typeface="+mn-lt"/>
              <a:cs typeface="+mn-lt"/>
            </a:endParaRPr>
          </a:p>
          <a:p>
            <a:pPr marL="457200" indent="0" algn="ctr">
              <a:buNone/>
            </a:pPr>
            <a:endParaRPr lang="en-US" sz="4400" dirty="0">
              <a:solidFill>
                <a:srgbClr val="000000"/>
              </a:solidFill>
              <a:latin typeface="Gill Sans MT"/>
              <a:ea typeface="+mn-lt"/>
              <a:cs typeface="+mn-lt"/>
            </a:endParaRPr>
          </a:p>
          <a:p>
            <a:pPr marL="457200" indent="0" algn="ctr">
              <a:buNone/>
            </a:pPr>
            <a:r>
              <a:rPr lang="en-US" sz="4400" dirty="0">
                <a:solidFill>
                  <a:srgbClr val="FF0000"/>
                </a:solidFill>
                <a:latin typeface="Gill Sans MT"/>
                <a:ea typeface="+mn-lt"/>
                <a:cs typeface="+mn-lt"/>
              </a:rPr>
              <a:t>Explain the features of radio communication that are important from a standpoint of software development</a:t>
            </a:r>
            <a:endParaRPr lang="en-US" sz="4400">
              <a:solidFill>
                <a:srgbClr val="FF0000"/>
              </a:solidFill>
              <a:latin typeface="Gill Sans MT"/>
            </a:endParaRPr>
          </a:p>
          <a:p>
            <a:pPr marL="914400" indent="-457200" algn="just">
              <a:buFont typeface="Courier New" panose="020B0604020202020204" pitchFamily="34" charset="0"/>
              <a:buChar char="o"/>
            </a:pPr>
            <a:endParaRPr lang="en-US" sz="3600" dirty="0">
              <a:latin typeface="Gill Sans MT"/>
            </a:endParaRPr>
          </a:p>
          <a:p>
            <a:pPr marL="971550" lvl="1" indent="-514350"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latin typeface="Gill Sans MT"/>
            </a:endParaRPr>
          </a:p>
          <a:p>
            <a:pPr algn="just">
              <a:buFont typeface="Courier New" panose="020B0604020202020204" pitchFamily="34" charset="0"/>
              <a:buChar char="o"/>
            </a:pPr>
            <a:endParaRPr lang="en-US" sz="3600" dirty="0">
              <a:solidFill>
                <a:srgbClr val="000000"/>
              </a:solidFill>
              <a:latin typeface="Gill Sans MT"/>
            </a:endParaRPr>
          </a:p>
          <a:p>
            <a:pPr marL="571500" indent="-571500" algn="just">
              <a:buFont typeface="Courier New" panose="020B0604020202020204" pitchFamily="34" charset="0"/>
              <a:buChar char="o"/>
            </a:pPr>
            <a:endParaRPr lang="en-US" sz="3600" dirty="0">
              <a:latin typeface="Gill Sans MT"/>
            </a:endParaRPr>
          </a:p>
        </p:txBody>
      </p:sp>
    </p:spTree>
    <p:extLst>
      <p:ext uri="{BB962C8B-B14F-4D97-AF65-F5344CB8AC3E}">
        <p14:creationId xmlns:p14="http://schemas.microsoft.com/office/powerpoint/2010/main" val="43913220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B4936-AF59-7E2A-6CC9-4DD1F895E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8E190-C8F1-B1BD-509B-165B4C7EC2AC}"/>
              </a:ext>
            </a:extLst>
          </p:cNvPr>
          <p:cNvSpPr>
            <a:spLocks noGrp="1"/>
          </p:cNvSpPr>
          <p:nvPr>
            <p:ph type="title"/>
          </p:nvPr>
        </p:nvSpPr>
        <p:spPr>
          <a:xfrm>
            <a:off x="274188" y="194607"/>
            <a:ext cx="15040454" cy="1595839"/>
          </a:xfrm>
        </p:spPr>
        <p:txBody>
          <a:bodyPr>
            <a:normAutofit/>
          </a:bodyPr>
          <a:lstStyle/>
          <a:p>
            <a:r>
              <a:rPr lang="en-US" cap="all" dirty="0">
                <a:latin typeface="Gill Sans MT"/>
              </a:rPr>
              <a:t>BANDWIDTH SHARING AND CHANNEL RE-USE</a:t>
            </a:r>
          </a:p>
        </p:txBody>
      </p:sp>
      <p:sp>
        <p:nvSpPr>
          <p:cNvPr id="3" name="Content Placeholder 2">
            <a:extLst>
              <a:ext uri="{FF2B5EF4-FFF2-40B4-BE49-F238E27FC236}">
                <a16:creationId xmlns:a16="http://schemas.microsoft.com/office/drawing/2014/main" id="{DADE2900-BD2D-C73B-B731-4F4FBE218355}"/>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spcAft>
                <a:spcPts val="1000"/>
              </a:spcAft>
            </a:pPr>
            <a:r>
              <a:rPr lang="en-US" sz="3600" dirty="0">
                <a:solidFill>
                  <a:srgbClr val="000000"/>
                </a:solidFill>
                <a:latin typeface="Gill Sans MT"/>
                <a:ea typeface="+mn-lt"/>
                <a:cs typeface="+mn-lt"/>
              </a:rPr>
              <a:t>Bandwidth in radio-based networks is shared among users, leading to more severe limitations compared to wired networks.</a:t>
            </a:r>
            <a:endParaRPr lang="en-US"/>
          </a:p>
          <a:p>
            <a:pPr algn="just">
              <a:spcAft>
                <a:spcPts val="1000"/>
              </a:spcAft>
            </a:pPr>
            <a:r>
              <a:rPr lang="en-US" sz="3600" dirty="0">
                <a:solidFill>
                  <a:srgbClr val="000000"/>
                </a:solidFill>
                <a:latin typeface="Gill Sans MT"/>
                <a:ea typeface="+mn-lt"/>
                <a:cs typeface="+mn-lt"/>
              </a:rPr>
              <a:t>However, channels (frequency or time slots) can be reused if physically distant enough, enabling efficient utilization of available spectrum.</a:t>
            </a:r>
            <a:endParaRPr lang="en-US" sz="3600">
              <a:latin typeface="Gill Sans MT"/>
            </a:endParaRPr>
          </a:p>
          <a:p>
            <a:pPr algn="just">
              <a:spcAft>
                <a:spcPts val="1000"/>
              </a:spcAft>
            </a:pPr>
            <a:r>
              <a:rPr lang="en-US" sz="3600" dirty="0">
                <a:solidFill>
                  <a:srgbClr val="000000"/>
                </a:solidFill>
                <a:latin typeface="Gill Sans MT"/>
                <a:ea typeface="+mn-lt"/>
                <a:cs typeface="+mn-lt"/>
              </a:rPr>
              <a:t>This concept underlies the architecture of wireless systems, which are divided into physical cells that can reuse channels.</a:t>
            </a:r>
          </a:p>
          <a:p>
            <a:pPr algn="just">
              <a:spcAft>
                <a:spcPts val="1000"/>
              </a:spcAft>
            </a:pPr>
            <a:r>
              <a:rPr lang="en-US" sz="3600" dirty="0">
                <a:latin typeface="Gill Sans MT"/>
                <a:ea typeface="+mn-lt"/>
                <a:cs typeface="+mn-lt"/>
              </a:rPr>
              <a:t>Cellular network is organized into multiple low power transmitters each 100w or less</a:t>
            </a:r>
            <a:endParaRPr lang="en-US" sz="3600" dirty="0">
              <a:latin typeface="Gill Sans MT"/>
            </a:endParaRPr>
          </a:p>
        </p:txBody>
      </p:sp>
    </p:spTree>
    <p:extLst>
      <p:ext uri="{BB962C8B-B14F-4D97-AF65-F5344CB8AC3E}">
        <p14:creationId xmlns:p14="http://schemas.microsoft.com/office/powerpoint/2010/main" val="229440716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B4936-AF59-7E2A-6CC9-4DD1F895E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8E190-C8F1-B1BD-509B-165B4C7EC2AC}"/>
              </a:ext>
            </a:extLst>
          </p:cNvPr>
          <p:cNvSpPr>
            <a:spLocks noGrp="1"/>
          </p:cNvSpPr>
          <p:nvPr>
            <p:ph type="title"/>
          </p:nvPr>
        </p:nvSpPr>
        <p:spPr>
          <a:xfrm>
            <a:off x="274188" y="194607"/>
            <a:ext cx="15040454" cy="1595839"/>
          </a:xfrm>
        </p:spPr>
        <p:txBody>
          <a:bodyPr>
            <a:normAutofit/>
          </a:bodyPr>
          <a:lstStyle/>
          <a:p>
            <a:r>
              <a:rPr lang="en-US" cap="all" dirty="0">
                <a:latin typeface="Gill Sans MT"/>
              </a:rPr>
              <a:t>BANDWIDTH SHARING AND CHANNEL RE-USE</a:t>
            </a:r>
          </a:p>
        </p:txBody>
      </p:sp>
      <p:pic>
        <p:nvPicPr>
          <p:cNvPr id="4" name="Content Placeholder 3"/>
          <p:cNvPicPr>
            <a:picLocks noGrp="1" noChangeAspect="1"/>
          </p:cNvPicPr>
          <p:nvPr>
            <p:ph idx="1"/>
          </p:nvPr>
        </p:nvPicPr>
        <p:blipFill>
          <a:blip r:embed="rId3"/>
          <a:stretch>
            <a:fillRect/>
          </a:stretch>
        </p:blipFill>
        <p:spPr>
          <a:xfrm>
            <a:off x="3914078" y="1449659"/>
            <a:ext cx="8352263" cy="5709423"/>
          </a:xfrm>
          <a:prstGeom prst="rect">
            <a:avLst/>
          </a:prstGeom>
        </p:spPr>
      </p:pic>
    </p:spTree>
    <p:extLst>
      <p:ext uri="{BB962C8B-B14F-4D97-AF65-F5344CB8AC3E}">
        <p14:creationId xmlns:p14="http://schemas.microsoft.com/office/powerpoint/2010/main" val="328452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B4936-AF59-7E2A-6CC9-4DD1F895E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8E190-C8F1-B1BD-509B-165B4C7EC2AC}"/>
              </a:ext>
            </a:extLst>
          </p:cNvPr>
          <p:cNvSpPr>
            <a:spLocks noGrp="1"/>
          </p:cNvSpPr>
          <p:nvPr>
            <p:ph type="title"/>
          </p:nvPr>
        </p:nvSpPr>
        <p:spPr>
          <a:xfrm>
            <a:off x="274188" y="194607"/>
            <a:ext cx="15040454" cy="1595839"/>
          </a:xfrm>
        </p:spPr>
        <p:txBody>
          <a:bodyPr>
            <a:normAutofit/>
          </a:bodyPr>
          <a:lstStyle/>
          <a:p>
            <a:r>
              <a:rPr lang="en-US" cap="all" dirty="0" smtClean="0">
                <a:latin typeface="Gill Sans MT"/>
              </a:rPr>
              <a:t>CHANNEL RE-USE TECHNICAL TERMS</a:t>
            </a:r>
            <a:endParaRPr lang="en-US" cap="all" dirty="0">
              <a:latin typeface="Gill Sans MT"/>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DE2900-BD2D-C73B-B731-4F4FBE218355}"/>
                  </a:ext>
                </a:extLst>
              </p:cNvPr>
              <p:cNvSpPr>
                <a:spLocks noGrp="1"/>
              </p:cNvSpPr>
              <p:nvPr>
                <p:ph idx="1"/>
              </p:nvPr>
            </p:nvSpPr>
            <p:spPr>
              <a:xfrm>
                <a:off x="280450" y="2129387"/>
                <a:ext cx="15839611" cy="4983594"/>
              </a:xfrm>
            </p:spPr>
            <p:txBody>
              <a:bodyPr vert="horz" lIns="91440" tIns="45720" rIns="91440" bIns="45720" rtlCol="0" anchor="t">
                <a:noAutofit/>
              </a:bodyPr>
              <a:lstStyle/>
              <a:p>
                <a:pPr marL="0" indent="0" algn="just">
                  <a:spcAft>
                    <a:spcPts val="1000"/>
                  </a:spcAft>
                  <a:buNone/>
                </a:pPr>
                <a:r>
                  <a:rPr lang="en-US" sz="3600" b="1" dirty="0" smtClean="0">
                    <a:solidFill>
                      <a:srgbClr val="000000"/>
                    </a:solidFill>
                    <a:latin typeface="Gill Sans MT"/>
                    <a:ea typeface="+mn-lt"/>
                    <a:cs typeface="+mn-lt"/>
                  </a:rPr>
                  <a:t>Cluster size (N)</a:t>
                </a:r>
              </a:p>
              <a:p>
                <a:pPr algn="just">
                  <a:spcAft>
                    <a:spcPts val="1000"/>
                  </a:spcAft>
                </a:pPr>
                <a:r>
                  <a:rPr lang="en-US" sz="3600" dirty="0">
                    <a:solidFill>
                      <a:srgbClr val="000000"/>
                    </a:solidFill>
                    <a:latin typeface="Gill Sans MT"/>
                    <a:ea typeface="+mn-lt"/>
                    <a:cs typeface="+mn-lt"/>
                  </a:rPr>
                  <a:t>A cluster is the minimum group of cells that collectively use the entire available frequency spectrum without adjacent cells sharing the same frequencies. It is calculated using the shift parameters </a:t>
                </a:r>
                <a14:m>
                  <m:oMath xmlns:m="http://schemas.openxmlformats.org/officeDocument/2006/math">
                    <m:r>
                      <a:rPr lang="en-US" sz="3600" i="1" dirty="0" smtClean="0">
                        <a:solidFill>
                          <a:srgbClr val="000000"/>
                        </a:solidFill>
                        <a:latin typeface="Cambria Math" panose="02040503050406030204" pitchFamily="18" charset="0"/>
                        <a:ea typeface="+mn-lt"/>
                        <a:cs typeface="+mn-lt"/>
                      </a:rPr>
                      <m:t>𝑖</m:t>
                    </m:r>
                  </m:oMath>
                </a14:m>
                <a:r>
                  <a:rPr lang="en-US" sz="3600" dirty="0" smtClean="0">
                    <a:solidFill>
                      <a:srgbClr val="000000"/>
                    </a:solidFill>
                    <a:latin typeface="Gill Sans MT"/>
                    <a:ea typeface="+mn-lt"/>
                    <a:cs typeface="+mn-lt"/>
                  </a:rPr>
                  <a:t> and </a:t>
                </a:r>
                <a14:m>
                  <m:oMath xmlns:m="http://schemas.openxmlformats.org/officeDocument/2006/math">
                    <m:r>
                      <a:rPr lang="en-US" sz="3600" i="1" dirty="0" smtClean="0">
                        <a:solidFill>
                          <a:srgbClr val="000000"/>
                        </a:solidFill>
                        <a:latin typeface="Cambria Math" panose="02040503050406030204" pitchFamily="18" charset="0"/>
                        <a:ea typeface="+mn-lt"/>
                        <a:cs typeface="+mn-lt"/>
                      </a:rPr>
                      <m:t>𝑗</m:t>
                    </m:r>
                  </m:oMath>
                </a14:m>
                <a:r>
                  <a:rPr lang="en-US" sz="3600" dirty="0" smtClean="0">
                    <a:solidFill>
                      <a:srgbClr val="000000"/>
                    </a:solidFill>
                    <a:latin typeface="Gill Sans MT"/>
                    <a:ea typeface="+mn-lt"/>
                    <a:cs typeface="+mn-lt"/>
                  </a:rPr>
                  <a:t>.</a:t>
                </a:r>
              </a:p>
              <a:p>
                <a:pPr marL="0" indent="0" algn="just">
                  <a:spcAft>
                    <a:spcPts val="1000"/>
                  </a:spcAft>
                  <a:buNone/>
                </a:pPr>
                <a14:m>
                  <m:oMathPara xmlns:m="http://schemas.openxmlformats.org/officeDocument/2006/math">
                    <m:oMathParaPr>
                      <m:jc m:val="centerGroup"/>
                    </m:oMathParaPr>
                    <m:oMath xmlns:m="http://schemas.openxmlformats.org/officeDocument/2006/math">
                      <m:r>
                        <a:rPr lang="en-US" sz="3600" i="1" dirty="0" smtClean="0">
                          <a:solidFill>
                            <a:srgbClr val="000000"/>
                          </a:solidFill>
                          <a:latin typeface="Cambria Math" panose="02040503050406030204" pitchFamily="18" charset="0"/>
                          <a:ea typeface="+mn-lt"/>
                          <a:cs typeface="+mn-lt"/>
                        </a:rPr>
                        <m:t>𝑁</m:t>
                      </m:r>
                      <m:r>
                        <a:rPr lang="en-US" sz="3600" i="1" dirty="0" smtClean="0">
                          <a:solidFill>
                            <a:srgbClr val="000000"/>
                          </a:solidFill>
                          <a:latin typeface="Cambria Math" panose="02040503050406030204" pitchFamily="18" charset="0"/>
                          <a:ea typeface="+mn-lt"/>
                          <a:cs typeface="+mn-lt"/>
                        </a:rPr>
                        <m:t>=</m:t>
                      </m:r>
                      <m:sSup>
                        <m:sSupPr>
                          <m:ctrlPr>
                            <a:rPr lang="en-US" sz="3600" i="1" smtClean="0">
                              <a:solidFill>
                                <a:srgbClr val="000000"/>
                              </a:solidFill>
                              <a:latin typeface="Cambria Math" panose="02040503050406030204" pitchFamily="18" charset="0"/>
                              <a:ea typeface="+mn-lt"/>
                              <a:cs typeface="+mn-lt"/>
                            </a:rPr>
                          </m:ctrlPr>
                        </m:sSupPr>
                        <m:e>
                          <m:r>
                            <a:rPr lang="en-US" sz="3600" b="0" i="1" smtClean="0">
                              <a:solidFill>
                                <a:srgbClr val="000000"/>
                              </a:solidFill>
                              <a:latin typeface="Cambria Math" panose="02040503050406030204" pitchFamily="18" charset="0"/>
                              <a:ea typeface="+mn-lt"/>
                              <a:cs typeface="+mn-lt"/>
                            </a:rPr>
                            <m:t>𝑖</m:t>
                          </m:r>
                        </m:e>
                        <m:sup>
                          <m:r>
                            <a:rPr lang="en-US" sz="3600" b="0" i="1" smtClean="0">
                              <a:solidFill>
                                <a:srgbClr val="000000"/>
                              </a:solidFill>
                              <a:latin typeface="Cambria Math" panose="02040503050406030204" pitchFamily="18" charset="0"/>
                              <a:ea typeface="+mn-lt"/>
                              <a:cs typeface="+mn-lt"/>
                            </a:rPr>
                            <m:t>2</m:t>
                          </m:r>
                        </m:sup>
                      </m:sSup>
                      <m:r>
                        <a:rPr lang="en-US" sz="3600" b="0" i="1" smtClean="0">
                          <a:solidFill>
                            <a:srgbClr val="000000"/>
                          </a:solidFill>
                          <a:latin typeface="Cambria Math" panose="02040503050406030204" pitchFamily="18" charset="0"/>
                          <a:ea typeface="+mn-lt"/>
                          <a:cs typeface="+mn-lt"/>
                        </a:rPr>
                        <m:t>+</m:t>
                      </m:r>
                      <m:r>
                        <a:rPr lang="en-US" sz="3600" b="0" i="1" smtClean="0">
                          <a:solidFill>
                            <a:srgbClr val="000000"/>
                          </a:solidFill>
                          <a:latin typeface="Cambria Math" panose="02040503050406030204" pitchFamily="18" charset="0"/>
                          <a:ea typeface="+mn-lt"/>
                          <a:cs typeface="+mn-lt"/>
                        </a:rPr>
                        <m:t>𝑖𝑗</m:t>
                      </m:r>
                      <m:r>
                        <a:rPr lang="en-US" sz="3600" b="0" i="1" smtClean="0">
                          <a:solidFill>
                            <a:srgbClr val="000000"/>
                          </a:solidFill>
                          <a:latin typeface="Cambria Math" panose="02040503050406030204" pitchFamily="18" charset="0"/>
                          <a:ea typeface="+mn-lt"/>
                          <a:cs typeface="+mn-lt"/>
                        </a:rPr>
                        <m:t>+</m:t>
                      </m:r>
                      <m:sSup>
                        <m:sSupPr>
                          <m:ctrlPr>
                            <a:rPr lang="en-US" sz="3600" b="0" i="1" smtClean="0">
                              <a:solidFill>
                                <a:srgbClr val="000000"/>
                              </a:solidFill>
                              <a:latin typeface="Cambria Math" panose="02040503050406030204" pitchFamily="18" charset="0"/>
                              <a:ea typeface="+mn-lt"/>
                              <a:cs typeface="+mn-lt"/>
                            </a:rPr>
                          </m:ctrlPr>
                        </m:sSupPr>
                        <m:e>
                          <m:r>
                            <a:rPr lang="en-US" sz="3600" b="0" i="1" smtClean="0">
                              <a:solidFill>
                                <a:srgbClr val="000000"/>
                              </a:solidFill>
                              <a:latin typeface="Cambria Math" panose="02040503050406030204" pitchFamily="18" charset="0"/>
                              <a:ea typeface="+mn-lt"/>
                              <a:cs typeface="+mn-lt"/>
                            </a:rPr>
                            <m:t>𝑗</m:t>
                          </m:r>
                        </m:e>
                        <m:sup>
                          <m:r>
                            <a:rPr lang="en-US" sz="3600" b="0" i="1" smtClean="0">
                              <a:solidFill>
                                <a:srgbClr val="000000"/>
                              </a:solidFill>
                              <a:latin typeface="Cambria Math" panose="02040503050406030204" pitchFamily="18" charset="0"/>
                              <a:ea typeface="+mn-lt"/>
                              <a:cs typeface="+mn-lt"/>
                            </a:rPr>
                            <m:t>2</m:t>
                          </m:r>
                        </m:sup>
                      </m:sSup>
                    </m:oMath>
                  </m:oMathPara>
                </a14:m>
                <a:endParaRPr lang="en-US" sz="3600" dirty="0" smtClean="0">
                  <a:solidFill>
                    <a:srgbClr val="000000"/>
                  </a:solidFill>
                  <a:latin typeface="Gill Sans MT"/>
                  <a:ea typeface="+mn-lt"/>
                  <a:cs typeface="+mn-lt"/>
                </a:endParaRPr>
              </a:p>
              <a:p>
                <a:pPr algn="just">
                  <a:spcAft>
                    <a:spcPts val="1000"/>
                  </a:spcAft>
                </a:pPr>
                <a:r>
                  <a:rPr lang="en-US" sz="3600" dirty="0" smtClean="0">
                    <a:solidFill>
                      <a:srgbClr val="000000"/>
                    </a:solidFill>
                    <a:latin typeface="Gill Sans MT"/>
                    <a:ea typeface="+mn-lt"/>
                    <a:cs typeface="+mn-lt"/>
                  </a:rPr>
                  <a:t>Common </a:t>
                </a:r>
                <a:r>
                  <a:rPr lang="en-US" sz="3600" dirty="0">
                    <a:solidFill>
                      <a:srgbClr val="000000"/>
                    </a:solidFill>
                    <a:latin typeface="Gill Sans MT"/>
                    <a:ea typeface="+mn-lt"/>
                    <a:cs typeface="+mn-lt"/>
                  </a:rPr>
                  <a:t>values for </a:t>
                </a:r>
                <a:r>
                  <a:rPr lang="en-US" sz="3600" dirty="0" smtClean="0">
                    <a:solidFill>
                      <a:srgbClr val="000000"/>
                    </a:solidFill>
                    <a:latin typeface="Gill Sans MT"/>
                    <a:ea typeface="+mn-lt"/>
                    <a:cs typeface="+mn-lt"/>
                  </a:rPr>
                  <a:t>(N) </a:t>
                </a:r>
                <a:r>
                  <a:rPr lang="en-US" sz="3600" dirty="0">
                    <a:solidFill>
                      <a:srgbClr val="000000"/>
                    </a:solidFill>
                    <a:latin typeface="Gill Sans MT"/>
                    <a:ea typeface="+mn-lt"/>
                    <a:cs typeface="+mn-lt"/>
                  </a:rPr>
                  <a:t>in GSM are 3, 4, 7, 9, 12, or </a:t>
                </a:r>
                <a:r>
                  <a:rPr lang="en-US" sz="3600" dirty="0" smtClean="0">
                    <a:solidFill>
                      <a:srgbClr val="000000"/>
                    </a:solidFill>
                    <a:latin typeface="Gill Sans MT"/>
                    <a:ea typeface="+mn-lt"/>
                    <a:cs typeface="+mn-lt"/>
                  </a:rPr>
                  <a:t>13.</a:t>
                </a:r>
              </a:p>
            </p:txBody>
          </p:sp>
        </mc:Choice>
        <mc:Fallback>
          <p:sp>
            <p:nvSpPr>
              <p:cNvPr id="3" name="Content Placeholder 2">
                <a:extLst>
                  <a:ext uri="{FF2B5EF4-FFF2-40B4-BE49-F238E27FC236}">
                    <a16:creationId xmlns:a16="http://schemas.microsoft.com/office/drawing/2014/main" id="{DADE2900-BD2D-C73B-B731-4F4FBE218355}"/>
                  </a:ext>
                </a:extLst>
              </p:cNvPr>
              <p:cNvSpPr>
                <a:spLocks noGrp="1" noRot="1" noChangeAspect="1" noMove="1" noResize="1" noEditPoints="1" noAdjustHandles="1" noChangeArrowheads="1" noChangeShapeType="1" noTextEdit="1"/>
              </p:cNvSpPr>
              <p:nvPr>
                <p:ph idx="1"/>
              </p:nvPr>
            </p:nvSpPr>
            <p:spPr>
              <a:xfrm>
                <a:off x="280450" y="2129387"/>
                <a:ext cx="15839611" cy="4983594"/>
              </a:xfrm>
              <a:blipFill>
                <a:blip r:embed="rId3"/>
                <a:stretch>
                  <a:fillRect l="-1155" t="-2934" r="-1193"/>
                </a:stretch>
              </a:blipFill>
            </p:spPr>
            <p:txBody>
              <a:bodyPr/>
              <a:lstStyle/>
              <a:p>
                <a:r>
                  <a:rPr lang="en-US">
                    <a:noFill/>
                  </a:rPr>
                  <a:t> </a:t>
                </a:r>
              </a:p>
            </p:txBody>
          </p:sp>
        </mc:Fallback>
      </mc:AlternateContent>
    </p:spTree>
    <p:extLst>
      <p:ext uri="{BB962C8B-B14F-4D97-AF65-F5344CB8AC3E}">
        <p14:creationId xmlns:p14="http://schemas.microsoft.com/office/powerpoint/2010/main" val="389233715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B4936-AF59-7E2A-6CC9-4DD1F895E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8E190-C8F1-B1BD-509B-165B4C7EC2AC}"/>
              </a:ext>
            </a:extLst>
          </p:cNvPr>
          <p:cNvSpPr>
            <a:spLocks noGrp="1"/>
          </p:cNvSpPr>
          <p:nvPr>
            <p:ph type="title"/>
          </p:nvPr>
        </p:nvSpPr>
        <p:spPr>
          <a:xfrm>
            <a:off x="274188" y="194607"/>
            <a:ext cx="15040454" cy="1595839"/>
          </a:xfrm>
        </p:spPr>
        <p:txBody>
          <a:bodyPr>
            <a:normAutofit/>
          </a:bodyPr>
          <a:lstStyle/>
          <a:p>
            <a:r>
              <a:rPr lang="en-US" cap="all" dirty="0" smtClean="0">
                <a:latin typeface="Gill Sans MT"/>
              </a:rPr>
              <a:t>CHANNEL RE-USE TECHNICAL TERMS</a:t>
            </a:r>
            <a:endParaRPr lang="en-US" cap="all" dirty="0">
              <a:latin typeface="Gill Sans MT"/>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DE2900-BD2D-C73B-B731-4F4FBE218355}"/>
                  </a:ext>
                </a:extLst>
              </p:cNvPr>
              <p:cNvSpPr>
                <a:spLocks noGrp="1"/>
              </p:cNvSpPr>
              <p:nvPr>
                <p:ph idx="1"/>
              </p:nvPr>
            </p:nvSpPr>
            <p:spPr>
              <a:xfrm>
                <a:off x="280450" y="2129387"/>
                <a:ext cx="15839611" cy="4983594"/>
              </a:xfrm>
            </p:spPr>
            <p:txBody>
              <a:bodyPr vert="horz" lIns="91440" tIns="45720" rIns="91440" bIns="45720" rtlCol="0" anchor="t">
                <a:noAutofit/>
              </a:bodyPr>
              <a:lstStyle/>
              <a:p>
                <a:pPr marL="0" indent="0" algn="just">
                  <a:spcAft>
                    <a:spcPts val="1000"/>
                  </a:spcAft>
                  <a:buNone/>
                </a:pPr>
                <a:r>
                  <a:rPr lang="en-US" sz="3600" b="1" dirty="0" smtClean="0">
                    <a:solidFill>
                      <a:srgbClr val="000000"/>
                    </a:solidFill>
                    <a:latin typeface="Gill Sans MT"/>
                    <a:ea typeface="+mn-lt"/>
                    <a:cs typeface="+mn-lt"/>
                  </a:rPr>
                  <a:t>Frequency reuse factor (N)</a:t>
                </a:r>
              </a:p>
              <a:p>
                <a:pPr algn="just">
                  <a:spcAft>
                    <a:spcPts val="1000"/>
                  </a:spcAft>
                </a:pPr>
                <a:r>
                  <a:rPr lang="en-US" sz="3600" dirty="0" smtClean="0">
                    <a:solidFill>
                      <a:srgbClr val="000000"/>
                    </a:solidFill>
                    <a:latin typeface="Gill Sans MT"/>
                    <a:ea typeface="+mn-lt"/>
                    <a:cs typeface="+mn-lt"/>
                  </a:rPr>
                  <a:t>This </a:t>
                </a:r>
                <a:r>
                  <a:rPr lang="en-US" sz="3600" dirty="0">
                    <a:solidFill>
                      <a:srgbClr val="000000"/>
                    </a:solidFill>
                    <a:latin typeface="Gill Sans MT"/>
                    <a:ea typeface="+mn-lt"/>
                    <a:cs typeface="+mn-lt"/>
                  </a:rPr>
                  <a:t>indicates how many times a specific frequency channel can be reused across the network. </a:t>
                </a:r>
                <a:r>
                  <a:rPr lang="en-US" sz="3600" dirty="0">
                    <a:solidFill>
                      <a:srgbClr val="000000"/>
                    </a:solidFill>
                    <a:latin typeface="Gill Sans MT"/>
                    <a:ea typeface="+mn-lt"/>
                    <a:cs typeface="+mn-lt"/>
                  </a:rPr>
                  <a:t>It is the reciprocal of the cluster size:</a:t>
                </a:r>
              </a:p>
              <a:p>
                <a:pPr marL="0" indent="0" algn="just">
                  <a:spcAft>
                    <a:spcPts val="1000"/>
                  </a:spcAft>
                  <a:buNone/>
                </a:pPr>
                <a14:m>
                  <m:oMathPara xmlns:m="http://schemas.openxmlformats.org/officeDocument/2006/math">
                    <m:oMathParaPr>
                      <m:jc m:val="centerGroup"/>
                    </m:oMathParaPr>
                    <m:oMath xmlns:m="http://schemas.openxmlformats.org/officeDocument/2006/math">
                      <m:r>
                        <a:rPr lang="en-US" sz="3600" b="0" i="1" dirty="0" smtClean="0">
                          <a:solidFill>
                            <a:srgbClr val="000000"/>
                          </a:solidFill>
                          <a:latin typeface="Cambria Math" panose="02040503050406030204" pitchFamily="18" charset="0"/>
                          <a:ea typeface="+mn-lt"/>
                          <a:cs typeface="+mn-lt"/>
                        </a:rPr>
                        <m:t>𝑅𝑒𝑢𝑠𝑒</m:t>
                      </m:r>
                      <m:r>
                        <a:rPr lang="en-US" sz="3600" b="0" i="1" dirty="0" smtClean="0">
                          <a:solidFill>
                            <a:srgbClr val="000000"/>
                          </a:solidFill>
                          <a:latin typeface="Cambria Math" panose="02040503050406030204" pitchFamily="18" charset="0"/>
                          <a:ea typeface="+mn-lt"/>
                          <a:cs typeface="+mn-lt"/>
                        </a:rPr>
                        <m:t> </m:t>
                      </m:r>
                      <m:r>
                        <a:rPr lang="en-US" sz="3600" b="0" i="1" dirty="0" smtClean="0">
                          <a:solidFill>
                            <a:srgbClr val="000000"/>
                          </a:solidFill>
                          <a:latin typeface="Cambria Math" panose="02040503050406030204" pitchFamily="18" charset="0"/>
                          <a:ea typeface="+mn-lt"/>
                          <a:cs typeface="+mn-lt"/>
                        </a:rPr>
                        <m:t>𝑓𝑎𝑐𝑡𝑜𝑟</m:t>
                      </m:r>
                      <m:r>
                        <a:rPr lang="en-US" sz="3600" i="1" dirty="0" smtClean="0">
                          <a:solidFill>
                            <a:srgbClr val="000000"/>
                          </a:solidFill>
                          <a:latin typeface="Cambria Math" panose="02040503050406030204" pitchFamily="18" charset="0"/>
                          <a:ea typeface="+mn-lt"/>
                          <a:cs typeface="+mn-lt"/>
                        </a:rPr>
                        <m:t>=</m:t>
                      </m:r>
                      <m:f>
                        <m:fPr>
                          <m:ctrlPr>
                            <a:rPr lang="en-US" sz="3600" i="1" dirty="0" smtClean="0">
                              <a:solidFill>
                                <a:srgbClr val="000000"/>
                              </a:solidFill>
                              <a:latin typeface="Cambria Math" panose="02040503050406030204" pitchFamily="18" charset="0"/>
                              <a:ea typeface="+mn-lt"/>
                              <a:cs typeface="+mn-lt"/>
                            </a:rPr>
                          </m:ctrlPr>
                        </m:fPr>
                        <m:num>
                          <m:r>
                            <a:rPr lang="en-US" sz="3600" b="0" i="1" dirty="0" smtClean="0">
                              <a:solidFill>
                                <a:srgbClr val="000000"/>
                              </a:solidFill>
                              <a:latin typeface="Cambria Math" panose="02040503050406030204" pitchFamily="18" charset="0"/>
                              <a:ea typeface="+mn-lt"/>
                              <a:cs typeface="+mn-lt"/>
                            </a:rPr>
                            <m:t>1</m:t>
                          </m:r>
                        </m:num>
                        <m:den>
                          <m:r>
                            <a:rPr lang="en-US" sz="3600" b="0" i="1" dirty="0" smtClean="0">
                              <a:solidFill>
                                <a:srgbClr val="000000"/>
                              </a:solidFill>
                              <a:latin typeface="Cambria Math" panose="02040503050406030204" pitchFamily="18" charset="0"/>
                              <a:ea typeface="+mn-lt"/>
                              <a:cs typeface="+mn-lt"/>
                            </a:rPr>
                            <m:t>𝑁</m:t>
                          </m:r>
                        </m:den>
                      </m:f>
                    </m:oMath>
                  </m:oMathPara>
                </a14:m>
                <a:endParaRPr lang="en-US" sz="3600" dirty="0" smtClean="0">
                  <a:solidFill>
                    <a:srgbClr val="000000"/>
                  </a:solidFill>
                  <a:latin typeface="Gill Sans MT"/>
                  <a:ea typeface="+mn-lt"/>
                  <a:cs typeface="+mn-lt"/>
                </a:endParaRPr>
              </a:p>
            </p:txBody>
          </p:sp>
        </mc:Choice>
        <mc:Fallback>
          <p:sp>
            <p:nvSpPr>
              <p:cNvPr id="3" name="Content Placeholder 2">
                <a:extLst>
                  <a:ext uri="{FF2B5EF4-FFF2-40B4-BE49-F238E27FC236}">
                    <a16:creationId xmlns:a16="http://schemas.microsoft.com/office/drawing/2014/main" id="{DADE2900-BD2D-C73B-B731-4F4FBE218355}"/>
                  </a:ext>
                </a:extLst>
              </p:cNvPr>
              <p:cNvSpPr>
                <a:spLocks noGrp="1" noRot="1" noChangeAspect="1" noMove="1" noResize="1" noEditPoints="1" noAdjustHandles="1" noChangeArrowheads="1" noChangeShapeType="1" noTextEdit="1"/>
              </p:cNvSpPr>
              <p:nvPr>
                <p:ph idx="1"/>
              </p:nvPr>
            </p:nvSpPr>
            <p:spPr>
              <a:xfrm>
                <a:off x="280450" y="2129387"/>
                <a:ext cx="15839611" cy="4983594"/>
              </a:xfrm>
              <a:blipFill>
                <a:blip r:embed="rId3"/>
                <a:stretch>
                  <a:fillRect l="-1155" t="-2934" r="-1193"/>
                </a:stretch>
              </a:blipFill>
            </p:spPr>
            <p:txBody>
              <a:bodyPr/>
              <a:lstStyle/>
              <a:p>
                <a:r>
                  <a:rPr lang="en-US">
                    <a:noFill/>
                  </a:rPr>
                  <a:t> </a:t>
                </a:r>
              </a:p>
            </p:txBody>
          </p:sp>
        </mc:Fallback>
      </mc:AlternateContent>
    </p:spTree>
    <p:extLst>
      <p:ext uri="{BB962C8B-B14F-4D97-AF65-F5344CB8AC3E}">
        <p14:creationId xmlns:p14="http://schemas.microsoft.com/office/powerpoint/2010/main" val="383935147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B4936-AF59-7E2A-6CC9-4DD1F895E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8E190-C8F1-B1BD-509B-165B4C7EC2AC}"/>
              </a:ext>
            </a:extLst>
          </p:cNvPr>
          <p:cNvSpPr>
            <a:spLocks noGrp="1"/>
          </p:cNvSpPr>
          <p:nvPr>
            <p:ph type="title"/>
          </p:nvPr>
        </p:nvSpPr>
        <p:spPr>
          <a:xfrm>
            <a:off x="274188" y="194607"/>
            <a:ext cx="15040454" cy="1595839"/>
          </a:xfrm>
        </p:spPr>
        <p:txBody>
          <a:bodyPr>
            <a:normAutofit/>
          </a:bodyPr>
          <a:lstStyle/>
          <a:p>
            <a:r>
              <a:rPr lang="en-US" cap="all" dirty="0" smtClean="0">
                <a:latin typeface="Gill Sans MT"/>
              </a:rPr>
              <a:t>CHANNEL RE-USE TECHNICAL TERMS</a:t>
            </a:r>
            <a:endParaRPr lang="en-US" cap="all" dirty="0">
              <a:latin typeface="Gill Sans MT"/>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DE2900-BD2D-C73B-B731-4F4FBE218355}"/>
                  </a:ext>
                </a:extLst>
              </p:cNvPr>
              <p:cNvSpPr>
                <a:spLocks noGrp="1"/>
              </p:cNvSpPr>
              <p:nvPr>
                <p:ph idx="1"/>
              </p:nvPr>
            </p:nvSpPr>
            <p:spPr>
              <a:xfrm>
                <a:off x="280450" y="2129387"/>
                <a:ext cx="15839611" cy="4983594"/>
              </a:xfrm>
            </p:spPr>
            <p:txBody>
              <a:bodyPr vert="horz" lIns="91440" tIns="45720" rIns="91440" bIns="45720" rtlCol="0" anchor="t">
                <a:noAutofit/>
              </a:bodyPr>
              <a:lstStyle/>
              <a:p>
                <a:pPr marL="0" indent="0" algn="just">
                  <a:spcAft>
                    <a:spcPts val="1000"/>
                  </a:spcAft>
                  <a:buNone/>
                </a:pPr>
                <a:r>
                  <a:rPr lang="en-US" sz="3600" b="1" dirty="0" smtClean="0">
                    <a:solidFill>
                      <a:srgbClr val="000000"/>
                    </a:solidFill>
                    <a:latin typeface="Gill Sans MT"/>
                    <a:ea typeface="+mn-lt"/>
                    <a:cs typeface="+mn-lt"/>
                  </a:rPr>
                  <a:t>Co-channel reuse distance (D)</a:t>
                </a:r>
              </a:p>
              <a:p>
                <a:pPr algn="just">
                  <a:spcAft>
                    <a:spcPts val="1000"/>
                  </a:spcAft>
                </a:pPr>
                <a:r>
                  <a:rPr lang="en-US" sz="3600" dirty="0" smtClean="0">
                    <a:solidFill>
                      <a:srgbClr val="000000"/>
                    </a:solidFill>
                    <a:latin typeface="Gill Sans MT"/>
                    <a:ea typeface="+mn-lt"/>
                    <a:cs typeface="+mn-lt"/>
                  </a:rPr>
                  <a:t>This is </a:t>
                </a:r>
                <a:r>
                  <a:rPr lang="en-US" sz="3600" dirty="0">
                    <a:solidFill>
                      <a:srgbClr val="000000"/>
                    </a:solidFill>
                    <a:latin typeface="Gill Sans MT"/>
                    <a:ea typeface="+mn-lt"/>
                    <a:cs typeface="+mn-lt"/>
                  </a:rPr>
                  <a:t>the minimum physical distance that must separate two cells using the exact same frequencies to avoid co-channel interference. It depends on the cell radius </a:t>
                </a:r>
                <a:r>
                  <a:rPr lang="en-US" sz="3600" dirty="0" smtClean="0">
                    <a:solidFill>
                      <a:srgbClr val="000000"/>
                    </a:solidFill>
                    <a:latin typeface="Gill Sans MT"/>
                    <a:ea typeface="+mn-lt"/>
                    <a:cs typeface="+mn-lt"/>
                  </a:rPr>
                  <a:t>(R) </a:t>
                </a:r>
                <a:r>
                  <a:rPr lang="en-US" sz="3600" dirty="0">
                    <a:solidFill>
                      <a:srgbClr val="000000"/>
                    </a:solidFill>
                    <a:latin typeface="Gill Sans MT"/>
                    <a:ea typeface="+mn-lt"/>
                    <a:cs typeface="+mn-lt"/>
                  </a:rPr>
                  <a:t>and cluster size </a:t>
                </a:r>
                <a:r>
                  <a:rPr lang="en-US" sz="3600" dirty="0" smtClean="0">
                    <a:solidFill>
                      <a:srgbClr val="000000"/>
                    </a:solidFill>
                    <a:latin typeface="Gill Sans MT"/>
                    <a:ea typeface="+mn-lt"/>
                    <a:cs typeface="+mn-lt"/>
                  </a:rPr>
                  <a:t>(N)</a:t>
                </a:r>
                <a:endParaRPr lang="en-US" sz="3600" dirty="0">
                  <a:solidFill>
                    <a:srgbClr val="000000"/>
                  </a:solidFill>
                  <a:latin typeface="Gill Sans MT"/>
                  <a:ea typeface="+mn-lt"/>
                  <a:cs typeface="+mn-lt"/>
                </a:endParaRPr>
              </a:p>
              <a:p>
                <a:pPr marL="0" indent="0" algn="just">
                  <a:spcAft>
                    <a:spcPts val="1000"/>
                  </a:spcAft>
                  <a:buNone/>
                </a:pPr>
                <a14:m>
                  <m:oMathPara xmlns:m="http://schemas.openxmlformats.org/officeDocument/2006/math">
                    <m:oMathParaPr>
                      <m:jc m:val="centerGroup"/>
                    </m:oMathParaPr>
                    <m:oMath xmlns:m="http://schemas.openxmlformats.org/officeDocument/2006/math">
                      <m:r>
                        <a:rPr lang="en-US" sz="3600" b="0" i="1" dirty="0" smtClean="0">
                          <a:solidFill>
                            <a:srgbClr val="000000"/>
                          </a:solidFill>
                          <a:latin typeface="Cambria Math" panose="02040503050406030204" pitchFamily="18" charset="0"/>
                          <a:ea typeface="+mn-lt"/>
                          <a:cs typeface="+mn-lt"/>
                        </a:rPr>
                        <m:t>𝐷</m:t>
                      </m:r>
                      <m:r>
                        <a:rPr lang="en-US" sz="3600" i="1" dirty="0" smtClean="0">
                          <a:solidFill>
                            <a:srgbClr val="000000"/>
                          </a:solidFill>
                          <a:latin typeface="Cambria Math" panose="02040503050406030204" pitchFamily="18" charset="0"/>
                          <a:ea typeface="+mn-lt"/>
                          <a:cs typeface="+mn-lt"/>
                        </a:rPr>
                        <m:t>=</m:t>
                      </m:r>
                      <m:r>
                        <a:rPr lang="en-US" sz="3600" i="1" dirty="0" smtClean="0">
                          <a:solidFill>
                            <a:srgbClr val="000000"/>
                          </a:solidFill>
                          <a:latin typeface="Cambria Math" panose="02040503050406030204" pitchFamily="18" charset="0"/>
                          <a:ea typeface="+mn-lt"/>
                          <a:cs typeface="+mn-lt"/>
                        </a:rPr>
                        <m:t>𝑅</m:t>
                      </m:r>
                      <m:rad>
                        <m:radPr>
                          <m:degHide m:val="on"/>
                          <m:ctrlPr>
                            <a:rPr lang="en-US" sz="3600" i="1" dirty="0" smtClean="0">
                              <a:solidFill>
                                <a:srgbClr val="000000"/>
                              </a:solidFill>
                              <a:latin typeface="Cambria Math" panose="02040503050406030204" pitchFamily="18" charset="0"/>
                              <a:ea typeface="+mn-lt"/>
                              <a:cs typeface="+mn-lt"/>
                            </a:rPr>
                          </m:ctrlPr>
                        </m:radPr>
                        <m:deg/>
                        <m:e>
                          <m:r>
                            <a:rPr lang="en-US" sz="3600" b="0" i="1" dirty="0" smtClean="0">
                              <a:solidFill>
                                <a:srgbClr val="000000"/>
                              </a:solidFill>
                              <a:latin typeface="Cambria Math" panose="02040503050406030204" pitchFamily="18" charset="0"/>
                              <a:ea typeface="+mn-lt"/>
                              <a:cs typeface="+mn-lt"/>
                            </a:rPr>
                            <m:t>3</m:t>
                          </m:r>
                          <m:r>
                            <a:rPr lang="en-US" sz="3600" b="0" i="1" dirty="0" smtClean="0">
                              <a:solidFill>
                                <a:srgbClr val="000000"/>
                              </a:solidFill>
                              <a:latin typeface="Cambria Math" panose="02040503050406030204" pitchFamily="18" charset="0"/>
                              <a:ea typeface="+mn-lt"/>
                              <a:cs typeface="+mn-lt"/>
                            </a:rPr>
                            <m:t>𝑁</m:t>
                          </m:r>
                        </m:e>
                      </m:rad>
                    </m:oMath>
                  </m:oMathPara>
                </a14:m>
                <a:endParaRPr lang="en-US" sz="3600" dirty="0" smtClean="0">
                  <a:solidFill>
                    <a:srgbClr val="000000"/>
                  </a:solidFill>
                  <a:latin typeface="Gill Sans MT"/>
                  <a:ea typeface="+mn-lt"/>
                  <a:cs typeface="+mn-lt"/>
                </a:endParaRPr>
              </a:p>
            </p:txBody>
          </p:sp>
        </mc:Choice>
        <mc:Fallback>
          <p:sp>
            <p:nvSpPr>
              <p:cNvPr id="3" name="Content Placeholder 2">
                <a:extLst>
                  <a:ext uri="{FF2B5EF4-FFF2-40B4-BE49-F238E27FC236}">
                    <a16:creationId xmlns:a16="http://schemas.microsoft.com/office/drawing/2014/main" id="{DADE2900-BD2D-C73B-B731-4F4FBE218355}"/>
                  </a:ext>
                </a:extLst>
              </p:cNvPr>
              <p:cNvSpPr>
                <a:spLocks noGrp="1" noRot="1" noChangeAspect="1" noMove="1" noResize="1" noEditPoints="1" noAdjustHandles="1" noChangeArrowheads="1" noChangeShapeType="1" noTextEdit="1"/>
              </p:cNvSpPr>
              <p:nvPr>
                <p:ph idx="1"/>
              </p:nvPr>
            </p:nvSpPr>
            <p:spPr>
              <a:xfrm>
                <a:off x="280450" y="2129387"/>
                <a:ext cx="15839611" cy="4983594"/>
              </a:xfrm>
              <a:blipFill>
                <a:blip r:embed="rId3"/>
                <a:stretch>
                  <a:fillRect l="-1155" t="-2934" r="-1193"/>
                </a:stretch>
              </a:blipFill>
            </p:spPr>
            <p:txBody>
              <a:bodyPr/>
              <a:lstStyle/>
              <a:p>
                <a:r>
                  <a:rPr lang="en-US">
                    <a:noFill/>
                  </a:rPr>
                  <a:t> </a:t>
                </a:r>
              </a:p>
            </p:txBody>
          </p:sp>
        </mc:Fallback>
      </mc:AlternateContent>
    </p:spTree>
    <p:extLst>
      <p:ext uri="{BB962C8B-B14F-4D97-AF65-F5344CB8AC3E}">
        <p14:creationId xmlns:p14="http://schemas.microsoft.com/office/powerpoint/2010/main" val="13989602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B4936-AF59-7E2A-6CC9-4DD1F895E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8E190-C8F1-B1BD-509B-165B4C7EC2AC}"/>
              </a:ext>
            </a:extLst>
          </p:cNvPr>
          <p:cNvSpPr>
            <a:spLocks noGrp="1"/>
          </p:cNvSpPr>
          <p:nvPr>
            <p:ph type="title"/>
          </p:nvPr>
        </p:nvSpPr>
        <p:spPr>
          <a:xfrm>
            <a:off x="274188" y="194607"/>
            <a:ext cx="15040454" cy="1595839"/>
          </a:xfrm>
        </p:spPr>
        <p:txBody>
          <a:bodyPr>
            <a:normAutofit/>
          </a:bodyPr>
          <a:lstStyle/>
          <a:p>
            <a:r>
              <a:rPr lang="en-US" cap="all" dirty="0" smtClean="0">
                <a:latin typeface="Gill Sans MT"/>
              </a:rPr>
              <a:t>CHANNEL RE-USE TECHNICAL TERMS</a:t>
            </a:r>
            <a:endParaRPr lang="en-US" cap="all" dirty="0">
              <a:latin typeface="Gill Sans MT"/>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DE2900-BD2D-C73B-B731-4F4FBE218355}"/>
                  </a:ext>
                </a:extLst>
              </p:cNvPr>
              <p:cNvSpPr>
                <a:spLocks noGrp="1"/>
              </p:cNvSpPr>
              <p:nvPr>
                <p:ph idx="1"/>
              </p:nvPr>
            </p:nvSpPr>
            <p:spPr>
              <a:xfrm>
                <a:off x="280450" y="2129387"/>
                <a:ext cx="15839611" cy="4983594"/>
              </a:xfrm>
            </p:spPr>
            <p:txBody>
              <a:bodyPr vert="horz" lIns="91440" tIns="45720" rIns="91440" bIns="45720" rtlCol="0" anchor="t">
                <a:noAutofit/>
              </a:bodyPr>
              <a:lstStyle/>
              <a:p>
                <a:pPr marL="0" indent="0" algn="just">
                  <a:spcAft>
                    <a:spcPts val="1000"/>
                  </a:spcAft>
                  <a:buNone/>
                </a:pPr>
                <a:r>
                  <a:rPr lang="en-US" sz="3600" b="1" dirty="0" smtClean="0">
                    <a:solidFill>
                      <a:srgbClr val="000000"/>
                    </a:solidFill>
                    <a:latin typeface="Gill Sans MT"/>
                    <a:ea typeface="+mn-lt"/>
                    <a:cs typeface="+mn-lt"/>
                  </a:rPr>
                  <a:t>System capacity calculation</a:t>
                </a:r>
              </a:p>
              <a:p>
                <a:pPr algn="just">
                  <a:spcAft>
                    <a:spcPts val="1000"/>
                  </a:spcAft>
                </a:pPr>
                <a:r>
                  <a:rPr lang="en-US" sz="3600" dirty="0" smtClean="0">
                    <a:solidFill>
                      <a:srgbClr val="000000"/>
                    </a:solidFill>
                    <a:latin typeface="Gill Sans MT"/>
                    <a:ea typeface="+mn-lt"/>
                    <a:cs typeface="+mn-lt"/>
                  </a:rPr>
                  <a:t>To </a:t>
                </a:r>
                <a:r>
                  <a:rPr lang="en-US" sz="3600" dirty="0">
                    <a:solidFill>
                      <a:srgbClr val="000000"/>
                    </a:solidFill>
                    <a:latin typeface="Gill Sans MT"/>
                    <a:ea typeface="+mn-lt"/>
                    <a:cs typeface="+mn-lt"/>
                  </a:rPr>
                  <a:t>find out how many simultaneous channels the entire network can support, use the formula:</a:t>
                </a:r>
              </a:p>
              <a:p>
                <a:pPr marL="0" indent="0" algn="just">
                  <a:spcAft>
                    <a:spcPts val="1000"/>
                  </a:spcAft>
                  <a:buNone/>
                </a:pPr>
                <a14:m>
                  <m:oMathPara xmlns:m="http://schemas.openxmlformats.org/officeDocument/2006/math">
                    <m:oMathParaPr>
                      <m:jc m:val="centerGroup"/>
                    </m:oMathParaPr>
                    <m:oMath xmlns:m="http://schemas.openxmlformats.org/officeDocument/2006/math">
                      <m:r>
                        <a:rPr lang="en-US" sz="3600" b="0" i="1" dirty="0" smtClean="0">
                          <a:solidFill>
                            <a:srgbClr val="000000"/>
                          </a:solidFill>
                          <a:latin typeface="Cambria Math" panose="02040503050406030204" pitchFamily="18" charset="0"/>
                          <a:ea typeface="+mn-lt"/>
                          <a:cs typeface="+mn-lt"/>
                        </a:rPr>
                        <m:t>𝐶</m:t>
                      </m:r>
                      <m:r>
                        <a:rPr lang="en-US" sz="3600" i="1" dirty="0" smtClean="0">
                          <a:solidFill>
                            <a:srgbClr val="000000"/>
                          </a:solidFill>
                          <a:latin typeface="Cambria Math" panose="02040503050406030204" pitchFamily="18" charset="0"/>
                          <a:ea typeface="+mn-lt"/>
                          <a:cs typeface="+mn-lt"/>
                        </a:rPr>
                        <m:t>=</m:t>
                      </m:r>
                      <m:r>
                        <a:rPr lang="en-US" sz="3600" b="0" i="1" dirty="0" smtClean="0">
                          <a:solidFill>
                            <a:srgbClr val="000000"/>
                          </a:solidFill>
                          <a:latin typeface="Cambria Math" panose="02040503050406030204" pitchFamily="18" charset="0"/>
                          <a:ea typeface="+mn-lt"/>
                          <a:cs typeface="+mn-lt"/>
                        </a:rPr>
                        <m:t>𝑀</m:t>
                      </m:r>
                      <m:r>
                        <a:rPr lang="en-US" sz="3600" b="0" i="1" dirty="0" smtClean="0">
                          <a:solidFill>
                            <a:srgbClr val="000000"/>
                          </a:solidFill>
                          <a:latin typeface="Cambria Math" panose="02040503050406030204" pitchFamily="18" charset="0"/>
                          <a:ea typeface="Cambria Math" panose="02040503050406030204" pitchFamily="18" charset="0"/>
                          <a:cs typeface="+mn-lt"/>
                        </a:rPr>
                        <m:t>×</m:t>
                      </m:r>
                      <m:r>
                        <a:rPr lang="en-US" sz="3600" b="0" i="1" dirty="0" smtClean="0">
                          <a:solidFill>
                            <a:srgbClr val="000000"/>
                          </a:solidFill>
                          <a:latin typeface="Cambria Math" panose="02040503050406030204" pitchFamily="18" charset="0"/>
                          <a:ea typeface="Cambria Math" panose="02040503050406030204" pitchFamily="18" charset="0"/>
                          <a:cs typeface="+mn-lt"/>
                        </a:rPr>
                        <m:t>𝑘</m:t>
                      </m:r>
                      <m:r>
                        <a:rPr lang="en-US" sz="3600" b="0" i="1" dirty="0" smtClean="0">
                          <a:solidFill>
                            <a:srgbClr val="000000"/>
                          </a:solidFill>
                          <a:latin typeface="Cambria Math" panose="02040503050406030204" pitchFamily="18" charset="0"/>
                          <a:ea typeface="Cambria Math" panose="02040503050406030204" pitchFamily="18" charset="0"/>
                          <a:cs typeface="+mn-lt"/>
                        </a:rPr>
                        <m:t>×</m:t>
                      </m:r>
                      <m:r>
                        <a:rPr lang="en-US" sz="3600" b="0" i="1" dirty="0" smtClean="0">
                          <a:solidFill>
                            <a:srgbClr val="000000"/>
                          </a:solidFill>
                          <a:latin typeface="Cambria Math" panose="02040503050406030204" pitchFamily="18" charset="0"/>
                          <a:ea typeface="Cambria Math" panose="02040503050406030204" pitchFamily="18" charset="0"/>
                          <a:cs typeface="+mn-lt"/>
                        </a:rPr>
                        <m:t>𝑁</m:t>
                      </m:r>
                    </m:oMath>
                  </m:oMathPara>
                </a14:m>
                <a:endParaRPr lang="en-US" sz="3600" b="0" dirty="0" smtClean="0">
                  <a:solidFill>
                    <a:srgbClr val="000000"/>
                  </a:solidFill>
                  <a:latin typeface="Gill Sans MT"/>
                  <a:ea typeface="Cambria Math" panose="02040503050406030204" pitchFamily="18" charset="0"/>
                  <a:cs typeface="+mn-lt"/>
                </a:endParaRPr>
              </a:p>
              <a:p>
                <a:pPr marL="0" indent="0" algn="just">
                  <a:spcAft>
                    <a:spcPts val="1000"/>
                  </a:spcAft>
                  <a:buNone/>
                </a:pPr>
                <a:r>
                  <a:rPr lang="en-US" sz="3600" dirty="0">
                    <a:solidFill>
                      <a:srgbClr val="000000"/>
                    </a:solidFill>
                    <a:latin typeface="Gill Sans MT"/>
                    <a:ea typeface="+mn-lt"/>
                    <a:cs typeface="+mn-lt"/>
                  </a:rPr>
                  <a:t>Where M:Number of times the cluster is repeated across the total coverage area</a:t>
                </a:r>
                <a:endParaRPr lang="en-US" sz="3600" dirty="0" smtClean="0">
                  <a:solidFill>
                    <a:srgbClr val="000000"/>
                  </a:solidFill>
                  <a:latin typeface="Gill Sans MT"/>
                  <a:ea typeface="+mn-lt"/>
                  <a:cs typeface="+mn-lt"/>
                </a:endParaRPr>
              </a:p>
              <a:p>
                <a:pPr marL="0" indent="0" algn="just">
                  <a:spcAft>
                    <a:spcPts val="1000"/>
                  </a:spcAft>
                  <a:buNone/>
                </a:pPr>
                <a:r>
                  <a:rPr lang="en-US" sz="3600" dirty="0">
                    <a:solidFill>
                      <a:srgbClr val="000000"/>
                    </a:solidFill>
                    <a:latin typeface="Gill Sans MT"/>
                    <a:ea typeface="+mn-lt"/>
                    <a:cs typeface="+mn-lt"/>
                  </a:rPr>
                  <a:t> </a:t>
                </a:r>
                <a:r>
                  <a:rPr lang="en-US" sz="3600" dirty="0" smtClean="0">
                    <a:solidFill>
                      <a:srgbClr val="000000"/>
                    </a:solidFill>
                    <a:latin typeface="Gill Sans MT"/>
                    <a:ea typeface="+mn-lt"/>
                    <a:cs typeface="+mn-lt"/>
                  </a:rPr>
                  <a:t>           N:Cluster size</a:t>
                </a:r>
              </a:p>
              <a:p>
                <a:pPr marL="0" indent="0" algn="just">
                  <a:spcAft>
                    <a:spcPts val="1000"/>
                  </a:spcAft>
                  <a:buNone/>
                </a:pPr>
                <a:r>
                  <a:rPr lang="en-US" sz="3600" dirty="0">
                    <a:solidFill>
                      <a:srgbClr val="000000"/>
                    </a:solidFill>
                    <a:latin typeface="Gill Sans MT"/>
                    <a:ea typeface="+mn-lt"/>
                    <a:cs typeface="+mn-lt"/>
                  </a:rPr>
                  <a:t>            </a:t>
                </a:r>
                <a:r>
                  <a:rPr lang="en-US" sz="3600" dirty="0" smtClean="0">
                    <a:solidFill>
                      <a:srgbClr val="000000"/>
                    </a:solidFill>
                    <a:latin typeface="Gill Sans MT"/>
                    <a:ea typeface="+mn-lt"/>
                    <a:cs typeface="+mn-lt"/>
                  </a:rPr>
                  <a:t>k: </a:t>
                </a:r>
                <a:r>
                  <a:rPr lang="en-US" sz="3600" dirty="0">
                    <a:solidFill>
                      <a:srgbClr val="000000"/>
                    </a:solidFill>
                    <a:latin typeface="Gill Sans MT"/>
                    <a:ea typeface="+mn-lt"/>
                    <a:cs typeface="+mn-lt"/>
                  </a:rPr>
                  <a:t>Number of channels allocated to each individual cell</a:t>
                </a:r>
                <a:endParaRPr lang="en-US" sz="3600" dirty="0" smtClean="0">
                  <a:solidFill>
                    <a:srgbClr val="000000"/>
                  </a:solidFill>
                  <a:latin typeface="Gill Sans MT"/>
                  <a:ea typeface="+mn-lt"/>
                  <a:cs typeface="+mn-lt"/>
                </a:endParaRPr>
              </a:p>
            </p:txBody>
          </p:sp>
        </mc:Choice>
        <mc:Fallback>
          <p:sp>
            <p:nvSpPr>
              <p:cNvPr id="3" name="Content Placeholder 2">
                <a:extLst>
                  <a:ext uri="{FF2B5EF4-FFF2-40B4-BE49-F238E27FC236}">
                    <a16:creationId xmlns:a16="http://schemas.microsoft.com/office/drawing/2014/main" id="{DADE2900-BD2D-C73B-B731-4F4FBE218355}"/>
                  </a:ext>
                </a:extLst>
              </p:cNvPr>
              <p:cNvSpPr>
                <a:spLocks noGrp="1" noRot="1" noChangeAspect="1" noMove="1" noResize="1" noEditPoints="1" noAdjustHandles="1" noChangeArrowheads="1" noChangeShapeType="1" noTextEdit="1"/>
              </p:cNvSpPr>
              <p:nvPr>
                <p:ph idx="1"/>
              </p:nvPr>
            </p:nvSpPr>
            <p:spPr>
              <a:xfrm>
                <a:off x="280450" y="2129387"/>
                <a:ext cx="15839611" cy="4983594"/>
              </a:xfrm>
              <a:blipFill>
                <a:blip r:embed="rId3"/>
                <a:stretch>
                  <a:fillRect l="-1155" t="-2934" r="-1193"/>
                </a:stretch>
              </a:blipFill>
            </p:spPr>
            <p:txBody>
              <a:bodyPr/>
              <a:lstStyle/>
              <a:p>
                <a:r>
                  <a:rPr lang="en-US">
                    <a:noFill/>
                  </a:rPr>
                  <a:t> </a:t>
                </a:r>
              </a:p>
            </p:txBody>
          </p:sp>
        </mc:Fallback>
      </mc:AlternateContent>
    </p:spTree>
    <p:extLst>
      <p:ext uri="{BB962C8B-B14F-4D97-AF65-F5344CB8AC3E}">
        <p14:creationId xmlns:p14="http://schemas.microsoft.com/office/powerpoint/2010/main" val="39861637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5516A-9763-793C-E0EA-3E457CC8B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09291-52BA-007B-6B4B-1F5A3FD7011E}"/>
              </a:ext>
            </a:extLst>
          </p:cNvPr>
          <p:cNvSpPr>
            <a:spLocks noGrp="1"/>
          </p:cNvSpPr>
          <p:nvPr>
            <p:ph type="title"/>
          </p:nvPr>
        </p:nvSpPr>
        <p:spPr>
          <a:xfrm>
            <a:off x="274188" y="194607"/>
            <a:ext cx="15040454" cy="1595839"/>
          </a:xfrm>
        </p:spPr>
        <p:txBody>
          <a:bodyPr>
            <a:normAutofit/>
          </a:bodyPr>
          <a:lstStyle/>
          <a:p>
            <a:r>
              <a:rPr lang="en-US" cap="all" dirty="0">
                <a:latin typeface="Gill Sans MT"/>
              </a:rPr>
              <a:t>BANDWIDTH SHARING AND CHANNEL RE-USE</a:t>
            </a:r>
          </a:p>
        </p:txBody>
      </p:sp>
      <p:sp>
        <p:nvSpPr>
          <p:cNvPr id="3" name="Content Placeholder 2">
            <a:extLst>
              <a:ext uri="{FF2B5EF4-FFF2-40B4-BE49-F238E27FC236}">
                <a16:creationId xmlns:a16="http://schemas.microsoft.com/office/drawing/2014/main" id="{3BB94CBC-64BC-F955-FE99-61861C5C5F3E}"/>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dirty="0">
                <a:solidFill>
                  <a:srgbClr val="000000"/>
                </a:solidFill>
                <a:latin typeface="Gill Sans MT"/>
                <a:ea typeface="+mn-lt"/>
                <a:cs typeface="+mn-lt"/>
              </a:rPr>
              <a:t>For example, when N cells are using the same number of frequencies and K be the total number of frequencies used in systems. Then each cell frequency is calculated by using the formula K/N.</a:t>
            </a:r>
            <a:endParaRPr lang="en-US" sz="3600" dirty="0">
              <a:latin typeface="Gill Sans MT"/>
              <a:ea typeface="+mn-lt"/>
              <a:cs typeface="+mn-lt"/>
            </a:endParaRPr>
          </a:p>
          <a:p>
            <a:pPr algn="just">
              <a:spcAft>
                <a:spcPts val="1000"/>
              </a:spcAft>
            </a:pPr>
            <a:r>
              <a:rPr lang="en-US" sz="3600" dirty="0">
                <a:solidFill>
                  <a:srgbClr val="000000"/>
                </a:solidFill>
                <a:latin typeface="Gill Sans MT"/>
                <a:ea typeface="+mn-lt"/>
                <a:cs typeface="+mn-lt"/>
              </a:rPr>
              <a:t>In Advanced Mobile Phone Services (AMPS) when K = 395 and N = 7, </a:t>
            </a:r>
            <a:r>
              <a:rPr lang="en-US" sz="3600" dirty="0">
                <a:latin typeface="Gill Sans MT"/>
                <a:ea typeface="+mn-lt"/>
                <a:cs typeface="+mn-lt"/>
              </a:rPr>
              <a:t>then frequencies per cell on an average will be 395/7 = 56</a:t>
            </a:r>
            <a:r>
              <a:rPr lang="en-US" sz="3600" dirty="0">
                <a:solidFill>
                  <a:srgbClr val="000000"/>
                </a:solidFill>
                <a:latin typeface="Gill Sans MT"/>
                <a:ea typeface="+mn-lt"/>
                <a:cs typeface="+mn-lt"/>
              </a:rPr>
              <a:t>.</a:t>
            </a:r>
            <a:r>
              <a:rPr lang="en-US" sz="3600" dirty="0">
                <a:latin typeface="Gill Sans MT"/>
                <a:ea typeface="+mn-lt"/>
                <a:cs typeface="+mn-lt"/>
              </a:rPr>
              <a:t> Here</a:t>
            </a:r>
            <a:r>
              <a:rPr lang="en-US" sz="3600" dirty="0">
                <a:solidFill>
                  <a:srgbClr val="000000"/>
                </a:solidFill>
                <a:latin typeface="Gill Sans MT"/>
                <a:ea typeface="+mn-lt"/>
                <a:cs typeface="+mn-lt"/>
              </a:rPr>
              <a:t>, cell</a:t>
            </a:r>
            <a:r>
              <a:rPr lang="en-US" sz="3600" dirty="0">
                <a:latin typeface="Gill Sans MT"/>
                <a:ea typeface="+mn-lt"/>
                <a:cs typeface="+mn-lt"/>
              </a:rPr>
              <a:t> frequency is 56.</a:t>
            </a:r>
            <a:endParaRPr lang="en-US" dirty="0">
              <a:latin typeface="Gill Sans MT"/>
            </a:endParaRPr>
          </a:p>
        </p:txBody>
      </p:sp>
    </p:spTree>
    <p:extLst>
      <p:ext uri="{BB962C8B-B14F-4D97-AF65-F5344CB8AC3E}">
        <p14:creationId xmlns:p14="http://schemas.microsoft.com/office/powerpoint/2010/main" val="156548269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0D8A5-6146-377C-D53E-72211DAE7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95AD7-7EDE-E015-477A-DE3274AA46AF}"/>
              </a:ext>
            </a:extLst>
          </p:cNvPr>
          <p:cNvSpPr>
            <a:spLocks noGrp="1"/>
          </p:cNvSpPr>
          <p:nvPr>
            <p:ph type="title"/>
          </p:nvPr>
        </p:nvSpPr>
        <p:spPr>
          <a:xfrm>
            <a:off x="274188" y="194607"/>
            <a:ext cx="15040454" cy="1595839"/>
          </a:xfrm>
        </p:spPr>
        <p:txBody>
          <a:bodyPr>
            <a:normAutofit/>
          </a:bodyPr>
          <a:lstStyle/>
          <a:p>
            <a:r>
              <a:rPr lang="en-US" cap="all" dirty="0">
                <a:latin typeface="Gill Sans MT"/>
              </a:rPr>
              <a:t>examples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911C3FC-69E0-CBBB-D167-E19ED7E7840E}"/>
                  </a:ext>
                </a:extLst>
              </p:cNvPr>
              <p:cNvSpPr>
                <a:spLocks noGrp="1"/>
              </p:cNvSpPr>
              <p:nvPr>
                <p:ph idx="1"/>
              </p:nvPr>
            </p:nvSpPr>
            <p:spPr>
              <a:xfrm>
                <a:off x="280450" y="1822362"/>
                <a:ext cx="15839611" cy="5277269"/>
              </a:xfrm>
            </p:spPr>
            <p:txBody>
              <a:bodyPr vert="horz" lIns="91440" tIns="45720" rIns="91440" bIns="45720" rtlCol="0" anchor="t">
                <a:noAutofit/>
              </a:bodyPr>
              <a:lstStyle/>
              <a:p>
                <a:pPr algn="just"/>
                <a:r>
                  <a:rPr lang="en-US" sz="3600" dirty="0">
                    <a:solidFill>
                      <a:srgbClr val="000000"/>
                    </a:solidFill>
                    <a:latin typeface="Gill Sans MT"/>
                    <a:ea typeface="+mn-lt"/>
                    <a:cs typeface="+mn-lt"/>
                  </a:rPr>
                  <a:t>Draw frequency reuse pattern for cluster size N=4</a:t>
                </a:r>
              </a:p>
              <a:p>
                <a:pPr algn="just"/>
                <a:r>
                  <a:rPr lang="en-US" sz="3600" dirty="0">
                    <a:latin typeface="Gill Sans MT"/>
                  </a:rPr>
                  <a:t>A spectrum of 30MHz is allocated to wireless FDD cellular system which uses two 25 kHz simplex channels to provide full duplex voice and control channel. Compute number of channels available per cell if the </a:t>
                </a:r>
                <a:r>
                  <a:rPr lang="en-US" sz="3600" dirty="0" smtClean="0">
                    <a:latin typeface="Gill Sans MT"/>
                  </a:rPr>
                  <a:t>system </a:t>
                </a:r>
                <a:r>
                  <a:rPr lang="en-US" sz="3600" dirty="0">
                    <a:latin typeface="Gill Sans MT"/>
                  </a:rPr>
                  <a:t>used 4 cell reuse pattern. Assume </a:t>
                </a:r>
                <a14:m>
                  <m:oMath xmlns:m="http://schemas.openxmlformats.org/officeDocument/2006/math">
                    <m:r>
                      <a:rPr lang="en-US" sz="3600" i="1" dirty="0" smtClean="0">
                        <a:latin typeface="Cambria Math" panose="02040503050406030204" pitchFamily="18" charset="0"/>
                      </a:rPr>
                      <m:t>1</m:t>
                    </m:r>
                  </m:oMath>
                </a14:m>
                <a:r>
                  <a:rPr lang="en-US" sz="3600" dirty="0">
                    <a:latin typeface="Gill Sans MT"/>
                  </a:rPr>
                  <a:t> MHz spectrum is allowed to control channel. Give the distribution of voice and control channels.</a:t>
                </a:r>
              </a:p>
              <a:p>
                <a:pPr algn="just"/>
                <a:r>
                  <a:rPr lang="en-US" sz="3600" dirty="0">
                    <a:latin typeface="Gill Sans MT"/>
                  </a:rPr>
                  <a:t>A cellular system has 33 cells, system reuse factor is 4 and radius of each cell is 2 Km. The system is designed to support 343 traffic channel calculate: No of channel per cell, </a:t>
                </a:r>
                <a:r>
                  <a:rPr lang="en-US" sz="3600" dirty="0" smtClean="0">
                    <a:latin typeface="Gill Sans MT"/>
                  </a:rPr>
                  <a:t>Geographical </a:t>
                </a:r>
                <a:r>
                  <a:rPr lang="en-US" sz="3600" dirty="0">
                    <a:latin typeface="Gill Sans MT"/>
                  </a:rPr>
                  <a:t>area covered and No of </a:t>
                </a:r>
                <a:r>
                  <a:rPr lang="en-US" sz="3600">
                    <a:latin typeface="Gill Sans MT"/>
                  </a:rPr>
                  <a:t>simultaneous </a:t>
                </a:r>
                <a:r>
                  <a:rPr lang="en-US" sz="3600" smtClean="0">
                    <a:latin typeface="Gill Sans MT"/>
                  </a:rPr>
                  <a:t>call </a:t>
                </a:r>
                <a:r>
                  <a:rPr lang="en-US" sz="3600" dirty="0">
                    <a:latin typeface="Gill Sans MT"/>
                  </a:rPr>
                  <a:t>supported by system</a:t>
                </a:r>
              </a:p>
            </p:txBody>
          </p:sp>
        </mc:Choice>
        <mc:Fallback>
          <p:sp>
            <p:nvSpPr>
              <p:cNvPr id="3" name="Content Placeholder 2">
                <a:extLst>
                  <a:ext uri="{FF2B5EF4-FFF2-40B4-BE49-F238E27FC236}">
                    <a16:creationId xmlns:a16="http://schemas.microsoft.com/office/drawing/2014/main" id="{9911C3FC-69E0-CBBB-D167-E19ED7E7840E}"/>
                  </a:ext>
                </a:extLst>
              </p:cNvPr>
              <p:cNvSpPr>
                <a:spLocks noGrp="1" noRot="1" noChangeAspect="1" noMove="1" noResize="1" noEditPoints="1" noAdjustHandles="1" noChangeArrowheads="1" noChangeShapeType="1" noTextEdit="1"/>
              </p:cNvSpPr>
              <p:nvPr>
                <p:ph idx="1"/>
              </p:nvPr>
            </p:nvSpPr>
            <p:spPr>
              <a:xfrm>
                <a:off x="280450" y="1822362"/>
                <a:ext cx="15839611" cy="5277269"/>
              </a:xfrm>
              <a:blipFill>
                <a:blip r:embed="rId3"/>
                <a:stretch>
                  <a:fillRect l="-1039" t="-2887" r="-1193" b="-4503"/>
                </a:stretch>
              </a:blipFill>
            </p:spPr>
            <p:txBody>
              <a:bodyPr/>
              <a:lstStyle/>
              <a:p>
                <a:r>
                  <a:rPr lang="en-US">
                    <a:noFill/>
                  </a:rPr>
                  <a:t> </a:t>
                </a:r>
              </a:p>
            </p:txBody>
          </p:sp>
        </mc:Fallback>
      </mc:AlternateContent>
    </p:spTree>
    <p:extLst>
      <p:ext uri="{BB962C8B-B14F-4D97-AF65-F5344CB8AC3E}">
        <p14:creationId xmlns:p14="http://schemas.microsoft.com/office/powerpoint/2010/main" val="380839613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84843-9F44-4563-F39F-4D366070A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1D80F-1A44-F9E8-B7E5-CDC315E58A3F}"/>
              </a:ext>
            </a:extLst>
          </p:cNvPr>
          <p:cNvSpPr>
            <a:spLocks noGrp="1"/>
          </p:cNvSpPr>
          <p:nvPr>
            <p:ph type="title"/>
          </p:nvPr>
        </p:nvSpPr>
        <p:spPr>
          <a:xfrm>
            <a:off x="274188" y="194607"/>
            <a:ext cx="15040454" cy="1595839"/>
          </a:xfrm>
        </p:spPr>
        <p:txBody>
          <a:bodyPr>
            <a:normAutofit/>
          </a:bodyPr>
          <a:lstStyle/>
          <a:p>
            <a:r>
              <a:rPr lang="en-US" cap="all" dirty="0">
                <a:latin typeface="Gill Sans MT"/>
              </a:rPr>
              <a:t>PROPAGATION MECHANISM</a:t>
            </a:r>
          </a:p>
        </p:txBody>
      </p:sp>
      <p:sp>
        <p:nvSpPr>
          <p:cNvPr id="3" name="Content Placeholder 2">
            <a:extLst>
              <a:ext uri="{FF2B5EF4-FFF2-40B4-BE49-F238E27FC236}">
                <a16:creationId xmlns:a16="http://schemas.microsoft.com/office/drawing/2014/main" id="{D3A000C5-9009-564F-EAAA-A3FD64118783}"/>
              </a:ext>
            </a:extLst>
          </p:cNvPr>
          <p:cNvSpPr>
            <a:spLocks noGrp="1"/>
          </p:cNvSpPr>
          <p:nvPr>
            <p:ph idx="1"/>
          </p:nvPr>
        </p:nvSpPr>
        <p:spPr>
          <a:xfrm>
            <a:off x="280450" y="2129387"/>
            <a:ext cx="15839611" cy="4983594"/>
          </a:xfrm>
        </p:spPr>
        <p:txBody>
          <a:bodyPr vert="horz" lIns="91440" tIns="45720" rIns="91440" bIns="45720" rtlCol="0" anchor="t">
            <a:noAutofit/>
          </a:bodyPr>
          <a:lstStyle/>
          <a:p>
            <a:pPr marL="0" indent="0" algn="just">
              <a:buNone/>
            </a:pPr>
            <a:r>
              <a:rPr lang="en-US" sz="3600" b="1">
                <a:solidFill>
                  <a:srgbClr val="000000"/>
                </a:solidFill>
                <a:latin typeface="Gill Sans MT"/>
                <a:ea typeface="+mn-lt"/>
                <a:cs typeface="+mn-lt"/>
              </a:rPr>
              <a:t>Wireless transmissions propagate in three modes</a:t>
            </a:r>
            <a:r>
              <a:rPr lang="en-US" sz="3600">
                <a:solidFill>
                  <a:srgbClr val="000000"/>
                </a:solidFill>
                <a:latin typeface="Gill Sans MT"/>
                <a:ea typeface="+mn-lt"/>
                <a:cs typeface="+mn-lt"/>
              </a:rPr>
              <a:t>:</a:t>
            </a:r>
            <a:endParaRPr lang="en-US"/>
          </a:p>
          <a:p>
            <a:pPr algn="just"/>
            <a:r>
              <a:rPr lang="en-US" sz="3600" b="1" dirty="0">
                <a:solidFill>
                  <a:srgbClr val="000000"/>
                </a:solidFill>
                <a:latin typeface="Gill Sans MT"/>
                <a:ea typeface="+mn-lt"/>
                <a:cs typeface="+mn-lt"/>
              </a:rPr>
              <a:t>Ground-wave propagation</a:t>
            </a:r>
            <a:r>
              <a:rPr lang="en-US" sz="3600" dirty="0">
                <a:solidFill>
                  <a:srgbClr val="000000"/>
                </a:solidFill>
                <a:latin typeface="Gill Sans MT"/>
                <a:ea typeface="+mn-lt"/>
                <a:cs typeface="+mn-lt"/>
              </a:rPr>
              <a:t>: follows the contour of the earth</a:t>
            </a:r>
            <a:endParaRPr lang="en-US" sz="3600">
              <a:latin typeface="Gill Sans MT"/>
            </a:endParaRPr>
          </a:p>
          <a:p>
            <a:pPr algn="just"/>
            <a:r>
              <a:rPr lang="en-US" sz="3600" b="1" dirty="0">
                <a:solidFill>
                  <a:srgbClr val="000000"/>
                </a:solidFill>
                <a:latin typeface="Gill Sans MT"/>
                <a:ea typeface="+mn-lt"/>
                <a:cs typeface="+mn-lt"/>
              </a:rPr>
              <a:t>Sky-wave propagation</a:t>
            </a:r>
            <a:r>
              <a:rPr lang="en-US" sz="3600" dirty="0">
                <a:solidFill>
                  <a:srgbClr val="000000"/>
                </a:solidFill>
                <a:latin typeface="Gill Sans MT"/>
                <a:ea typeface="+mn-lt"/>
                <a:cs typeface="+mn-lt"/>
              </a:rPr>
              <a:t>: uses reflection by both earth and ionosphere</a:t>
            </a:r>
            <a:endParaRPr lang="en-US" sz="3600">
              <a:latin typeface="Gill Sans MT"/>
            </a:endParaRPr>
          </a:p>
          <a:p>
            <a:pPr algn="just"/>
            <a:r>
              <a:rPr lang="en-US" sz="3600" b="1" dirty="0">
                <a:solidFill>
                  <a:srgbClr val="000000"/>
                </a:solidFill>
                <a:latin typeface="Gill Sans MT"/>
                <a:ea typeface="+mn-lt"/>
                <a:cs typeface="+mn-lt"/>
              </a:rPr>
              <a:t>Line-of-sight propagation</a:t>
            </a:r>
            <a:r>
              <a:rPr lang="en-US" sz="3600" dirty="0">
                <a:solidFill>
                  <a:srgbClr val="000000"/>
                </a:solidFill>
                <a:latin typeface="Gill Sans MT"/>
                <a:ea typeface="+mn-lt"/>
                <a:cs typeface="+mn-lt"/>
              </a:rPr>
              <a:t>: requires the transmitting and receiving antennas to be within the line of sight of each other. Depending upon</a:t>
            </a:r>
            <a:r>
              <a:rPr lang="en-US" sz="3600" dirty="0">
                <a:latin typeface="Gill Sans MT"/>
                <a:ea typeface="+mn-lt"/>
                <a:cs typeface="+mn-lt"/>
              </a:rPr>
              <a:t> the </a:t>
            </a:r>
            <a:r>
              <a:rPr lang="en-US" sz="3600" dirty="0">
                <a:solidFill>
                  <a:srgbClr val="000000"/>
                </a:solidFill>
                <a:latin typeface="Gill Sans MT"/>
                <a:ea typeface="+mn-lt"/>
                <a:cs typeface="+mn-lt"/>
              </a:rPr>
              <a:t>frequency </a:t>
            </a:r>
            <a:r>
              <a:rPr lang="en-US" sz="3600" dirty="0">
                <a:latin typeface="Gill Sans MT"/>
                <a:ea typeface="+mn-lt"/>
                <a:cs typeface="+mn-lt"/>
              </a:rPr>
              <a:t>of </a:t>
            </a:r>
            <a:r>
              <a:rPr lang="en-US" sz="3600" dirty="0">
                <a:solidFill>
                  <a:srgbClr val="000000"/>
                </a:solidFill>
                <a:latin typeface="Gill Sans MT"/>
                <a:ea typeface="+mn-lt"/>
                <a:cs typeface="+mn-lt"/>
              </a:rPr>
              <a:t>the </a:t>
            </a:r>
            <a:r>
              <a:rPr lang="en-US" sz="3600" dirty="0">
                <a:latin typeface="Gill Sans MT"/>
                <a:ea typeface="+mn-lt"/>
                <a:cs typeface="+mn-lt"/>
              </a:rPr>
              <a:t>underlying signal</a:t>
            </a:r>
            <a:r>
              <a:rPr lang="en-US" sz="3600" dirty="0">
                <a:solidFill>
                  <a:srgbClr val="000000"/>
                </a:solidFill>
                <a:latin typeface="Gill Sans MT"/>
                <a:ea typeface="+mn-lt"/>
                <a:cs typeface="+mn-lt"/>
              </a:rPr>
              <a:t>, the particular mode of </a:t>
            </a:r>
            <a:r>
              <a:rPr lang="en-US" sz="3600" dirty="0">
                <a:latin typeface="Gill Sans MT"/>
                <a:ea typeface="+mn-lt"/>
                <a:cs typeface="+mn-lt"/>
              </a:rPr>
              <a:t>propagation is followed</a:t>
            </a:r>
            <a:endParaRPr lang="en-US" dirty="0">
              <a:latin typeface="Gill Sans MT"/>
            </a:endParaRPr>
          </a:p>
        </p:txBody>
      </p:sp>
    </p:spTree>
    <p:extLst>
      <p:ext uri="{BB962C8B-B14F-4D97-AF65-F5344CB8AC3E}">
        <p14:creationId xmlns:p14="http://schemas.microsoft.com/office/powerpoint/2010/main" val="190847095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C6162-7224-47E1-9E5B-B32217A08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D8844-B0A0-4A00-18CE-33572167903A}"/>
              </a:ext>
            </a:extLst>
          </p:cNvPr>
          <p:cNvSpPr>
            <a:spLocks noGrp="1"/>
          </p:cNvSpPr>
          <p:nvPr>
            <p:ph type="title"/>
          </p:nvPr>
        </p:nvSpPr>
        <p:spPr>
          <a:xfrm>
            <a:off x="274188" y="194607"/>
            <a:ext cx="15040454" cy="1595839"/>
          </a:xfrm>
        </p:spPr>
        <p:txBody>
          <a:bodyPr>
            <a:normAutofit/>
          </a:bodyPr>
          <a:lstStyle/>
          <a:p>
            <a:r>
              <a:rPr lang="en-US" cap="all" dirty="0">
                <a:latin typeface="Gill Sans MT"/>
              </a:rPr>
              <a:t>Handover and cell switching</a:t>
            </a:r>
            <a:endParaRPr lang="en-US" dirty="0"/>
          </a:p>
        </p:txBody>
      </p:sp>
      <p:sp>
        <p:nvSpPr>
          <p:cNvPr id="3" name="Content Placeholder 2">
            <a:extLst>
              <a:ext uri="{FF2B5EF4-FFF2-40B4-BE49-F238E27FC236}">
                <a16:creationId xmlns:a16="http://schemas.microsoft.com/office/drawing/2014/main" id="{01DE87DA-45A9-86FF-A8FF-5DD2354FCE7D}"/>
              </a:ext>
            </a:extLst>
          </p:cNvPr>
          <p:cNvSpPr>
            <a:spLocks noGrp="1"/>
          </p:cNvSpPr>
          <p:nvPr>
            <p:ph idx="1"/>
          </p:nvPr>
        </p:nvSpPr>
        <p:spPr>
          <a:xfrm>
            <a:off x="280450" y="2129387"/>
            <a:ext cx="15839611" cy="4983594"/>
          </a:xfrm>
        </p:spPr>
        <p:txBody>
          <a:bodyPr vert="horz" lIns="91440" tIns="45720" rIns="91440" bIns="45720" rtlCol="0" anchor="t">
            <a:noAutofit/>
          </a:bodyPr>
          <a:lstStyle/>
          <a:p>
            <a:pPr marL="457200" indent="-457200" algn="just">
              <a:spcAft>
                <a:spcPts val="1000"/>
              </a:spcAft>
            </a:pPr>
            <a:r>
              <a:rPr lang="en-US" sz="3600" dirty="0">
                <a:solidFill>
                  <a:srgbClr val="000000"/>
                </a:solidFill>
                <a:latin typeface="Gill Sans MT"/>
                <a:ea typeface="+mn-lt"/>
                <a:cs typeface="+mn-lt"/>
              </a:rPr>
              <a:t>Handover is the process of transferring a call or data session from one cell to another as a user moves.</a:t>
            </a:r>
            <a:endParaRPr lang="en-US"/>
          </a:p>
          <a:p>
            <a:pPr marL="457200" indent="-457200" algn="just">
              <a:spcAft>
                <a:spcPts val="1000"/>
              </a:spcAft>
            </a:pPr>
            <a:r>
              <a:rPr lang="en-US" sz="3600" dirty="0">
                <a:solidFill>
                  <a:srgbClr val="000000"/>
                </a:solidFill>
                <a:latin typeface="Gill Sans MT"/>
                <a:ea typeface="+mn-lt"/>
                <a:cs typeface="+mn-lt"/>
              </a:rPr>
              <a:t>For example, imagine you're on a call while walking down the street. As you move out </a:t>
            </a:r>
            <a:r>
              <a:rPr lang="en-US" sz="3600" dirty="0">
                <a:latin typeface="Gill Sans MT"/>
                <a:ea typeface="+mn-lt"/>
                <a:cs typeface="+mn-lt"/>
              </a:rPr>
              <a:t>of </a:t>
            </a:r>
            <a:r>
              <a:rPr lang="en-US" sz="3600" dirty="0">
                <a:solidFill>
                  <a:srgbClr val="000000"/>
                </a:solidFill>
                <a:latin typeface="Gill Sans MT"/>
                <a:ea typeface="+mn-lt"/>
                <a:cs typeface="+mn-lt"/>
              </a:rPr>
              <a:t>one cell's coverage area, your device automatically switches to a neighboring cell without dropping the call.</a:t>
            </a:r>
            <a:endParaRPr lang="en-US" sz="3600">
              <a:latin typeface="Gill Sans MT"/>
            </a:endParaRPr>
          </a:p>
          <a:p>
            <a:pPr marL="457200" indent="-457200" algn="just">
              <a:spcAft>
                <a:spcPts val="1000"/>
              </a:spcAft>
            </a:pPr>
            <a:r>
              <a:rPr lang="en-US" sz="3600" dirty="0">
                <a:solidFill>
                  <a:srgbClr val="000000"/>
                </a:solidFill>
                <a:latin typeface="Gill Sans MT"/>
                <a:ea typeface="+mn-lt"/>
                <a:cs typeface="+mn-lt"/>
              </a:rPr>
              <a:t>This seamless transition between cells </a:t>
            </a:r>
            <a:r>
              <a:rPr lang="en-US" sz="3600" dirty="0">
                <a:latin typeface="Gill Sans MT"/>
                <a:ea typeface="+mn-lt"/>
                <a:cs typeface="+mn-lt"/>
              </a:rPr>
              <a:t>is essential for maintaining uninterrupted communication during mobility.</a:t>
            </a:r>
            <a:endParaRPr lang="en-US" sz="3600" dirty="0"/>
          </a:p>
        </p:txBody>
      </p:sp>
    </p:spTree>
    <p:extLst>
      <p:ext uri="{BB962C8B-B14F-4D97-AF65-F5344CB8AC3E}">
        <p14:creationId xmlns:p14="http://schemas.microsoft.com/office/powerpoint/2010/main" val="46457779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FC6E6-C84B-13AF-615F-528255A58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78EA5-78D7-706B-2D1D-1F5523C1A8B1}"/>
              </a:ext>
            </a:extLst>
          </p:cNvPr>
          <p:cNvSpPr>
            <a:spLocks noGrp="1"/>
          </p:cNvSpPr>
          <p:nvPr>
            <p:ph type="title"/>
          </p:nvPr>
        </p:nvSpPr>
        <p:spPr>
          <a:xfrm>
            <a:off x="274188" y="194607"/>
            <a:ext cx="15040454" cy="1595839"/>
          </a:xfrm>
        </p:spPr>
        <p:txBody>
          <a:bodyPr>
            <a:normAutofit/>
          </a:bodyPr>
          <a:lstStyle/>
          <a:p>
            <a:r>
              <a:rPr lang="en-US" cap="all" dirty="0">
                <a:latin typeface="Gill Sans MT"/>
              </a:rPr>
              <a:t>Types of Handover and cell switching</a:t>
            </a:r>
            <a:endParaRPr lang="en-US" dirty="0"/>
          </a:p>
        </p:txBody>
      </p:sp>
      <p:sp>
        <p:nvSpPr>
          <p:cNvPr id="3" name="Content Placeholder 2">
            <a:extLst>
              <a:ext uri="{FF2B5EF4-FFF2-40B4-BE49-F238E27FC236}">
                <a16:creationId xmlns:a16="http://schemas.microsoft.com/office/drawing/2014/main" id="{91596C94-75B2-77AA-B744-A5117714DADA}"/>
              </a:ext>
            </a:extLst>
          </p:cNvPr>
          <p:cNvSpPr>
            <a:spLocks noGrp="1"/>
          </p:cNvSpPr>
          <p:nvPr>
            <p:ph idx="1"/>
          </p:nvPr>
        </p:nvSpPr>
        <p:spPr>
          <a:xfrm>
            <a:off x="280450" y="2129387"/>
            <a:ext cx="15839611" cy="4983594"/>
          </a:xfrm>
        </p:spPr>
        <p:txBody>
          <a:bodyPr vert="horz" lIns="91440" tIns="45720" rIns="91440" bIns="45720" rtlCol="0" anchor="t">
            <a:noAutofit/>
          </a:bodyPr>
          <a:lstStyle/>
          <a:p>
            <a:pPr marL="742950" indent="-742950" algn="just">
              <a:buAutoNum type="arabicPeriod"/>
            </a:pPr>
            <a:r>
              <a:rPr lang="en-US" sz="3600" b="1" dirty="0">
                <a:solidFill>
                  <a:srgbClr val="000000"/>
                </a:solidFill>
                <a:latin typeface="Gill Sans MT"/>
                <a:ea typeface="+mn-lt"/>
                <a:cs typeface="+mn-lt"/>
              </a:rPr>
              <a:t>Hard Handover</a:t>
            </a:r>
            <a:r>
              <a:rPr lang="en-US" sz="3600" dirty="0">
                <a:solidFill>
                  <a:srgbClr val="000000"/>
                </a:solidFill>
                <a:latin typeface="Gill Sans MT"/>
                <a:ea typeface="+mn-lt"/>
                <a:cs typeface="+mn-lt"/>
              </a:rPr>
              <a:t>: "Break before make" - connection to the original cell is </a:t>
            </a:r>
            <a:r>
              <a:rPr lang="en-US" sz="3600" dirty="0">
                <a:latin typeface="Gill Sans MT"/>
                <a:ea typeface="+mn-lt"/>
                <a:cs typeface="+mn-lt"/>
              </a:rPr>
              <a:t>broken</a:t>
            </a:r>
            <a:r>
              <a:rPr lang="en-US" sz="3600" dirty="0">
                <a:solidFill>
                  <a:srgbClr val="000000"/>
                </a:solidFill>
                <a:latin typeface="Gill Sans MT"/>
                <a:ea typeface="+mn-lt"/>
                <a:cs typeface="+mn-lt"/>
              </a:rPr>
              <a:t> before connecting to the new cell</a:t>
            </a:r>
            <a:endParaRPr lang="en-US" sz="3600" dirty="0">
              <a:latin typeface="Gill Sans MT"/>
              <a:ea typeface="+mn-lt"/>
              <a:cs typeface="+mn-lt"/>
            </a:endParaRPr>
          </a:p>
          <a:p>
            <a:pPr marL="742950" indent="-742950" algn="just">
              <a:buAutoNum type="arabicPeriod"/>
            </a:pPr>
            <a:r>
              <a:rPr lang="en-US" sz="3600" b="1" dirty="0">
                <a:solidFill>
                  <a:srgbClr val="000000"/>
                </a:solidFill>
                <a:latin typeface="Gill Sans MT"/>
                <a:ea typeface="+mn-lt"/>
                <a:cs typeface="+mn-lt"/>
              </a:rPr>
              <a:t>Soft Handover</a:t>
            </a:r>
            <a:r>
              <a:rPr lang="en-US" sz="3600" dirty="0">
                <a:solidFill>
                  <a:srgbClr val="000000"/>
                </a:solidFill>
                <a:latin typeface="Gill Sans MT"/>
                <a:ea typeface="+mn-lt"/>
                <a:cs typeface="+mn-lt"/>
              </a:rPr>
              <a:t>: "Make before break" - device connects to the new cell before disconnecting from the original cell</a:t>
            </a:r>
            <a:endParaRPr lang="en-US" sz="3600">
              <a:latin typeface="Gill Sans MT"/>
            </a:endParaRPr>
          </a:p>
          <a:p>
            <a:pPr marL="742950" indent="-742950" algn="just">
              <a:buAutoNum type="arabicPeriod"/>
            </a:pPr>
            <a:r>
              <a:rPr lang="en-US" sz="3600" b="1" dirty="0">
                <a:solidFill>
                  <a:srgbClr val="000000"/>
                </a:solidFill>
                <a:latin typeface="Gill Sans MT"/>
                <a:ea typeface="+mn-lt"/>
                <a:cs typeface="+mn-lt"/>
              </a:rPr>
              <a:t>Seamless Handover</a:t>
            </a:r>
            <a:r>
              <a:rPr lang="en-US" sz="3600" dirty="0">
                <a:solidFill>
                  <a:srgbClr val="000000"/>
                </a:solidFill>
                <a:latin typeface="Gill Sans MT"/>
                <a:ea typeface="+mn-lt"/>
                <a:cs typeface="+mn-lt"/>
              </a:rPr>
              <a:t>: Transition without noticeable interruption</a:t>
            </a:r>
            <a:r>
              <a:rPr lang="en-US" sz="3600" dirty="0">
                <a:latin typeface="Gill Sans MT"/>
                <a:ea typeface="+mn-lt"/>
                <a:cs typeface="+mn-lt"/>
              </a:rPr>
              <a:t> to service</a:t>
            </a:r>
            <a:endParaRPr lang="en-US" dirty="0">
              <a:latin typeface="Gill Sans MT"/>
            </a:endParaRPr>
          </a:p>
        </p:txBody>
      </p:sp>
    </p:spTree>
    <p:extLst>
      <p:ext uri="{BB962C8B-B14F-4D97-AF65-F5344CB8AC3E}">
        <p14:creationId xmlns:p14="http://schemas.microsoft.com/office/powerpoint/2010/main" val="2471767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FF450-44D9-6D27-02C2-5DCA17CCA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E3B1D-1105-AE19-AB36-C64163123EDD}"/>
              </a:ext>
            </a:extLst>
          </p:cNvPr>
          <p:cNvSpPr>
            <a:spLocks noGrp="1"/>
          </p:cNvSpPr>
          <p:nvPr>
            <p:ph type="title"/>
          </p:nvPr>
        </p:nvSpPr>
        <p:spPr>
          <a:xfrm>
            <a:off x="274188" y="194607"/>
            <a:ext cx="15040454" cy="1595839"/>
          </a:xfrm>
        </p:spPr>
        <p:txBody>
          <a:bodyPr>
            <a:normAutofit/>
          </a:bodyPr>
          <a:lstStyle/>
          <a:p>
            <a:r>
              <a:rPr lang="en-US" cap="all" dirty="0">
                <a:latin typeface="Gill Sans MT"/>
              </a:rPr>
              <a:t>Handover decision factor</a:t>
            </a:r>
            <a:endParaRPr lang="en-US" dirty="0"/>
          </a:p>
        </p:txBody>
      </p:sp>
      <p:sp>
        <p:nvSpPr>
          <p:cNvPr id="3" name="Content Placeholder 2">
            <a:extLst>
              <a:ext uri="{FF2B5EF4-FFF2-40B4-BE49-F238E27FC236}">
                <a16:creationId xmlns:a16="http://schemas.microsoft.com/office/drawing/2014/main" id="{60B62989-FE4E-2A36-5CED-2FCF8112B919}"/>
              </a:ext>
            </a:extLst>
          </p:cNvPr>
          <p:cNvSpPr>
            <a:spLocks noGrp="1"/>
          </p:cNvSpPr>
          <p:nvPr>
            <p:ph idx="1"/>
          </p:nvPr>
        </p:nvSpPr>
        <p:spPr>
          <a:xfrm>
            <a:off x="280450" y="2129387"/>
            <a:ext cx="15839611" cy="4983594"/>
          </a:xfrm>
        </p:spPr>
        <p:txBody>
          <a:bodyPr vert="horz" lIns="91440" tIns="45720" rIns="91440" bIns="45720" rtlCol="0" anchor="t">
            <a:noAutofit/>
          </a:bodyPr>
          <a:lstStyle/>
          <a:p>
            <a:pPr marL="742950" indent="-742950" algn="just">
              <a:buAutoNum type="arabicPeriod"/>
            </a:pPr>
            <a:r>
              <a:rPr lang="en-US" sz="3600" dirty="0">
                <a:solidFill>
                  <a:srgbClr val="000000"/>
                </a:solidFill>
                <a:latin typeface="Gill Sans MT"/>
                <a:ea typeface="+mn-lt"/>
                <a:cs typeface="+mn-lt"/>
              </a:rPr>
              <a:t>Signal strength measurements</a:t>
            </a:r>
            <a:endParaRPr lang="en-US" sz="3600">
              <a:solidFill>
                <a:srgbClr val="000000"/>
              </a:solidFill>
              <a:latin typeface="Gill Sans MT"/>
              <a:ea typeface="+mn-lt"/>
              <a:cs typeface="+mn-lt"/>
            </a:endParaRPr>
          </a:p>
          <a:p>
            <a:pPr marL="742950" indent="-742950" algn="just">
              <a:buAutoNum type="arabicPeriod"/>
            </a:pPr>
            <a:r>
              <a:rPr lang="en-US" sz="3600" dirty="0">
                <a:solidFill>
                  <a:srgbClr val="000000"/>
                </a:solidFill>
                <a:latin typeface="Gill Sans MT"/>
                <a:ea typeface="+mn-lt"/>
                <a:cs typeface="+mn-lt"/>
              </a:rPr>
              <a:t>Signal quality (signal-to-noise ratio)</a:t>
            </a:r>
            <a:endParaRPr lang="en-US" sz="3600">
              <a:latin typeface="Gill Sans MT"/>
            </a:endParaRPr>
          </a:p>
          <a:p>
            <a:pPr marL="742950" indent="-742950" algn="just">
              <a:buAutoNum type="arabicPeriod"/>
            </a:pPr>
            <a:r>
              <a:rPr lang="en-US" sz="3600" dirty="0">
                <a:solidFill>
                  <a:srgbClr val="000000"/>
                </a:solidFill>
                <a:latin typeface="Gill Sans MT"/>
                <a:ea typeface="+mn-lt"/>
                <a:cs typeface="+mn-lt"/>
              </a:rPr>
              <a:t>Distance from base station</a:t>
            </a:r>
            <a:endParaRPr lang="en-US" sz="3600">
              <a:latin typeface="Gill Sans MT"/>
            </a:endParaRPr>
          </a:p>
          <a:p>
            <a:pPr marL="742950" indent="-742950" algn="just">
              <a:buAutoNum type="arabicPeriod"/>
            </a:pPr>
            <a:r>
              <a:rPr lang="en-US" sz="3600" dirty="0">
                <a:solidFill>
                  <a:srgbClr val="000000"/>
                </a:solidFill>
                <a:latin typeface="Gill Sans MT"/>
                <a:ea typeface="+mn-lt"/>
                <a:cs typeface="+mn-lt"/>
              </a:rPr>
              <a:t>Network load balancing</a:t>
            </a:r>
            <a:endParaRPr lang="en-US" sz="3600">
              <a:solidFill>
                <a:srgbClr val="000000"/>
              </a:solidFill>
              <a:latin typeface="Gill Sans MT"/>
              <a:ea typeface="+mn-lt"/>
              <a:cs typeface="+mn-lt"/>
            </a:endParaRPr>
          </a:p>
          <a:p>
            <a:pPr marL="742950" indent="-742950" algn="just">
              <a:buAutoNum type="arabicPeriod"/>
            </a:pPr>
            <a:r>
              <a:rPr lang="en-US" sz="3600" dirty="0">
                <a:solidFill>
                  <a:srgbClr val="000000"/>
                </a:solidFill>
                <a:latin typeface="Gill Sans MT"/>
                <a:ea typeface="+mn-lt"/>
                <a:cs typeface="+mn-lt"/>
              </a:rPr>
              <a:t>User velocity and direction</a:t>
            </a:r>
            <a:endParaRPr lang="en-US" dirty="0">
              <a:latin typeface="Gill Sans MT"/>
            </a:endParaRPr>
          </a:p>
        </p:txBody>
      </p:sp>
    </p:spTree>
    <p:extLst>
      <p:ext uri="{BB962C8B-B14F-4D97-AF65-F5344CB8AC3E}">
        <p14:creationId xmlns:p14="http://schemas.microsoft.com/office/powerpoint/2010/main" val="10963813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36C90-F282-A98D-64AE-46C240DE0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41635-1035-0773-C60B-0CB62EF139EA}"/>
              </a:ext>
            </a:extLst>
          </p:cNvPr>
          <p:cNvSpPr>
            <a:spLocks noGrp="1"/>
          </p:cNvSpPr>
          <p:nvPr>
            <p:ph type="title"/>
          </p:nvPr>
        </p:nvSpPr>
        <p:spPr>
          <a:xfrm>
            <a:off x="274188" y="194607"/>
            <a:ext cx="15040454" cy="1595839"/>
          </a:xfrm>
        </p:spPr>
        <p:txBody>
          <a:bodyPr>
            <a:normAutofit/>
          </a:bodyPr>
          <a:lstStyle/>
          <a:p>
            <a:r>
              <a:rPr lang="en-US" cap="all" dirty="0">
                <a:latin typeface="Gill Sans MT"/>
              </a:rPr>
              <a:t>Software architecture for mobility</a:t>
            </a:r>
            <a:endParaRPr lang="en-US" dirty="0"/>
          </a:p>
        </p:txBody>
      </p:sp>
      <p:sp>
        <p:nvSpPr>
          <p:cNvPr id="3" name="Content Placeholder 2">
            <a:extLst>
              <a:ext uri="{FF2B5EF4-FFF2-40B4-BE49-F238E27FC236}">
                <a16:creationId xmlns:a16="http://schemas.microsoft.com/office/drawing/2014/main" id="{FC7932C0-5BC0-7369-6148-2D4597DF9343}"/>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dirty="0">
                <a:solidFill>
                  <a:srgbClr val="000000"/>
                </a:solidFill>
                <a:latin typeface="Gill Sans MT"/>
                <a:ea typeface="+mn-lt"/>
                <a:cs typeface="+mn-lt"/>
              </a:rPr>
              <a:t>Mobility in cellular networks requires sophisticated software systems to manage handovers and ensure seamless connectivity.</a:t>
            </a:r>
            <a:endParaRPr lang="en-US" sz="3600" dirty="0">
              <a:latin typeface="Gill Sans MT"/>
            </a:endParaRPr>
          </a:p>
          <a:p>
            <a:pPr algn="just"/>
            <a:r>
              <a:rPr lang="en-US" sz="3600" dirty="0">
                <a:solidFill>
                  <a:srgbClr val="000000"/>
                </a:solidFill>
                <a:latin typeface="Gill Sans MT"/>
                <a:ea typeface="+mn-lt"/>
                <a:cs typeface="+mn-lt"/>
              </a:rPr>
              <a:t>These software systems must track the movement </a:t>
            </a:r>
            <a:r>
              <a:rPr lang="en-US" sz="3600" dirty="0">
                <a:latin typeface="Gill Sans MT"/>
                <a:ea typeface="+mn-lt"/>
                <a:cs typeface="+mn-lt"/>
              </a:rPr>
              <a:t>of </a:t>
            </a:r>
            <a:r>
              <a:rPr lang="en-US" sz="3600" dirty="0">
                <a:solidFill>
                  <a:srgbClr val="000000"/>
                </a:solidFill>
                <a:latin typeface="Gill Sans MT"/>
                <a:ea typeface="+mn-lt"/>
                <a:cs typeface="+mn-lt"/>
              </a:rPr>
              <a:t>users, predict handover events, and coordinate communication between cells.</a:t>
            </a:r>
            <a:endParaRPr lang="en-US" sz="3600">
              <a:latin typeface="Gill Sans MT"/>
            </a:endParaRPr>
          </a:p>
          <a:p>
            <a:pPr algn="just"/>
            <a:r>
              <a:rPr lang="en-US" sz="3600" dirty="0">
                <a:solidFill>
                  <a:srgbClr val="000000"/>
                </a:solidFill>
                <a:latin typeface="Gill Sans MT"/>
                <a:ea typeface="+mn-lt"/>
                <a:cs typeface="+mn-lt"/>
              </a:rPr>
              <a:t>Think of the software as a traffic controller that directs data traffic and manages the </a:t>
            </a:r>
            <a:r>
              <a:rPr lang="en-US" sz="3600" dirty="0">
                <a:latin typeface="Gill Sans MT"/>
                <a:ea typeface="+mn-lt"/>
                <a:cs typeface="+mn-lt"/>
              </a:rPr>
              <a:t>handover process to optimize network performance and user experience</a:t>
            </a:r>
            <a:r>
              <a:rPr lang="en-US" sz="3600" dirty="0">
                <a:solidFill>
                  <a:srgbClr val="000000"/>
                </a:solidFill>
                <a:latin typeface="Gill Sans MT"/>
                <a:ea typeface="+mn-lt"/>
                <a:cs typeface="+mn-lt"/>
              </a:rPr>
              <a:t>.</a:t>
            </a:r>
            <a:endParaRPr lang="en-US" sz="3600" dirty="0"/>
          </a:p>
          <a:p>
            <a:pPr marL="457200" indent="-457200" algn="just">
              <a:spcAft>
                <a:spcPts val="1000"/>
              </a:spcAft>
            </a:pPr>
            <a:endParaRPr lang="en-US" sz="3600" dirty="0">
              <a:latin typeface="Gill Sans MT"/>
            </a:endParaRPr>
          </a:p>
        </p:txBody>
      </p:sp>
    </p:spTree>
    <p:extLst>
      <p:ext uri="{BB962C8B-B14F-4D97-AF65-F5344CB8AC3E}">
        <p14:creationId xmlns:p14="http://schemas.microsoft.com/office/powerpoint/2010/main" val="41807904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C98CD-DFAD-0B58-7996-5899833AE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F3B1C-B54A-E1A8-2A0B-02115832AD2E}"/>
              </a:ext>
            </a:extLst>
          </p:cNvPr>
          <p:cNvSpPr>
            <a:spLocks noGrp="1"/>
          </p:cNvSpPr>
          <p:nvPr>
            <p:ph type="title"/>
          </p:nvPr>
        </p:nvSpPr>
        <p:spPr>
          <a:xfrm>
            <a:off x="274188" y="194607"/>
            <a:ext cx="15040454" cy="1595839"/>
          </a:xfrm>
        </p:spPr>
        <p:txBody>
          <a:bodyPr>
            <a:normAutofit/>
          </a:bodyPr>
          <a:lstStyle/>
          <a:p>
            <a:r>
              <a:rPr lang="en-US" cap="all" dirty="0">
                <a:latin typeface="Gill Sans MT"/>
              </a:rPr>
              <a:t>Software architecture for mobility</a:t>
            </a:r>
            <a:endParaRPr lang="en-US" dirty="0"/>
          </a:p>
        </p:txBody>
      </p:sp>
      <p:sp>
        <p:nvSpPr>
          <p:cNvPr id="3" name="Content Placeholder 2">
            <a:extLst>
              <a:ext uri="{FF2B5EF4-FFF2-40B4-BE49-F238E27FC236}">
                <a16:creationId xmlns:a16="http://schemas.microsoft.com/office/drawing/2014/main" id="{D6384FC3-F665-F514-241A-47107CC8B53E}"/>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dirty="0">
                <a:solidFill>
                  <a:srgbClr val="000000"/>
                </a:solidFill>
                <a:latin typeface="Gill Sans MT"/>
                <a:ea typeface="+mn-lt"/>
                <a:cs typeface="+mn-lt"/>
              </a:rPr>
              <a:t>Mobility introduces challenges such as signal strength variations, handover delays, and network congestion.</a:t>
            </a:r>
            <a:endParaRPr lang="en-US" sz="3600" dirty="0">
              <a:latin typeface="Gill Sans MT"/>
            </a:endParaRPr>
          </a:p>
          <a:p>
            <a:pPr algn="just"/>
            <a:r>
              <a:rPr lang="en-US" sz="3600" dirty="0">
                <a:solidFill>
                  <a:srgbClr val="000000"/>
                </a:solidFill>
                <a:latin typeface="Gill Sans MT"/>
                <a:ea typeface="+mn-lt"/>
                <a:cs typeface="+mn-lt"/>
              </a:rPr>
              <a:t>To address these challenges, cellular networks deploy advanced technologies like adaptive antenna systems, handover optimization algorithms, and load balancing techniques.</a:t>
            </a:r>
            <a:endParaRPr lang="en-US" sz="3600">
              <a:latin typeface="Gill Sans MT"/>
            </a:endParaRPr>
          </a:p>
          <a:p>
            <a:pPr algn="just"/>
            <a:r>
              <a:rPr lang="en-US" sz="3600" dirty="0">
                <a:solidFill>
                  <a:srgbClr val="000000"/>
                </a:solidFill>
                <a:latin typeface="Gill Sans MT"/>
                <a:ea typeface="+mn-lt"/>
                <a:cs typeface="+mn-lt"/>
              </a:rPr>
              <a:t>These technologies help enhance </a:t>
            </a:r>
            <a:r>
              <a:rPr lang="en-US" sz="3600" dirty="0">
                <a:latin typeface="Gill Sans MT"/>
                <a:ea typeface="+mn-lt"/>
                <a:cs typeface="+mn-lt"/>
              </a:rPr>
              <a:t>network reliability, minimize dropped calls, and improve overall quality of service for mobile users</a:t>
            </a:r>
            <a:endParaRPr lang="en-US" sz="3600" dirty="0"/>
          </a:p>
          <a:p>
            <a:pPr algn="just"/>
            <a:endParaRPr lang="en-US" sz="3600" dirty="0">
              <a:latin typeface="Gill Sans MT"/>
            </a:endParaRPr>
          </a:p>
          <a:p>
            <a:pPr marL="457200" indent="-457200" algn="just">
              <a:spcAft>
                <a:spcPts val="1000"/>
              </a:spcAft>
            </a:pPr>
            <a:endParaRPr lang="en-US" sz="3600" dirty="0">
              <a:latin typeface="Gill Sans MT"/>
            </a:endParaRPr>
          </a:p>
        </p:txBody>
      </p:sp>
    </p:spTree>
    <p:extLst>
      <p:ext uri="{BB962C8B-B14F-4D97-AF65-F5344CB8AC3E}">
        <p14:creationId xmlns:p14="http://schemas.microsoft.com/office/powerpoint/2010/main" val="23743195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92F20-8326-2E0B-704B-196523A09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C6106-5BD9-1748-FBAF-1A2D676E23CC}"/>
              </a:ext>
            </a:extLst>
          </p:cNvPr>
          <p:cNvSpPr>
            <a:spLocks noGrp="1"/>
          </p:cNvSpPr>
          <p:nvPr>
            <p:ph type="title"/>
          </p:nvPr>
        </p:nvSpPr>
        <p:spPr>
          <a:xfrm>
            <a:off x="274188" y="194607"/>
            <a:ext cx="15040454" cy="1595839"/>
          </a:xfrm>
        </p:spPr>
        <p:txBody>
          <a:bodyPr>
            <a:normAutofit/>
          </a:bodyPr>
          <a:lstStyle/>
          <a:p>
            <a:r>
              <a:rPr lang="en-US" cap="all" dirty="0">
                <a:latin typeface="Gill Sans MT"/>
              </a:rPr>
              <a:t>FADING</a:t>
            </a:r>
            <a:endParaRPr lang="en-US" dirty="0"/>
          </a:p>
        </p:txBody>
      </p:sp>
      <p:sp>
        <p:nvSpPr>
          <p:cNvPr id="3" name="Content Placeholder 2">
            <a:extLst>
              <a:ext uri="{FF2B5EF4-FFF2-40B4-BE49-F238E27FC236}">
                <a16:creationId xmlns:a16="http://schemas.microsoft.com/office/drawing/2014/main" id="{6CEFB0A0-19ED-445B-8671-FFA4197B381C}"/>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b="1" dirty="0">
                <a:solidFill>
                  <a:srgbClr val="000000"/>
                </a:solidFill>
                <a:latin typeface="Gill Sans MT"/>
                <a:ea typeface="+mn-lt"/>
                <a:cs typeface="+mn-lt"/>
              </a:rPr>
              <a:t>Fading</a:t>
            </a:r>
            <a:r>
              <a:rPr lang="en-US" sz="3600" dirty="0">
                <a:solidFill>
                  <a:srgbClr val="000000"/>
                </a:solidFill>
                <a:latin typeface="Gill Sans MT"/>
                <a:ea typeface="+mn-lt"/>
                <a:cs typeface="+mn-lt"/>
              </a:rPr>
              <a:t> is a common phenomenon in radio communication where the strength of a received signal fluctuates over time and space.</a:t>
            </a:r>
            <a:endParaRPr lang="en-US" sz="3600">
              <a:latin typeface="Gill Sans MT"/>
            </a:endParaRPr>
          </a:p>
          <a:p>
            <a:pPr algn="just"/>
            <a:r>
              <a:rPr lang="en-US" sz="3600" dirty="0">
                <a:solidFill>
                  <a:srgbClr val="000000"/>
                </a:solidFill>
                <a:latin typeface="Gill Sans MT"/>
                <a:ea typeface="+mn-lt"/>
                <a:cs typeface="+mn-lt"/>
              </a:rPr>
              <a:t>It occurs due to various factors such as multipath propagation, atmospheric conditions, and obstacles in the signal path.</a:t>
            </a:r>
            <a:endParaRPr lang="en-US" sz="3600">
              <a:latin typeface="Gill Sans MT"/>
            </a:endParaRPr>
          </a:p>
          <a:p>
            <a:pPr algn="just"/>
            <a:r>
              <a:rPr lang="en-US" sz="3600" dirty="0">
                <a:solidFill>
                  <a:srgbClr val="000000"/>
                </a:solidFill>
                <a:latin typeface="Gill Sans MT"/>
                <a:ea typeface="+mn-lt"/>
                <a:cs typeface="+mn-lt"/>
              </a:rPr>
              <a:t>Fading can lead to signal attenuation</a:t>
            </a:r>
            <a:r>
              <a:rPr lang="en-US" sz="3600" dirty="0">
                <a:latin typeface="Gill Sans MT"/>
                <a:ea typeface="+mn-lt"/>
                <a:cs typeface="+mn-lt"/>
              </a:rPr>
              <a:t>, distortion, and intermittent loss of connectivity, posing challenges for wireless communication systems.</a:t>
            </a:r>
            <a:endParaRPr lang="en-US" sz="3600" dirty="0"/>
          </a:p>
          <a:p>
            <a:pPr algn="just"/>
            <a:endParaRPr lang="en-US" sz="3600" dirty="0">
              <a:latin typeface="Gill Sans MT"/>
            </a:endParaRPr>
          </a:p>
          <a:p>
            <a:pPr algn="just"/>
            <a:endParaRPr lang="en-US" sz="3600" dirty="0">
              <a:latin typeface="Gill Sans MT"/>
            </a:endParaRPr>
          </a:p>
          <a:p>
            <a:pPr marL="457200" indent="-457200" algn="just">
              <a:spcAft>
                <a:spcPts val="1000"/>
              </a:spcAft>
            </a:pPr>
            <a:endParaRPr lang="en-US" sz="3600" dirty="0">
              <a:latin typeface="Gill Sans MT"/>
            </a:endParaRPr>
          </a:p>
        </p:txBody>
      </p:sp>
    </p:spTree>
    <p:extLst>
      <p:ext uri="{BB962C8B-B14F-4D97-AF65-F5344CB8AC3E}">
        <p14:creationId xmlns:p14="http://schemas.microsoft.com/office/powerpoint/2010/main" val="26336704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FDD7F-3A78-8BD1-5879-D44BD3635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98A00F-8354-15CA-9A54-CADE90139772}"/>
              </a:ext>
            </a:extLst>
          </p:cNvPr>
          <p:cNvSpPr>
            <a:spLocks noGrp="1"/>
          </p:cNvSpPr>
          <p:nvPr>
            <p:ph type="title"/>
          </p:nvPr>
        </p:nvSpPr>
        <p:spPr>
          <a:xfrm>
            <a:off x="274188" y="194607"/>
            <a:ext cx="15040454" cy="1595839"/>
          </a:xfrm>
        </p:spPr>
        <p:txBody>
          <a:bodyPr>
            <a:normAutofit/>
          </a:bodyPr>
          <a:lstStyle/>
          <a:p>
            <a:r>
              <a:rPr lang="en-US" cap="all" dirty="0">
                <a:latin typeface="Gill Sans MT"/>
              </a:rPr>
              <a:t>FADING</a:t>
            </a:r>
            <a:endParaRPr lang="en-US" dirty="0"/>
          </a:p>
        </p:txBody>
      </p:sp>
      <p:sp>
        <p:nvSpPr>
          <p:cNvPr id="3" name="Content Placeholder 2">
            <a:extLst>
              <a:ext uri="{FF2B5EF4-FFF2-40B4-BE49-F238E27FC236}">
                <a16:creationId xmlns:a16="http://schemas.microsoft.com/office/drawing/2014/main" id="{61726EC5-E595-6507-A2F8-6E2C9D26CA9A}"/>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b="1" dirty="0">
                <a:solidFill>
                  <a:srgbClr val="000000"/>
                </a:solidFill>
                <a:latin typeface="Gill Sans MT"/>
                <a:ea typeface="+mn-lt"/>
                <a:cs typeface="+mn-lt"/>
              </a:rPr>
              <a:t>Short-term fading</a:t>
            </a:r>
            <a:r>
              <a:rPr lang="en-US" sz="3600" dirty="0">
                <a:solidFill>
                  <a:srgbClr val="000000"/>
                </a:solidFill>
                <a:latin typeface="Gill Sans MT"/>
                <a:ea typeface="+mn-lt"/>
                <a:cs typeface="+mn-lt"/>
              </a:rPr>
              <a:t> occurs when the transmitted signal takes multiple paths to reach the receiver, resulting in signal components arriving at different times and phases.</a:t>
            </a:r>
            <a:endParaRPr lang="en-US" sz="3600">
              <a:latin typeface="Gill Sans MT"/>
            </a:endParaRPr>
          </a:p>
          <a:p>
            <a:pPr algn="just"/>
            <a:r>
              <a:rPr lang="en-US" sz="3600" dirty="0">
                <a:solidFill>
                  <a:srgbClr val="000000"/>
                </a:solidFill>
                <a:latin typeface="Gill Sans MT"/>
                <a:ea typeface="+mn-lt"/>
                <a:cs typeface="+mn-lt"/>
              </a:rPr>
              <a:t>This phenomenon causes signal amplitude variations, leading to rapid fluctuations in signal strength.</a:t>
            </a:r>
            <a:endParaRPr lang="en-US" sz="3600">
              <a:latin typeface="Gill Sans MT"/>
            </a:endParaRPr>
          </a:p>
          <a:p>
            <a:pPr algn="just"/>
            <a:r>
              <a:rPr lang="en-US" sz="3600" dirty="0">
                <a:solidFill>
                  <a:srgbClr val="000000"/>
                </a:solidFill>
                <a:latin typeface="Gill Sans MT"/>
                <a:ea typeface="+mn-lt"/>
                <a:cs typeface="+mn-lt"/>
              </a:rPr>
              <a:t>Short-term fading is </a:t>
            </a:r>
            <a:r>
              <a:rPr lang="en-US" sz="3600" dirty="0">
                <a:latin typeface="Gill Sans MT"/>
                <a:ea typeface="+mn-lt"/>
                <a:cs typeface="+mn-lt"/>
              </a:rPr>
              <a:t>commonly observed in urban environments with buildings and structures causing </a:t>
            </a:r>
            <a:r>
              <a:rPr lang="en-US" sz="3600" dirty="0">
                <a:solidFill>
                  <a:srgbClr val="000000"/>
                </a:solidFill>
                <a:latin typeface="Gill Sans MT"/>
                <a:ea typeface="+mn-lt"/>
                <a:cs typeface="+mn-lt"/>
              </a:rPr>
              <a:t>signal </a:t>
            </a:r>
            <a:r>
              <a:rPr lang="en-US" sz="3600" dirty="0">
                <a:latin typeface="Gill Sans MT"/>
                <a:ea typeface="+mn-lt"/>
                <a:cs typeface="+mn-lt"/>
              </a:rPr>
              <a:t>reflections and scattering.</a:t>
            </a:r>
            <a:endParaRPr lang="en-US" sz="3600" dirty="0"/>
          </a:p>
          <a:p>
            <a:pPr algn="just"/>
            <a:endParaRPr lang="en-US" sz="3600" dirty="0">
              <a:latin typeface="Gill Sans MT"/>
            </a:endParaRPr>
          </a:p>
          <a:p>
            <a:pPr algn="just"/>
            <a:endParaRPr lang="en-US" sz="3600" dirty="0">
              <a:latin typeface="Gill Sans MT"/>
            </a:endParaRPr>
          </a:p>
          <a:p>
            <a:pPr algn="just"/>
            <a:endParaRPr lang="en-US" sz="3600" dirty="0">
              <a:latin typeface="Gill Sans MT"/>
            </a:endParaRPr>
          </a:p>
          <a:p>
            <a:pPr marL="457200" indent="-457200" algn="just">
              <a:spcAft>
                <a:spcPts val="1000"/>
              </a:spcAft>
            </a:pPr>
            <a:endParaRPr lang="en-US" sz="3600" dirty="0">
              <a:latin typeface="Gill Sans MT"/>
            </a:endParaRPr>
          </a:p>
        </p:txBody>
      </p:sp>
    </p:spTree>
    <p:extLst>
      <p:ext uri="{BB962C8B-B14F-4D97-AF65-F5344CB8AC3E}">
        <p14:creationId xmlns:p14="http://schemas.microsoft.com/office/powerpoint/2010/main" val="29439335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DD392-A875-8416-0748-7928A9D70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E76E7-EFF6-95BB-B78A-8F3F1B756C5B}"/>
              </a:ext>
            </a:extLst>
          </p:cNvPr>
          <p:cNvSpPr>
            <a:spLocks noGrp="1"/>
          </p:cNvSpPr>
          <p:nvPr>
            <p:ph type="title"/>
          </p:nvPr>
        </p:nvSpPr>
        <p:spPr>
          <a:xfrm>
            <a:off x="274188" y="194607"/>
            <a:ext cx="15040454" cy="1595839"/>
          </a:xfrm>
        </p:spPr>
        <p:txBody>
          <a:bodyPr>
            <a:normAutofit/>
          </a:bodyPr>
          <a:lstStyle/>
          <a:p>
            <a:r>
              <a:rPr lang="en-US" cap="all" dirty="0">
                <a:latin typeface="Gill Sans MT"/>
              </a:rPr>
              <a:t>FADING</a:t>
            </a:r>
            <a:endParaRPr lang="en-US" dirty="0"/>
          </a:p>
        </p:txBody>
      </p:sp>
      <p:sp>
        <p:nvSpPr>
          <p:cNvPr id="3" name="Content Placeholder 2">
            <a:extLst>
              <a:ext uri="{FF2B5EF4-FFF2-40B4-BE49-F238E27FC236}">
                <a16:creationId xmlns:a16="http://schemas.microsoft.com/office/drawing/2014/main" id="{3CBC207C-82A6-C4AF-1CBD-BD97C3C3958E}"/>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b="1" dirty="0">
                <a:solidFill>
                  <a:srgbClr val="000000"/>
                </a:solidFill>
                <a:latin typeface="Gill Sans MT"/>
                <a:ea typeface="+mn-lt"/>
                <a:cs typeface="+mn-lt"/>
              </a:rPr>
              <a:t>Long-term fading</a:t>
            </a:r>
            <a:r>
              <a:rPr lang="en-US" sz="3600" dirty="0">
                <a:solidFill>
                  <a:srgbClr val="000000"/>
                </a:solidFill>
                <a:latin typeface="Gill Sans MT"/>
                <a:ea typeface="+mn-lt"/>
                <a:cs typeface="+mn-lt"/>
              </a:rPr>
              <a:t> occurs due to the topography of the terrain and large-scale obstacles such as mountains, hills, and buildings.</a:t>
            </a:r>
            <a:endParaRPr lang="en-US" sz="3600">
              <a:latin typeface="Gill Sans MT"/>
            </a:endParaRPr>
          </a:p>
          <a:p>
            <a:pPr algn="just"/>
            <a:r>
              <a:rPr lang="en-US" sz="3600" dirty="0">
                <a:solidFill>
                  <a:srgbClr val="000000"/>
                </a:solidFill>
                <a:latin typeface="Gill Sans MT"/>
                <a:ea typeface="+mn-lt"/>
                <a:cs typeface="+mn-lt"/>
              </a:rPr>
              <a:t>These obstacles create shadow regions where the signal is significantly attenuated or blocked entirely, leading to signal dropouts.</a:t>
            </a:r>
            <a:endParaRPr lang="en-US" sz="3600">
              <a:latin typeface="Gill Sans MT"/>
            </a:endParaRPr>
          </a:p>
          <a:p>
            <a:pPr algn="just"/>
            <a:r>
              <a:rPr lang="en-US" sz="3600" dirty="0">
                <a:solidFill>
                  <a:srgbClr val="000000"/>
                </a:solidFill>
                <a:latin typeface="Gill Sans MT"/>
                <a:ea typeface="+mn-lt"/>
                <a:cs typeface="+mn-lt"/>
              </a:rPr>
              <a:t>Long-term fading effects are </a:t>
            </a:r>
            <a:r>
              <a:rPr lang="en-US" sz="3600" dirty="0">
                <a:latin typeface="Gill Sans MT"/>
                <a:ea typeface="+mn-lt"/>
                <a:cs typeface="+mn-lt"/>
              </a:rPr>
              <a:t>more pronounced over longer distances and can persist for extended periods, affecting overall network coverage.</a:t>
            </a:r>
            <a:endParaRPr lang="en-US" sz="3600" dirty="0"/>
          </a:p>
          <a:p>
            <a:pPr algn="just"/>
            <a:endParaRPr lang="en-US" sz="3600" dirty="0">
              <a:latin typeface="Gill Sans MT"/>
            </a:endParaRPr>
          </a:p>
          <a:p>
            <a:pPr algn="just"/>
            <a:endParaRPr lang="en-US" sz="3600" dirty="0">
              <a:latin typeface="Gill Sans MT"/>
            </a:endParaRPr>
          </a:p>
          <a:p>
            <a:pPr algn="just"/>
            <a:endParaRPr lang="en-US" sz="3600" dirty="0">
              <a:latin typeface="Gill Sans MT"/>
            </a:endParaRPr>
          </a:p>
          <a:p>
            <a:pPr algn="just"/>
            <a:endParaRPr lang="en-US" sz="3600" dirty="0">
              <a:latin typeface="Gill Sans MT"/>
            </a:endParaRPr>
          </a:p>
          <a:p>
            <a:pPr marL="457200" indent="-457200" algn="just">
              <a:spcAft>
                <a:spcPts val="1000"/>
              </a:spcAft>
            </a:pPr>
            <a:endParaRPr lang="en-US" sz="3600" dirty="0">
              <a:latin typeface="Gill Sans MT"/>
            </a:endParaRPr>
          </a:p>
        </p:txBody>
      </p:sp>
    </p:spTree>
    <p:extLst>
      <p:ext uri="{BB962C8B-B14F-4D97-AF65-F5344CB8AC3E}">
        <p14:creationId xmlns:p14="http://schemas.microsoft.com/office/powerpoint/2010/main" val="14708664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FB7DE-21C4-5162-3D66-55CD21053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14FF9-98CF-10BD-D3AA-BC5A0A93B4C7}"/>
              </a:ext>
            </a:extLst>
          </p:cNvPr>
          <p:cNvSpPr>
            <a:spLocks noGrp="1"/>
          </p:cNvSpPr>
          <p:nvPr>
            <p:ph type="title"/>
          </p:nvPr>
        </p:nvSpPr>
        <p:spPr>
          <a:xfrm>
            <a:off x="274188" y="194607"/>
            <a:ext cx="15040454" cy="1595839"/>
          </a:xfrm>
        </p:spPr>
        <p:txBody>
          <a:bodyPr>
            <a:normAutofit/>
          </a:bodyPr>
          <a:lstStyle/>
          <a:p>
            <a:r>
              <a:rPr lang="en-US" cap="all" dirty="0">
                <a:latin typeface="Gill Sans MT"/>
              </a:rPr>
              <a:t>Interference</a:t>
            </a:r>
          </a:p>
        </p:txBody>
      </p:sp>
      <p:sp>
        <p:nvSpPr>
          <p:cNvPr id="3" name="Content Placeholder 2">
            <a:extLst>
              <a:ext uri="{FF2B5EF4-FFF2-40B4-BE49-F238E27FC236}">
                <a16:creationId xmlns:a16="http://schemas.microsoft.com/office/drawing/2014/main" id="{E3131ACE-E93A-B43C-3C5E-A51B7F5FBBB0}"/>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dirty="0">
                <a:solidFill>
                  <a:srgbClr val="000000"/>
                </a:solidFill>
                <a:latin typeface="Gill Sans MT"/>
                <a:ea typeface="+mn-lt"/>
                <a:cs typeface="+mn-lt"/>
              </a:rPr>
              <a:t>Interference occurs when unwanted signals from other sources disrupt the communication between a transmitter and receiver.</a:t>
            </a:r>
          </a:p>
          <a:p>
            <a:pPr algn="just"/>
            <a:r>
              <a:rPr lang="en-US" sz="3600" dirty="0">
                <a:solidFill>
                  <a:srgbClr val="000000"/>
                </a:solidFill>
                <a:latin typeface="Gill Sans MT"/>
                <a:ea typeface="+mn-lt"/>
                <a:cs typeface="+mn-lt"/>
              </a:rPr>
              <a:t>Interference can arise from</a:t>
            </a:r>
            <a:r>
              <a:rPr lang="en-US" sz="3600" dirty="0">
                <a:latin typeface="Gill Sans MT"/>
                <a:ea typeface="+mn-lt"/>
                <a:cs typeface="+mn-lt"/>
              </a:rPr>
              <a:t> various sources, including neighboring cells, adjacent channels</a:t>
            </a:r>
            <a:r>
              <a:rPr lang="en-US" sz="3600" dirty="0">
                <a:solidFill>
                  <a:srgbClr val="000000"/>
                </a:solidFill>
                <a:latin typeface="Gill Sans MT"/>
                <a:ea typeface="+mn-lt"/>
                <a:cs typeface="+mn-lt"/>
              </a:rPr>
              <a:t>, </a:t>
            </a:r>
            <a:r>
              <a:rPr lang="en-US" sz="3600" dirty="0">
                <a:latin typeface="Gill Sans MT"/>
                <a:ea typeface="+mn-lt"/>
                <a:cs typeface="+mn-lt"/>
              </a:rPr>
              <a:t>electronic devices</a:t>
            </a:r>
            <a:r>
              <a:rPr lang="en-US" sz="3600" dirty="0">
                <a:solidFill>
                  <a:srgbClr val="000000"/>
                </a:solidFill>
                <a:latin typeface="Gill Sans MT"/>
                <a:ea typeface="+mn-lt"/>
                <a:cs typeface="+mn-lt"/>
              </a:rPr>
              <a:t>, and </a:t>
            </a:r>
            <a:r>
              <a:rPr lang="en-US" sz="3600" dirty="0">
                <a:latin typeface="Gill Sans MT"/>
                <a:ea typeface="+mn-lt"/>
                <a:cs typeface="+mn-lt"/>
              </a:rPr>
              <a:t>environmental noise</a:t>
            </a:r>
            <a:r>
              <a:rPr lang="en-US" sz="3600" dirty="0">
                <a:solidFill>
                  <a:srgbClr val="000000"/>
                </a:solidFill>
                <a:latin typeface="Gill Sans MT"/>
                <a:ea typeface="+mn-lt"/>
                <a:cs typeface="+mn-lt"/>
              </a:rPr>
              <a:t>.</a:t>
            </a:r>
            <a:endParaRPr lang="en-US" sz="3600" dirty="0"/>
          </a:p>
        </p:txBody>
      </p:sp>
    </p:spTree>
    <p:extLst>
      <p:ext uri="{BB962C8B-B14F-4D97-AF65-F5344CB8AC3E}">
        <p14:creationId xmlns:p14="http://schemas.microsoft.com/office/powerpoint/2010/main" val="25119594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E0BA6-CF52-C40E-950D-4734AA5BF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423C1-571B-E073-23EB-8E5ED949443D}"/>
              </a:ext>
            </a:extLst>
          </p:cNvPr>
          <p:cNvSpPr>
            <a:spLocks noGrp="1"/>
          </p:cNvSpPr>
          <p:nvPr>
            <p:ph type="title"/>
          </p:nvPr>
        </p:nvSpPr>
        <p:spPr>
          <a:xfrm>
            <a:off x="274188" y="194607"/>
            <a:ext cx="15040454" cy="1595839"/>
          </a:xfrm>
        </p:spPr>
        <p:txBody>
          <a:bodyPr>
            <a:normAutofit/>
          </a:bodyPr>
          <a:lstStyle/>
          <a:p>
            <a:r>
              <a:rPr lang="en-US" cap="all" dirty="0">
                <a:latin typeface="Gill Sans MT"/>
              </a:rPr>
              <a:t>Impact of Interference</a:t>
            </a:r>
          </a:p>
        </p:txBody>
      </p:sp>
      <p:sp>
        <p:nvSpPr>
          <p:cNvPr id="3" name="Content Placeholder 2">
            <a:extLst>
              <a:ext uri="{FF2B5EF4-FFF2-40B4-BE49-F238E27FC236}">
                <a16:creationId xmlns:a16="http://schemas.microsoft.com/office/drawing/2014/main" id="{7F2164AB-C755-707A-0471-46CC79F492E9}"/>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dirty="0">
                <a:solidFill>
                  <a:srgbClr val="000000"/>
                </a:solidFill>
                <a:latin typeface="Gill Sans MT"/>
                <a:ea typeface="+mn-lt"/>
                <a:cs typeface="+mn-lt"/>
              </a:rPr>
              <a:t>Interference degrades the signal-to-noise ratio (SNR), increasing the likelihood of errors and reducing communication quality.</a:t>
            </a:r>
            <a:endParaRPr lang="en-US" sz="3600">
              <a:latin typeface="Gill Sans MT"/>
            </a:endParaRPr>
          </a:p>
          <a:p>
            <a:pPr algn="just"/>
            <a:r>
              <a:rPr lang="en-US" sz="3600" dirty="0">
                <a:solidFill>
                  <a:srgbClr val="000000"/>
                </a:solidFill>
                <a:latin typeface="Gill Sans MT"/>
                <a:ea typeface="+mn-lt"/>
                <a:cs typeface="+mn-lt"/>
              </a:rPr>
              <a:t>High levels of interference can lead to dropped calls, </a:t>
            </a:r>
            <a:r>
              <a:rPr lang="en-US" sz="3600" dirty="0">
                <a:latin typeface="Gill Sans MT"/>
                <a:ea typeface="+mn-lt"/>
                <a:cs typeface="+mn-lt"/>
              </a:rPr>
              <a:t>decreased data throughput</a:t>
            </a:r>
            <a:r>
              <a:rPr lang="en-US" sz="3600" dirty="0">
                <a:solidFill>
                  <a:srgbClr val="000000"/>
                </a:solidFill>
                <a:latin typeface="Gill Sans MT"/>
                <a:ea typeface="+mn-lt"/>
                <a:cs typeface="+mn-lt"/>
              </a:rPr>
              <a:t>, and </a:t>
            </a:r>
            <a:r>
              <a:rPr lang="en-US" sz="3600" dirty="0">
                <a:latin typeface="Gill Sans MT"/>
                <a:ea typeface="+mn-lt"/>
                <a:cs typeface="+mn-lt"/>
              </a:rPr>
              <a:t>degraded network performance.</a:t>
            </a:r>
            <a:endParaRPr lang="en-US" sz="3600">
              <a:latin typeface="Gill Sans MT"/>
            </a:endParaRPr>
          </a:p>
          <a:p>
            <a:pPr algn="just"/>
            <a:r>
              <a:rPr lang="en-US" sz="3600" dirty="0">
                <a:latin typeface="Gill Sans MT"/>
                <a:ea typeface="+mn-lt"/>
                <a:cs typeface="+mn-lt"/>
              </a:rPr>
              <a:t>Interference can be particularly problematic in densely populated areas or environments with high levels of electromagnetic noise</a:t>
            </a:r>
            <a:r>
              <a:rPr lang="en-US" sz="3600" dirty="0">
                <a:solidFill>
                  <a:srgbClr val="000000"/>
                </a:solidFill>
                <a:latin typeface="Gill Sans MT"/>
                <a:ea typeface="+mn-lt"/>
                <a:cs typeface="+mn-lt"/>
              </a:rPr>
              <a:t>.</a:t>
            </a:r>
            <a:endParaRPr lang="en-US" sz="3600" dirty="0"/>
          </a:p>
        </p:txBody>
      </p:sp>
    </p:spTree>
    <p:extLst>
      <p:ext uri="{BB962C8B-B14F-4D97-AF65-F5344CB8AC3E}">
        <p14:creationId xmlns:p14="http://schemas.microsoft.com/office/powerpoint/2010/main" val="273037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38421-FA37-352C-079F-0F72BA92D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FA0654-1382-C472-2B4D-69974F7C7D4C}"/>
              </a:ext>
            </a:extLst>
          </p:cNvPr>
          <p:cNvSpPr>
            <a:spLocks noGrp="1"/>
          </p:cNvSpPr>
          <p:nvPr>
            <p:ph type="title"/>
          </p:nvPr>
        </p:nvSpPr>
        <p:spPr>
          <a:xfrm>
            <a:off x="274188" y="194607"/>
            <a:ext cx="15040454" cy="1595839"/>
          </a:xfrm>
        </p:spPr>
        <p:txBody>
          <a:bodyPr>
            <a:normAutofit/>
          </a:bodyPr>
          <a:lstStyle/>
          <a:p>
            <a:r>
              <a:rPr lang="en-US" cap="all" dirty="0">
                <a:latin typeface="Gill Sans MT"/>
              </a:rPr>
              <a:t>Mitigation technique for Interference</a:t>
            </a:r>
          </a:p>
        </p:txBody>
      </p:sp>
      <p:sp>
        <p:nvSpPr>
          <p:cNvPr id="3" name="Content Placeholder 2">
            <a:extLst>
              <a:ext uri="{FF2B5EF4-FFF2-40B4-BE49-F238E27FC236}">
                <a16:creationId xmlns:a16="http://schemas.microsoft.com/office/drawing/2014/main" id="{0E51198C-7308-D52B-6D0B-0C07B64C9189}"/>
              </a:ext>
            </a:extLst>
          </p:cNvPr>
          <p:cNvSpPr>
            <a:spLocks noGrp="1"/>
          </p:cNvSpPr>
          <p:nvPr>
            <p:ph idx="1"/>
          </p:nvPr>
        </p:nvSpPr>
        <p:spPr>
          <a:xfrm>
            <a:off x="280450" y="2129387"/>
            <a:ext cx="15839611" cy="4983594"/>
          </a:xfrm>
        </p:spPr>
        <p:txBody>
          <a:bodyPr vert="horz" lIns="91440" tIns="45720" rIns="91440" bIns="45720" rtlCol="0" anchor="t">
            <a:noAutofit/>
          </a:bodyPr>
          <a:lstStyle/>
          <a:p>
            <a:pPr marL="0" indent="0" algn="just">
              <a:buNone/>
            </a:pPr>
            <a:r>
              <a:rPr lang="en-US" sz="3600" b="1" dirty="0">
                <a:solidFill>
                  <a:srgbClr val="000000"/>
                </a:solidFill>
                <a:latin typeface="Gill Sans MT"/>
                <a:ea typeface="+mn-lt"/>
                <a:cs typeface="+mn-lt"/>
              </a:rPr>
              <a:t>Frequency Planning</a:t>
            </a:r>
            <a:endParaRPr lang="en-US" sz="3600" dirty="0">
              <a:solidFill>
                <a:srgbClr val="000000"/>
              </a:solidFill>
              <a:latin typeface="Gill Sans MT"/>
              <a:ea typeface="+mn-lt"/>
              <a:cs typeface="+mn-lt"/>
            </a:endParaRPr>
          </a:p>
          <a:p>
            <a:pPr algn="just"/>
            <a:r>
              <a:rPr lang="en-US" sz="3600" dirty="0">
                <a:solidFill>
                  <a:srgbClr val="000000"/>
                </a:solidFill>
                <a:latin typeface="Gill Sans MT"/>
                <a:ea typeface="+mn-lt"/>
                <a:cs typeface="+mn-lt"/>
              </a:rPr>
              <a:t>Frequency planning involves allocating different frequency bands</a:t>
            </a:r>
            <a:r>
              <a:rPr lang="en-US" sz="3600" dirty="0">
                <a:latin typeface="Gill Sans MT"/>
                <a:ea typeface="+mn-lt"/>
                <a:cs typeface="+mn-lt"/>
              </a:rPr>
              <a:t> to minimize interference</a:t>
            </a:r>
            <a:r>
              <a:rPr lang="en-US" sz="3600" dirty="0">
                <a:solidFill>
                  <a:srgbClr val="000000"/>
                </a:solidFill>
                <a:latin typeface="Gill Sans MT"/>
                <a:ea typeface="+mn-lt"/>
                <a:cs typeface="+mn-lt"/>
              </a:rPr>
              <a:t> </a:t>
            </a:r>
            <a:r>
              <a:rPr lang="en-US" sz="3600" dirty="0">
                <a:latin typeface="Gill Sans MT"/>
                <a:ea typeface="+mn-lt"/>
                <a:cs typeface="+mn-lt"/>
              </a:rPr>
              <a:t>between adjacent cells </a:t>
            </a:r>
            <a:r>
              <a:rPr lang="en-US" sz="3600" dirty="0">
                <a:solidFill>
                  <a:srgbClr val="000000"/>
                </a:solidFill>
                <a:latin typeface="Gill Sans MT"/>
                <a:ea typeface="+mn-lt"/>
                <a:cs typeface="+mn-lt"/>
              </a:rPr>
              <a:t>and </a:t>
            </a:r>
            <a:r>
              <a:rPr lang="en-US" sz="3600" dirty="0">
                <a:latin typeface="Gill Sans MT"/>
                <a:ea typeface="+mn-lt"/>
                <a:cs typeface="+mn-lt"/>
              </a:rPr>
              <a:t>channels</a:t>
            </a:r>
            <a:r>
              <a:rPr lang="en-US" sz="3600" dirty="0">
                <a:solidFill>
                  <a:srgbClr val="000000"/>
                </a:solidFill>
                <a:latin typeface="Gill Sans MT"/>
                <a:ea typeface="+mn-lt"/>
                <a:cs typeface="+mn-lt"/>
              </a:rPr>
              <a:t>.</a:t>
            </a:r>
            <a:endParaRPr lang="en-US" sz="3600">
              <a:latin typeface="Gill Sans MT"/>
            </a:endParaRPr>
          </a:p>
          <a:p>
            <a:pPr algn="just"/>
            <a:r>
              <a:rPr lang="en-US" sz="3600" dirty="0">
                <a:latin typeface="Gill Sans MT"/>
                <a:ea typeface="+mn-lt"/>
                <a:cs typeface="+mn-lt"/>
              </a:rPr>
              <a:t>By carefully selecting and coordinating frequencies</a:t>
            </a:r>
            <a:r>
              <a:rPr lang="en-US" sz="3600" dirty="0">
                <a:solidFill>
                  <a:srgbClr val="000000"/>
                </a:solidFill>
                <a:latin typeface="Gill Sans MT"/>
                <a:ea typeface="+mn-lt"/>
                <a:cs typeface="+mn-lt"/>
              </a:rPr>
              <a:t>, </a:t>
            </a:r>
            <a:r>
              <a:rPr lang="en-US" sz="3600" dirty="0">
                <a:latin typeface="Gill Sans MT"/>
                <a:ea typeface="+mn-lt"/>
                <a:cs typeface="+mn-lt"/>
              </a:rPr>
              <a:t>network operators can reduce co-channel and adjacent-channel interference</a:t>
            </a:r>
            <a:r>
              <a:rPr lang="en-US" sz="3600" dirty="0">
                <a:solidFill>
                  <a:srgbClr val="000000"/>
                </a:solidFill>
                <a:latin typeface="Gill Sans MT"/>
                <a:ea typeface="+mn-lt"/>
                <a:cs typeface="+mn-lt"/>
              </a:rPr>
              <a:t>.</a:t>
            </a:r>
            <a:endParaRPr lang="en-US" sz="3600" dirty="0">
              <a:latin typeface="Gill Sans MT"/>
            </a:endParaRPr>
          </a:p>
        </p:txBody>
      </p:sp>
    </p:spTree>
    <p:extLst>
      <p:ext uri="{BB962C8B-B14F-4D97-AF65-F5344CB8AC3E}">
        <p14:creationId xmlns:p14="http://schemas.microsoft.com/office/powerpoint/2010/main" val="10900960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E3BD1-9EE8-E70B-FF58-401165E3E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EEFB4-CC88-1B08-94C9-34CD787C3243}"/>
              </a:ext>
            </a:extLst>
          </p:cNvPr>
          <p:cNvSpPr>
            <a:spLocks noGrp="1"/>
          </p:cNvSpPr>
          <p:nvPr>
            <p:ph type="title"/>
          </p:nvPr>
        </p:nvSpPr>
        <p:spPr>
          <a:xfrm>
            <a:off x="274188" y="194607"/>
            <a:ext cx="15040454" cy="1595839"/>
          </a:xfrm>
        </p:spPr>
        <p:txBody>
          <a:bodyPr>
            <a:normAutofit/>
          </a:bodyPr>
          <a:lstStyle/>
          <a:p>
            <a:r>
              <a:rPr lang="en-US" cap="all" dirty="0">
                <a:latin typeface="Gill Sans MT"/>
              </a:rPr>
              <a:t>Mitigation technique for Interference</a:t>
            </a:r>
          </a:p>
        </p:txBody>
      </p:sp>
      <p:sp>
        <p:nvSpPr>
          <p:cNvPr id="3" name="Content Placeholder 2">
            <a:extLst>
              <a:ext uri="{FF2B5EF4-FFF2-40B4-BE49-F238E27FC236}">
                <a16:creationId xmlns:a16="http://schemas.microsoft.com/office/drawing/2014/main" id="{70DDFCB3-7578-514B-6D1C-E213074F167A}"/>
              </a:ext>
            </a:extLst>
          </p:cNvPr>
          <p:cNvSpPr>
            <a:spLocks noGrp="1"/>
          </p:cNvSpPr>
          <p:nvPr>
            <p:ph idx="1"/>
          </p:nvPr>
        </p:nvSpPr>
        <p:spPr>
          <a:xfrm>
            <a:off x="280450" y="2129387"/>
            <a:ext cx="15839611" cy="4983594"/>
          </a:xfrm>
        </p:spPr>
        <p:txBody>
          <a:bodyPr vert="horz" lIns="91440" tIns="45720" rIns="91440" bIns="45720" rtlCol="0" anchor="t">
            <a:noAutofit/>
          </a:bodyPr>
          <a:lstStyle/>
          <a:p>
            <a:pPr marL="0" indent="0" algn="just">
              <a:buNone/>
            </a:pPr>
            <a:r>
              <a:rPr lang="en-US" sz="3600" b="1" dirty="0">
                <a:solidFill>
                  <a:srgbClr val="000000"/>
                </a:solidFill>
                <a:latin typeface="Gill Sans MT"/>
                <a:ea typeface="+mn-lt"/>
                <a:cs typeface="+mn-lt"/>
              </a:rPr>
              <a:t>Interference Rejection Techniques</a:t>
            </a:r>
            <a:endParaRPr lang="en-US" sz="3600" dirty="0">
              <a:solidFill>
                <a:srgbClr val="000000"/>
              </a:solidFill>
              <a:latin typeface="Gill Sans MT"/>
              <a:ea typeface="+mn-lt"/>
              <a:cs typeface="+mn-lt"/>
            </a:endParaRPr>
          </a:p>
          <a:p>
            <a:pPr algn="just"/>
            <a:r>
              <a:rPr lang="en-US" sz="3600" dirty="0">
                <a:solidFill>
                  <a:srgbClr val="000000"/>
                </a:solidFill>
                <a:latin typeface="Gill Sans MT"/>
                <a:ea typeface="+mn-lt"/>
                <a:cs typeface="+mn-lt"/>
              </a:rPr>
              <a:t>Advanced signal processing techniques such as adaptive filtering, </a:t>
            </a:r>
            <a:r>
              <a:rPr lang="en-US" sz="3600" dirty="0">
                <a:latin typeface="Gill Sans MT"/>
                <a:ea typeface="+mn-lt"/>
                <a:cs typeface="+mn-lt"/>
              </a:rPr>
              <a:t>interference</a:t>
            </a:r>
            <a:r>
              <a:rPr lang="en-US" sz="3600" dirty="0">
                <a:solidFill>
                  <a:srgbClr val="000000"/>
                </a:solidFill>
                <a:latin typeface="Gill Sans MT"/>
                <a:ea typeface="+mn-lt"/>
                <a:cs typeface="+mn-lt"/>
              </a:rPr>
              <a:t> </a:t>
            </a:r>
            <a:r>
              <a:rPr lang="en-US" sz="3600" dirty="0">
                <a:latin typeface="Gill Sans MT"/>
                <a:ea typeface="+mn-lt"/>
                <a:cs typeface="+mn-lt"/>
              </a:rPr>
              <a:t>cancellation, and spectrum sensing can help identify </a:t>
            </a:r>
            <a:r>
              <a:rPr lang="en-US" sz="3600" dirty="0">
                <a:solidFill>
                  <a:srgbClr val="000000"/>
                </a:solidFill>
                <a:latin typeface="Gill Sans MT"/>
                <a:ea typeface="+mn-lt"/>
                <a:cs typeface="+mn-lt"/>
              </a:rPr>
              <a:t>and </a:t>
            </a:r>
            <a:r>
              <a:rPr lang="en-US" sz="3600" dirty="0">
                <a:latin typeface="Gill Sans MT"/>
                <a:ea typeface="+mn-lt"/>
                <a:cs typeface="+mn-lt"/>
              </a:rPr>
              <a:t>mitigate interference</a:t>
            </a:r>
            <a:r>
              <a:rPr lang="en-US" sz="3600" dirty="0">
                <a:solidFill>
                  <a:srgbClr val="000000"/>
                </a:solidFill>
                <a:latin typeface="Gill Sans MT"/>
                <a:ea typeface="+mn-lt"/>
                <a:cs typeface="+mn-lt"/>
              </a:rPr>
              <a:t>.</a:t>
            </a:r>
            <a:endParaRPr lang="en-US" sz="3600" dirty="0">
              <a:latin typeface="Gill Sans MT"/>
            </a:endParaRPr>
          </a:p>
          <a:p>
            <a:pPr algn="just"/>
            <a:r>
              <a:rPr lang="en-US" sz="3600" dirty="0">
                <a:latin typeface="Gill Sans MT"/>
                <a:ea typeface="+mn-lt"/>
                <a:cs typeface="+mn-lt"/>
              </a:rPr>
              <a:t>These techniques enable </a:t>
            </a:r>
            <a:r>
              <a:rPr lang="en-US" sz="3600" dirty="0">
                <a:solidFill>
                  <a:srgbClr val="000000"/>
                </a:solidFill>
                <a:latin typeface="Gill Sans MT"/>
                <a:ea typeface="+mn-lt"/>
                <a:cs typeface="+mn-lt"/>
              </a:rPr>
              <a:t>receivers</a:t>
            </a:r>
            <a:r>
              <a:rPr lang="en-US" sz="3600" dirty="0">
                <a:latin typeface="Gill Sans MT"/>
                <a:ea typeface="+mn-lt"/>
                <a:cs typeface="+mn-lt"/>
              </a:rPr>
              <a:t> to suppress unwanted signals and improve the quality of desired signals</a:t>
            </a:r>
            <a:r>
              <a:rPr lang="en-US" sz="3600" dirty="0">
                <a:solidFill>
                  <a:srgbClr val="000000"/>
                </a:solidFill>
                <a:latin typeface="Gill Sans MT"/>
                <a:ea typeface="+mn-lt"/>
                <a:cs typeface="+mn-lt"/>
              </a:rPr>
              <a:t>.</a:t>
            </a:r>
            <a:endParaRPr lang="en-US" sz="3600" dirty="0"/>
          </a:p>
        </p:txBody>
      </p:sp>
    </p:spTree>
    <p:extLst>
      <p:ext uri="{BB962C8B-B14F-4D97-AF65-F5344CB8AC3E}">
        <p14:creationId xmlns:p14="http://schemas.microsoft.com/office/powerpoint/2010/main" val="19696174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C60E3-581B-9C23-3E67-AF8445F80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CAE344-618E-AC1E-1B72-7A9637F6C378}"/>
              </a:ext>
            </a:extLst>
          </p:cNvPr>
          <p:cNvSpPr>
            <a:spLocks noGrp="1"/>
          </p:cNvSpPr>
          <p:nvPr>
            <p:ph type="title"/>
          </p:nvPr>
        </p:nvSpPr>
        <p:spPr>
          <a:xfrm>
            <a:off x="274188" y="194607"/>
            <a:ext cx="15040454" cy="1595839"/>
          </a:xfrm>
        </p:spPr>
        <p:txBody>
          <a:bodyPr>
            <a:normAutofit/>
          </a:bodyPr>
          <a:lstStyle/>
          <a:p>
            <a:r>
              <a:rPr lang="en-US" cap="all" dirty="0">
                <a:latin typeface="Gill Sans MT"/>
              </a:rPr>
              <a:t>BIT ERROR RATE</a:t>
            </a:r>
          </a:p>
        </p:txBody>
      </p:sp>
      <p:sp>
        <p:nvSpPr>
          <p:cNvPr id="3" name="Content Placeholder 2">
            <a:extLst>
              <a:ext uri="{FF2B5EF4-FFF2-40B4-BE49-F238E27FC236}">
                <a16:creationId xmlns:a16="http://schemas.microsoft.com/office/drawing/2014/main" id="{AF9D7B4A-94DB-E4C5-A64F-732EA143C25D}"/>
              </a:ext>
            </a:extLst>
          </p:cNvPr>
          <p:cNvSpPr>
            <a:spLocks noGrp="1"/>
          </p:cNvSpPr>
          <p:nvPr>
            <p:ph idx="1"/>
          </p:nvPr>
        </p:nvSpPr>
        <p:spPr>
          <a:xfrm>
            <a:off x="280450" y="2129387"/>
            <a:ext cx="15839611" cy="4983594"/>
          </a:xfrm>
        </p:spPr>
        <p:txBody>
          <a:bodyPr vert="horz" lIns="91440" tIns="45720" rIns="91440" bIns="45720" rtlCol="0" anchor="t">
            <a:noAutofit/>
          </a:bodyPr>
          <a:lstStyle/>
          <a:p>
            <a:pPr marL="571500" indent="-571500" algn="just"/>
            <a:r>
              <a:rPr lang="en-US" sz="3600" dirty="0">
                <a:latin typeface="Gill Sans MT"/>
                <a:ea typeface="+mn-lt"/>
                <a:cs typeface="+mn-lt"/>
              </a:rPr>
              <a:t>Bit Error Rate (BER) is a measure of the accuracy of data transmission in a communication system, indicating the probability of erroneous bits in the received data compared to the transmitted data.</a:t>
            </a:r>
            <a:endParaRPr lang="en-US" sz="3600">
              <a:latin typeface="Gill Sans MT"/>
            </a:endParaRPr>
          </a:p>
          <a:p>
            <a:pPr marL="571500" indent="-571500" algn="just"/>
            <a:r>
              <a:rPr lang="en-US" sz="3600" dirty="0">
                <a:latin typeface="Gill Sans MT"/>
                <a:ea typeface="+mn-lt"/>
                <a:cs typeface="+mn-lt"/>
              </a:rPr>
              <a:t>BER is influenced by various factors such as signal-to-noise ratio (SNR), channel conditions, interference, and modulation scheme.</a:t>
            </a:r>
            <a:endParaRPr lang="en-US" sz="3600" dirty="0"/>
          </a:p>
        </p:txBody>
      </p:sp>
    </p:spTree>
    <p:extLst>
      <p:ext uri="{BB962C8B-B14F-4D97-AF65-F5344CB8AC3E}">
        <p14:creationId xmlns:p14="http://schemas.microsoft.com/office/powerpoint/2010/main" val="20361789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66FBB-27F9-7A49-EEE8-AB7069634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7262D-82D2-2670-C1AD-75F453054AF5}"/>
              </a:ext>
            </a:extLst>
          </p:cNvPr>
          <p:cNvSpPr>
            <a:spLocks noGrp="1"/>
          </p:cNvSpPr>
          <p:nvPr>
            <p:ph type="title"/>
          </p:nvPr>
        </p:nvSpPr>
        <p:spPr>
          <a:xfrm>
            <a:off x="274188" y="194607"/>
            <a:ext cx="15040454" cy="1595839"/>
          </a:xfrm>
        </p:spPr>
        <p:txBody>
          <a:bodyPr>
            <a:normAutofit/>
          </a:bodyPr>
          <a:lstStyle/>
          <a:p>
            <a:r>
              <a:rPr lang="en-US" cap="all" dirty="0">
                <a:latin typeface="Gill Sans MT"/>
              </a:rPr>
              <a:t>Transmission power management</a:t>
            </a:r>
          </a:p>
        </p:txBody>
      </p:sp>
      <p:sp>
        <p:nvSpPr>
          <p:cNvPr id="3" name="Content Placeholder 2">
            <a:extLst>
              <a:ext uri="{FF2B5EF4-FFF2-40B4-BE49-F238E27FC236}">
                <a16:creationId xmlns:a16="http://schemas.microsoft.com/office/drawing/2014/main" id="{778B13DC-DFF0-052A-2F1D-41259A84841A}"/>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dirty="0">
                <a:latin typeface="Gill Sans MT"/>
                <a:ea typeface="+mn-lt"/>
                <a:cs typeface="+mn-lt"/>
              </a:rPr>
              <a:t>Transmission power management involves controlling the power levels at which signals are transmitted by devices in a communication system.</a:t>
            </a:r>
            <a:endParaRPr lang="en-US" sz="3600" dirty="0">
              <a:latin typeface="Gill Sans MT"/>
            </a:endParaRPr>
          </a:p>
          <a:p>
            <a:pPr algn="just"/>
            <a:r>
              <a:rPr lang="en-US" sz="3600" dirty="0">
                <a:latin typeface="Gill Sans MT"/>
                <a:ea typeface="+mn-lt"/>
                <a:cs typeface="+mn-lt"/>
              </a:rPr>
              <a:t>It plays a crucial role in optimizing signal quality, minimizing interference, conserving energy, and enhancing the overall performance of wireless networks.</a:t>
            </a:r>
            <a:endParaRPr lang="en-US" sz="3600" dirty="0"/>
          </a:p>
        </p:txBody>
      </p:sp>
    </p:spTree>
    <p:extLst>
      <p:ext uri="{BB962C8B-B14F-4D97-AF65-F5344CB8AC3E}">
        <p14:creationId xmlns:p14="http://schemas.microsoft.com/office/powerpoint/2010/main" val="18445427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D4603-6BA8-CCDB-878C-5F432EA5D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E9E1F-BFB4-DDB8-E379-15AAEA663FDD}"/>
              </a:ext>
            </a:extLst>
          </p:cNvPr>
          <p:cNvSpPr>
            <a:spLocks noGrp="1"/>
          </p:cNvSpPr>
          <p:nvPr>
            <p:ph type="title"/>
          </p:nvPr>
        </p:nvSpPr>
        <p:spPr>
          <a:xfrm>
            <a:off x="274188" y="194607"/>
            <a:ext cx="15040454" cy="1595839"/>
          </a:xfrm>
        </p:spPr>
        <p:txBody>
          <a:bodyPr>
            <a:normAutofit/>
          </a:bodyPr>
          <a:lstStyle/>
          <a:p>
            <a:r>
              <a:rPr lang="en-US" cap="all" dirty="0">
                <a:latin typeface="Gill Sans MT"/>
              </a:rPr>
              <a:t>Factors that influence Transmission power management</a:t>
            </a:r>
          </a:p>
        </p:txBody>
      </p:sp>
      <p:sp>
        <p:nvSpPr>
          <p:cNvPr id="3" name="Content Placeholder 2">
            <a:extLst>
              <a:ext uri="{FF2B5EF4-FFF2-40B4-BE49-F238E27FC236}">
                <a16:creationId xmlns:a16="http://schemas.microsoft.com/office/drawing/2014/main" id="{725968AC-99C0-0286-0ABD-30C061F311E8}"/>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dirty="0">
                <a:latin typeface="Gill Sans MT"/>
                <a:ea typeface="+mn-lt"/>
                <a:cs typeface="+mn-lt"/>
              </a:rPr>
              <a:t>Energy is a scarce resource in mobile units. Therefore, transmission with power as low as feasible is highly desirable.</a:t>
            </a:r>
            <a:endParaRPr lang="en-US" sz="3600">
              <a:latin typeface="Gill Sans MT"/>
            </a:endParaRPr>
          </a:p>
          <a:p>
            <a:pPr algn="just"/>
            <a:r>
              <a:rPr lang="en-US" sz="3600" dirty="0">
                <a:latin typeface="Gill Sans MT"/>
                <a:ea typeface="+mn-lt"/>
                <a:cs typeface="+mn-lt"/>
              </a:rPr>
              <a:t>Signals from other terminals are considered by a given terminal as interference, which has a negative effect on the signal-to-noise ratio. Thus, it is important that each terminal use the "right" amount of power to transmit successfully without unnecessary degradation of others' transmissions.</a:t>
            </a:r>
            <a:endParaRPr lang="en-US" sz="3600" dirty="0">
              <a:latin typeface="Aptos" panose="020B0004020202020204"/>
            </a:endParaRPr>
          </a:p>
        </p:txBody>
      </p:sp>
    </p:spTree>
    <p:extLst>
      <p:ext uri="{BB962C8B-B14F-4D97-AF65-F5344CB8AC3E}">
        <p14:creationId xmlns:p14="http://schemas.microsoft.com/office/powerpoint/2010/main" val="24672228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C6538-6667-07F5-6D25-77A07C34C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4A2F5E-F094-7502-DA5C-60B6C58BBF85}"/>
              </a:ext>
            </a:extLst>
          </p:cNvPr>
          <p:cNvSpPr>
            <a:spLocks noGrp="1"/>
          </p:cNvSpPr>
          <p:nvPr>
            <p:ph type="title"/>
          </p:nvPr>
        </p:nvSpPr>
        <p:spPr>
          <a:xfrm>
            <a:off x="274188" y="194607"/>
            <a:ext cx="15040454" cy="1595839"/>
          </a:xfrm>
        </p:spPr>
        <p:txBody>
          <a:bodyPr>
            <a:normAutofit/>
          </a:bodyPr>
          <a:lstStyle/>
          <a:p>
            <a:r>
              <a:rPr lang="en-US" cap="all" dirty="0">
                <a:latin typeface="Gill Sans MT"/>
              </a:rPr>
              <a:t>example</a:t>
            </a:r>
          </a:p>
        </p:txBody>
      </p:sp>
      <p:sp>
        <p:nvSpPr>
          <p:cNvPr id="3" name="Content Placeholder 2">
            <a:extLst>
              <a:ext uri="{FF2B5EF4-FFF2-40B4-BE49-F238E27FC236}">
                <a16:creationId xmlns:a16="http://schemas.microsoft.com/office/drawing/2014/main" id="{E3B241E7-33CE-D800-29D3-AB2711D8606C}"/>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dirty="0">
                <a:latin typeface="Gill Sans MT"/>
                <a:ea typeface="+mn-lt"/>
                <a:cs typeface="+mn-lt"/>
              </a:rPr>
              <a:t>Let us review the basic relationships among power, distance and signal-to-noise ratio. In the ideal free space, signal strength diminishes with the inverse square of the distance. For example, if the received signal is 100 watts at a distance of 1 mile, it will be 25 watts at 2 miles, 4 watts at 5 miles and 1 watt at 10 miles. </a:t>
            </a:r>
          </a:p>
          <a:p>
            <a:pPr algn="just"/>
            <a:r>
              <a:rPr lang="en-US" sz="3600" dirty="0">
                <a:latin typeface="Gill Sans MT"/>
                <a:ea typeface="+mn-lt"/>
                <a:cs typeface="+mn-lt"/>
              </a:rPr>
              <a:t>In practice, since mobile terminals do not move in free space but rather have to deal with various obstacles, the loss of power is much more significant, ranging from inverse cube of distance to exponents as high as the 6</a:t>
            </a:r>
            <a:r>
              <a:rPr lang="en-US" sz="3600" baseline="30000" dirty="0">
                <a:latin typeface="Gill Sans MT"/>
                <a:ea typeface="+mn-lt"/>
                <a:cs typeface="+mn-lt"/>
              </a:rPr>
              <a:t>th</a:t>
            </a:r>
            <a:r>
              <a:rPr lang="en-US" sz="3600" dirty="0">
                <a:latin typeface="Gill Sans MT"/>
                <a:ea typeface="+mn-lt"/>
                <a:cs typeface="+mn-lt"/>
              </a:rPr>
              <a:t>  power. </a:t>
            </a:r>
            <a:endParaRPr lang="en-US" sz="3600" dirty="0"/>
          </a:p>
        </p:txBody>
      </p:sp>
    </p:spTree>
    <p:extLst>
      <p:ext uri="{BB962C8B-B14F-4D97-AF65-F5344CB8AC3E}">
        <p14:creationId xmlns:p14="http://schemas.microsoft.com/office/powerpoint/2010/main" val="26777940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3F7C3-907A-7811-D2C0-2C85C8891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8FF95-EE8B-4D87-DB0E-E3790F99D950}"/>
              </a:ext>
            </a:extLst>
          </p:cNvPr>
          <p:cNvSpPr>
            <a:spLocks noGrp="1"/>
          </p:cNvSpPr>
          <p:nvPr>
            <p:ph type="title"/>
          </p:nvPr>
        </p:nvSpPr>
        <p:spPr>
          <a:xfrm>
            <a:off x="274188" y="194607"/>
            <a:ext cx="15040454" cy="1595839"/>
          </a:xfrm>
        </p:spPr>
        <p:txBody>
          <a:bodyPr>
            <a:normAutofit/>
          </a:bodyPr>
          <a:lstStyle/>
          <a:p>
            <a:r>
              <a:rPr lang="en-US" cap="all" dirty="0">
                <a:latin typeface="Gill Sans MT"/>
              </a:rPr>
              <a:t>Parameter at the application level</a:t>
            </a:r>
          </a:p>
        </p:txBody>
      </p:sp>
      <p:sp>
        <p:nvSpPr>
          <p:cNvPr id="3" name="Content Placeholder 2">
            <a:extLst>
              <a:ext uri="{FF2B5EF4-FFF2-40B4-BE49-F238E27FC236}">
                <a16:creationId xmlns:a16="http://schemas.microsoft.com/office/drawing/2014/main" id="{4AF4474B-85E4-07D4-513B-AC0D1D509BB9}"/>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dirty="0">
                <a:latin typeface="Gill Sans MT"/>
                <a:ea typeface="+mn-lt"/>
                <a:cs typeface="+mn-lt"/>
              </a:rPr>
              <a:t>The wireless network your phone connects to has conditions, similar to road conditions during a trip. These conditions impact app performance.</a:t>
            </a:r>
          </a:p>
          <a:p>
            <a:pPr algn="just"/>
            <a:r>
              <a:rPr lang="en-US" sz="3600" dirty="0">
                <a:latin typeface="Gill Sans MT"/>
                <a:ea typeface="+mn-lt"/>
                <a:cs typeface="+mn-lt"/>
              </a:rPr>
              <a:t>Apps can adapt to these conditions, just like adjusting travel plans based on road conditions.</a:t>
            </a:r>
            <a:endParaRPr lang="en-US" sz="3600" dirty="0"/>
          </a:p>
        </p:txBody>
      </p:sp>
    </p:spTree>
    <p:extLst>
      <p:ext uri="{BB962C8B-B14F-4D97-AF65-F5344CB8AC3E}">
        <p14:creationId xmlns:p14="http://schemas.microsoft.com/office/powerpoint/2010/main" val="39982606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B44C8-2301-9014-01FE-E801B6EC0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22F76-83EC-33D8-DA0B-418443828D9D}"/>
              </a:ext>
            </a:extLst>
          </p:cNvPr>
          <p:cNvSpPr>
            <a:spLocks noGrp="1"/>
          </p:cNvSpPr>
          <p:nvPr>
            <p:ph type="title"/>
          </p:nvPr>
        </p:nvSpPr>
        <p:spPr>
          <a:xfrm>
            <a:off x="274188" y="194607"/>
            <a:ext cx="15040454" cy="1595839"/>
          </a:xfrm>
        </p:spPr>
        <p:txBody>
          <a:bodyPr>
            <a:normAutofit/>
          </a:bodyPr>
          <a:lstStyle/>
          <a:p>
            <a:r>
              <a:rPr lang="en-US" cap="all" dirty="0">
                <a:latin typeface="Gill Sans MT"/>
              </a:rPr>
              <a:t>Parameter at the application level</a:t>
            </a:r>
          </a:p>
        </p:txBody>
      </p:sp>
      <p:sp>
        <p:nvSpPr>
          <p:cNvPr id="3" name="Content Placeholder 2">
            <a:extLst>
              <a:ext uri="{FF2B5EF4-FFF2-40B4-BE49-F238E27FC236}">
                <a16:creationId xmlns:a16="http://schemas.microsoft.com/office/drawing/2014/main" id="{68FF4797-F2E1-67C3-5EBE-4F1B916BC7F0}"/>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dirty="0">
                <a:latin typeface="Gill Sans MT"/>
                <a:ea typeface="+mn-lt"/>
                <a:cs typeface="+mn-lt"/>
              </a:rPr>
              <a:t>BER (Bit Error Rate) and SNR (Signal-to-Noise Ratio) are crucial</a:t>
            </a:r>
            <a:endParaRPr lang="en-US" sz="3600" dirty="0">
              <a:latin typeface="Gill Sans MT"/>
            </a:endParaRPr>
          </a:p>
          <a:p>
            <a:pPr lvl="1" algn="just">
              <a:buFont typeface="Courier New" panose="020B0604020202020204" pitchFamily="34" charset="0"/>
              <a:buChar char="o"/>
            </a:pPr>
            <a:r>
              <a:rPr lang="en-US" sz="3600" b="1" dirty="0">
                <a:latin typeface="Gill Sans MT"/>
                <a:ea typeface="+mn-lt"/>
                <a:cs typeface="+mn-lt"/>
              </a:rPr>
              <a:t>BER</a:t>
            </a:r>
            <a:r>
              <a:rPr lang="en-US" sz="3600" dirty="0">
                <a:latin typeface="Gill Sans MT"/>
                <a:ea typeface="+mn-lt"/>
                <a:cs typeface="+mn-lt"/>
              </a:rPr>
              <a:t>: Measures data errors</a:t>
            </a:r>
            <a:endParaRPr lang="en-US" sz="3600" dirty="0">
              <a:latin typeface="Gill Sans MT"/>
            </a:endParaRPr>
          </a:p>
          <a:p>
            <a:pPr lvl="1" algn="just">
              <a:buFont typeface="Courier New" panose="020B0604020202020204" pitchFamily="34" charset="0"/>
              <a:buChar char="o"/>
            </a:pPr>
            <a:r>
              <a:rPr lang="en-US" sz="3600" b="1" dirty="0">
                <a:latin typeface="Gill Sans MT"/>
                <a:ea typeface="+mn-lt"/>
                <a:cs typeface="+mn-lt"/>
              </a:rPr>
              <a:t>SNR</a:t>
            </a:r>
            <a:r>
              <a:rPr lang="en-US" sz="3600" dirty="0">
                <a:latin typeface="Gill Sans MT"/>
                <a:ea typeface="+mn-lt"/>
                <a:cs typeface="+mn-lt"/>
              </a:rPr>
              <a:t>: Measures signal strength.</a:t>
            </a:r>
            <a:endParaRPr lang="en-US" sz="3600">
              <a:latin typeface="Gill Sans MT"/>
            </a:endParaRPr>
          </a:p>
          <a:p>
            <a:pPr algn="just"/>
            <a:r>
              <a:rPr lang="en-US" sz="3600" dirty="0">
                <a:latin typeface="Gill Sans MT"/>
                <a:ea typeface="+mn-lt"/>
                <a:cs typeface="+mn-lt"/>
              </a:rPr>
              <a:t>Apps use this info to make smart decisions, like delaying data transfer during weak signal moments.</a:t>
            </a:r>
            <a:endParaRPr lang="en-US" sz="3600" dirty="0"/>
          </a:p>
        </p:txBody>
      </p:sp>
    </p:spTree>
    <p:extLst>
      <p:ext uri="{BB962C8B-B14F-4D97-AF65-F5344CB8AC3E}">
        <p14:creationId xmlns:p14="http://schemas.microsoft.com/office/powerpoint/2010/main" val="6414463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A4646-5C67-AE64-1B53-B737138AF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EE6E4-39D8-07A5-12C8-80FC6D9BFCDC}"/>
              </a:ext>
            </a:extLst>
          </p:cNvPr>
          <p:cNvSpPr>
            <a:spLocks noGrp="1"/>
          </p:cNvSpPr>
          <p:nvPr>
            <p:ph type="title"/>
          </p:nvPr>
        </p:nvSpPr>
        <p:spPr>
          <a:xfrm>
            <a:off x="274188" y="194607"/>
            <a:ext cx="15040454" cy="1595839"/>
          </a:xfrm>
        </p:spPr>
        <p:txBody>
          <a:bodyPr>
            <a:normAutofit/>
          </a:bodyPr>
          <a:lstStyle/>
          <a:p>
            <a:r>
              <a:rPr lang="en-US" cap="all" dirty="0">
                <a:latin typeface="Gill Sans MT"/>
              </a:rPr>
              <a:t>Parameter at the application level</a:t>
            </a:r>
          </a:p>
        </p:txBody>
      </p:sp>
      <p:sp>
        <p:nvSpPr>
          <p:cNvPr id="3" name="Content Placeholder 2">
            <a:extLst>
              <a:ext uri="{FF2B5EF4-FFF2-40B4-BE49-F238E27FC236}">
                <a16:creationId xmlns:a16="http://schemas.microsoft.com/office/drawing/2014/main" id="{63299802-BB87-6288-E0AE-73BA03E26D3B}"/>
              </a:ext>
            </a:extLst>
          </p:cNvPr>
          <p:cNvSpPr>
            <a:spLocks noGrp="1"/>
          </p:cNvSpPr>
          <p:nvPr>
            <p:ph idx="1"/>
          </p:nvPr>
        </p:nvSpPr>
        <p:spPr>
          <a:xfrm>
            <a:off x="280450" y="2129387"/>
            <a:ext cx="15839611" cy="4983594"/>
          </a:xfrm>
        </p:spPr>
        <p:txBody>
          <a:bodyPr vert="horz" lIns="91440" tIns="45720" rIns="91440" bIns="45720" rtlCol="0" anchor="t">
            <a:noAutofit/>
          </a:bodyPr>
          <a:lstStyle/>
          <a:p>
            <a:pPr algn="just"/>
            <a:r>
              <a:rPr lang="en-US" sz="3600" b="1">
                <a:latin typeface="Gill Sans MT"/>
                <a:ea typeface="+mn-lt"/>
                <a:cs typeface="+mn-lt"/>
              </a:rPr>
              <a:t>Location and network cost are important</a:t>
            </a:r>
            <a:endParaRPr lang="en-US" sz="3600">
              <a:latin typeface="Gill Sans MT"/>
            </a:endParaRPr>
          </a:p>
          <a:p>
            <a:pPr lvl="1" algn="just">
              <a:buFont typeface="Courier New" panose="020B0604020202020204" pitchFamily="34" charset="0"/>
              <a:buChar char="o"/>
            </a:pPr>
            <a:r>
              <a:rPr lang="en-US" sz="3600" b="1">
                <a:latin typeface="Gill Sans MT"/>
                <a:ea typeface="+mn-lt"/>
                <a:cs typeface="+mn-lt"/>
              </a:rPr>
              <a:t>Location</a:t>
            </a:r>
            <a:r>
              <a:rPr lang="en-US" sz="3600">
                <a:latin typeface="Gill Sans MT"/>
                <a:ea typeface="+mn-lt"/>
                <a:cs typeface="+mn-lt"/>
              </a:rPr>
              <a:t>: Crucial for maps and location-based services.</a:t>
            </a:r>
            <a:endParaRPr lang="en-US" sz="3600">
              <a:latin typeface="Gill Sans MT"/>
            </a:endParaRPr>
          </a:p>
          <a:p>
            <a:pPr lvl="1" algn="just">
              <a:buFont typeface="Courier New" panose="020B0604020202020204" pitchFamily="34" charset="0"/>
              <a:buChar char="o"/>
            </a:pPr>
            <a:r>
              <a:rPr lang="en-US" sz="3600" b="1" dirty="0">
                <a:latin typeface="Gill Sans MT"/>
                <a:ea typeface="+mn-lt"/>
                <a:cs typeface="+mn-lt"/>
              </a:rPr>
              <a:t>Cost</a:t>
            </a:r>
            <a:r>
              <a:rPr lang="en-US" sz="3600" dirty="0">
                <a:latin typeface="Gill Sans MT"/>
                <a:ea typeface="+mn-lt"/>
                <a:cs typeface="+mn-lt"/>
              </a:rPr>
              <a:t>: Varies based on time and location; apps can adjust behavior to save money.</a:t>
            </a:r>
            <a:endParaRPr lang="en-US" sz="3600">
              <a:latin typeface="Gill Sans MT"/>
            </a:endParaRPr>
          </a:p>
          <a:p>
            <a:pPr algn="just"/>
            <a:r>
              <a:rPr lang="en-US" sz="3600" b="1" dirty="0">
                <a:latin typeface="Gill Sans MT"/>
                <a:ea typeface="+mn-lt"/>
                <a:cs typeface="+mn-lt"/>
              </a:rPr>
              <a:t>Adaptive Connectivity</a:t>
            </a:r>
            <a:endParaRPr lang="en-US" sz="3600">
              <a:latin typeface="Gill Sans MT"/>
            </a:endParaRPr>
          </a:p>
          <a:p>
            <a:pPr lvl="1" algn="just">
              <a:buFont typeface="Courier New" panose="020B0604020202020204" pitchFamily="34" charset="0"/>
              <a:buChar char="o"/>
            </a:pPr>
            <a:r>
              <a:rPr lang="en-US" sz="3600" dirty="0">
                <a:latin typeface="Gill Sans MT"/>
                <a:ea typeface="+mn-lt"/>
                <a:cs typeface="+mn-lt"/>
              </a:rPr>
              <a:t>Phones can connect via different methods (cellular, Wi-Fi).</a:t>
            </a:r>
            <a:endParaRPr lang="en-US" sz="3600">
              <a:latin typeface="Gill Sans MT"/>
            </a:endParaRPr>
          </a:p>
          <a:p>
            <a:pPr lvl="1" algn="just">
              <a:buFont typeface="Courier New" panose="020B0604020202020204" pitchFamily="34" charset="0"/>
              <a:buChar char="o"/>
            </a:pPr>
            <a:r>
              <a:rPr lang="en-US" sz="3600" dirty="0">
                <a:latin typeface="Gill Sans MT"/>
                <a:ea typeface="+mn-lt"/>
                <a:cs typeface="+mn-lt"/>
              </a:rPr>
              <a:t>Apps choose the best option based on circumstances</a:t>
            </a:r>
            <a:endParaRPr lang="en-US" sz="3600" dirty="0"/>
          </a:p>
          <a:p>
            <a:pPr lvl="1" algn="just">
              <a:buFont typeface="Courier New" panose="020B0604020202020204" pitchFamily="34" charset="0"/>
              <a:buChar char="o"/>
            </a:pPr>
            <a:endParaRPr lang="en-US" sz="3200" dirty="0">
              <a:latin typeface="Gill Sans MT"/>
            </a:endParaRPr>
          </a:p>
        </p:txBody>
      </p:sp>
    </p:spTree>
    <p:extLst>
      <p:ext uri="{BB962C8B-B14F-4D97-AF65-F5344CB8AC3E}">
        <p14:creationId xmlns:p14="http://schemas.microsoft.com/office/powerpoint/2010/main" val="11892518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B08E4-06F2-2E98-D677-8255DD71E91B}"/>
              </a:ext>
            </a:extLst>
          </p:cNvPr>
          <p:cNvSpPr>
            <a:spLocks noGrp="1"/>
          </p:cNvSpPr>
          <p:nvPr>
            <p:ph type="title"/>
          </p:nvPr>
        </p:nvSpPr>
        <p:spPr/>
        <p:txBody>
          <a:bodyPr/>
          <a:lstStyle/>
          <a:p>
            <a:r>
              <a:rPr lang="en-US" dirty="0">
                <a:latin typeface="Gill Sans MT"/>
              </a:rPr>
              <a:t>MOBILE SOFTWARE</a:t>
            </a:r>
          </a:p>
        </p:txBody>
      </p:sp>
      <p:sp>
        <p:nvSpPr>
          <p:cNvPr id="3" name="Content Placeholder 2">
            <a:extLst>
              <a:ext uri="{FF2B5EF4-FFF2-40B4-BE49-F238E27FC236}">
                <a16:creationId xmlns:a16="http://schemas.microsoft.com/office/drawing/2014/main" id="{BD787E4A-4F56-C9AA-88DC-493293EC806A}"/>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dirty="0">
                <a:latin typeface="Gill Sans MT"/>
                <a:ea typeface="+mn-lt"/>
                <a:cs typeface="+mn-lt"/>
              </a:rPr>
              <a:t>Mobile applications/software have become essential in our daily lives, providing us with convenient access to various services and functionalities. </a:t>
            </a:r>
            <a:endParaRPr lang="en-US" sz="3600">
              <a:latin typeface="Gill Sans MT"/>
            </a:endParaRPr>
          </a:p>
          <a:p>
            <a:pPr algn="just"/>
            <a:r>
              <a:rPr lang="en-US" sz="3600" dirty="0">
                <a:latin typeface="Gill Sans MT"/>
                <a:ea typeface="+mn-lt"/>
                <a:cs typeface="+mn-lt"/>
              </a:rPr>
              <a:t>To develop mobile apps, developers often utilize </a:t>
            </a:r>
            <a:r>
              <a:rPr lang="en-US" sz="3600" b="1" dirty="0">
                <a:latin typeface="Gill Sans MT"/>
                <a:ea typeface="+mn-lt"/>
                <a:cs typeface="+mn-lt"/>
              </a:rPr>
              <a:t>frameworks</a:t>
            </a:r>
            <a:r>
              <a:rPr lang="en-US" sz="3600" dirty="0">
                <a:latin typeface="Gill Sans MT"/>
                <a:ea typeface="+mn-lt"/>
                <a:cs typeface="+mn-lt"/>
              </a:rPr>
              <a:t> tailored to specific mobile platforms. </a:t>
            </a:r>
          </a:p>
          <a:p>
            <a:pPr algn="just"/>
            <a:r>
              <a:rPr lang="en-US" sz="3600" dirty="0">
                <a:latin typeface="Gill Sans MT"/>
                <a:ea typeface="+mn-lt"/>
                <a:cs typeface="+mn-lt"/>
              </a:rPr>
              <a:t>There are various </a:t>
            </a:r>
            <a:r>
              <a:rPr lang="en-US" sz="3600" b="1" dirty="0">
                <a:latin typeface="Gill Sans MT"/>
                <a:ea typeface="+mn-lt"/>
                <a:cs typeface="+mn-lt"/>
              </a:rPr>
              <a:t>mobile app development frameworks</a:t>
            </a:r>
            <a:r>
              <a:rPr lang="en-US" sz="3600" dirty="0">
                <a:latin typeface="Gill Sans MT"/>
                <a:ea typeface="+mn-lt"/>
                <a:cs typeface="+mn-lt"/>
              </a:rPr>
              <a:t> available in the tech world that you can consider learning to build your own mobile application.</a:t>
            </a:r>
          </a:p>
        </p:txBody>
      </p:sp>
    </p:spTree>
    <p:extLst>
      <p:ext uri="{BB962C8B-B14F-4D97-AF65-F5344CB8AC3E}">
        <p14:creationId xmlns:p14="http://schemas.microsoft.com/office/powerpoint/2010/main" val="80771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8C830-4E16-8003-743C-B5E1ADCD30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6F212-8EE5-12DD-E6AA-DE9B3D82176B}"/>
              </a:ext>
            </a:extLst>
          </p:cNvPr>
          <p:cNvSpPr>
            <a:spLocks noGrp="1"/>
          </p:cNvSpPr>
          <p:nvPr>
            <p:ph type="title"/>
          </p:nvPr>
        </p:nvSpPr>
        <p:spPr/>
        <p:txBody>
          <a:bodyPr/>
          <a:lstStyle/>
          <a:p>
            <a:r>
              <a:rPr lang="en-US" dirty="0">
                <a:latin typeface="Gill Sans MT"/>
              </a:rPr>
              <a:t>MOBILE APP DEVELOPMENT FRAMEWORK</a:t>
            </a:r>
          </a:p>
        </p:txBody>
      </p:sp>
      <p:sp>
        <p:nvSpPr>
          <p:cNvPr id="3" name="Content Placeholder 2">
            <a:extLst>
              <a:ext uri="{FF2B5EF4-FFF2-40B4-BE49-F238E27FC236}">
                <a16:creationId xmlns:a16="http://schemas.microsoft.com/office/drawing/2014/main" id="{3AE733EB-4683-C764-EF13-0535B1F30970}"/>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dirty="0">
                <a:latin typeface="Gill Sans MT"/>
                <a:ea typeface="+mn-lt"/>
                <a:cs typeface="+mn-lt"/>
              </a:rPr>
              <a:t>Mobile App Development Framework is a library that offers the required fundamental structure to create mobile applications for a specific environment. </a:t>
            </a:r>
          </a:p>
          <a:p>
            <a:pPr algn="just"/>
            <a:r>
              <a:rPr lang="en-US" sz="3600" dirty="0">
                <a:latin typeface="Gill Sans MT"/>
                <a:ea typeface="+mn-lt"/>
                <a:cs typeface="+mn-lt"/>
              </a:rPr>
              <a:t>In short, it acts as a layout to support mobile app development. Moreover, mobile application frameworks can be classified majorly into 3 categories:  </a:t>
            </a:r>
          </a:p>
          <a:p>
            <a:pPr lvl="1" algn="just">
              <a:buFont typeface="Courier New" panose="020B0604020202020204" pitchFamily="34" charset="0"/>
              <a:buChar char="o"/>
            </a:pPr>
            <a:r>
              <a:rPr lang="en-US" sz="3600" dirty="0">
                <a:latin typeface="Gill Sans MT"/>
                <a:ea typeface="+mn-lt"/>
                <a:cs typeface="+mn-lt"/>
              </a:rPr>
              <a:t>Native Apps: designed for a particular platform or device </a:t>
            </a:r>
          </a:p>
          <a:p>
            <a:pPr lvl="1" algn="just">
              <a:buFont typeface="Courier New" panose="020B0604020202020204" pitchFamily="34" charset="0"/>
              <a:buChar char="o"/>
            </a:pPr>
            <a:r>
              <a:rPr lang="en-US" sz="3600" dirty="0">
                <a:latin typeface="Gill Sans MT"/>
                <a:ea typeface="+mn-lt"/>
                <a:cs typeface="+mn-lt"/>
              </a:rPr>
              <a:t>Web Apps: designed to deliver web pages </a:t>
            </a:r>
          </a:p>
          <a:p>
            <a:pPr lvl="1" algn="just">
              <a:buFont typeface="Courier New" panose="020B0604020202020204" pitchFamily="34" charset="0"/>
              <a:buChar char="o"/>
            </a:pPr>
            <a:r>
              <a:rPr lang="en-US" sz="3600" dirty="0">
                <a:latin typeface="Gill Sans MT"/>
                <a:ea typeface="+mn-lt"/>
                <a:cs typeface="+mn-lt"/>
              </a:rPr>
              <a:t>Hybrid Apps:</a:t>
            </a:r>
            <a:endParaRPr lang="en-US" sz="3600">
              <a:latin typeface="Gill Sans MT"/>
              <a:ea typeface="+mn-lt"/>
              <a:cs typeface="+mn-lt"/>
            </a:endParaRPr>
          </a:p>
        </p:txBody>
      </p:sp>
    </p:spTree>
    <p:extLst>
      <p:ext uri="{BB962C8B-B14F-4D97-AF65-F5344CB8AC3E}">
        <p14:creationId xmlns:p14="http://schemas.microsoft.com/office/powerpoint/2010/main" val="23890793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BD824-39FB-9563-6769-9620D403B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0A94B-A6F0-C8BE-A9AF-04FFB4E23493}"/>
              </a:ext>
            </a:extLst>
          </p:cNvPr>
          <p:cNvSpPr>
            <a:spLocks noGrp="1"/>
          </p:cNvSpPr>
          <p:nvPr>
            <p:ph type="title"/>
          </p:nvPr>
        </p:nvSpPr>
        <p:spPr/>
        <p:txBody>
          <a:bodyPr/>
          <a:lstStyle/>
          <a:p>
            <a:r>
              <a:rPr lang="en-US" dirty="0">
                <a:latin typeface="Gill Sans MT"/>
              </a:rPr>
              <a:t>USER INTERFACE DESIGN</a:t>
            </a:r>
          </a:p>
        </p:txBody>
      </p:sp>
      <p:sp>
        <p:nvSpPr>
          <p:cNvPr id="3" name="Content Placeholder 2">
            <a:extLst>
              <a:ext uri="{FF2B5EF4-FFF2-40B4-BE49-F238E27FC236}">
                <a16:creationId xmlns:a16="http://schemas.microsoft.com/office/drawing/2014/main" id="{409F7BC8-05F4-2EA4-2FF5-CAFCB6B734B2}"/>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dirty="0">
                <a:latin typeface="Gill Sans MT"/>
                <a:ea typeface="+mn-lt"/>
                <a:cs typeface="+mn-lt"/>
              </a:rPr>
              <a:t>A user interface (UI) is the point of human-computer interaction and communication in a device. </a:t>
            </a:r>
            <a:endParaRPr lang="en-US" sz="3600">
              <a:latin typeface="Gill Sans MT"/>
              <a:ea typeface="+mn-lt"/>
              <a:cs typeface="+mn-lt"/>
            </a:endParaRPr>
          </a:p>
          <a:p>
            <a:pPr algn="just"/>
            <a:r>
              <a:rPr lang="en-US" sz="3600" dirty="0">
                <a:latin typeface="Gill Sans MT"/>
                <a:ea typeface="+mn-lt"/>
                <a:cs typeface="+mn-lt"/>
              </a:rPr>
              <a:t>It encompasses both hardware components (physical buttons, touchscreens, keyboards) and software components (menus, icons, buttons, forms). </a:t>
            </a:r>
            <a:endParaRPr lang="en-US" sz="3600">
              <a:latin typeface="Gill Sans MT"/>
              <a:ea typeface="+mn-lt"/>
              <a:cs typeface="+mn-lt"/>
            </a:endParaRPr>
          </a:p>
          <a:p>
            <a:pPr algn="just"/>
            <a:r>
              <a:rPr lang="en-US" sz="3600" dirty="0">
                <a:latin typeface="Gill Sans MT"/>
                <a:ea typeface="+mn-lt"/>
                <a:cs typeface="+mn-lt"/>
              </a:rPr>
              <a:t>UI exists across various processes and provides a means for users to input commands and receive output or feedback from the system</a:t>
            </a:r>
            <a:r>
              <a:rPr lang="en-US" sz="3600" dirty="0">
                <a:ea typeface="+mn-lt"/>
                <a:cs typeface="+mn-lt"/>
              </a:rPr>
              <a:t>.</a:t>
            </a:r>
            <a:endParaRPr lang="en-US">
              <a:ea typeface="+mn-lt"/>
              <a:cs typeface="+mn-lt"/>
            </a:endParaRPr>
          </a:p>
        </p:txBody>
      </p:sp>
    </p:spTree>
    <p:extLst>
      <p:ext uri="{BB962C8B-B14F-4D97-AF65-F5344CB8AC3E}">
        <p14:creationId xmlns:p14="http://schemas.microsoft.com/office/powerpoint/2010/main" val="23011850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DFDD8-510F-0B9C-D88A-2E12370AF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5834A-7CEE-47C2-9968-C5FA7476E81A}"/>
              </a:ext>
            </a:extLst>
          </p:cNvPr>
          <p:cNvSpPr>
            <a:spLocks noGrp="1"/>
          </p:cNvSpPr>
          <p:nvPr>
            <p:ph type="title"/>
          </p:nvPr>
        </p:nvSpPr>
        <p:spPr/>
        <p:txBody>
          <a:bodyPr/>
          <a:lstStyle/>
          <a:p>
            <a:r>
              <a:rPr lang="en-US" dirty="0">
                <a:latin typeface="Gill Sans MT"/>
              </a:rPr>
              <a:t>USER INTERFACE DESIGN</a:t>
            </a:r>
          </a:p>
        </p:txBody>
      </p:sp>
      <p:sp>
        <p:nvSpPr>
          <p:cNvPr id="3" name="Content Placeholder 2">
            <a:extLst>
              <a:ext uri="{FF2B5EF4-FFF2-40B4-BE49-F238E27FC236}">
                <a16:creationId xmlns:a16="http://schemas.microsoft.com/office/drawing/2014/main" id="{8E18560E-C697-0BF0-15EE-AB4CC9DF6E7E}"/>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dirty="0">
                <a:latin typeface="Gill Sans MT"/>
                <a:ea typeface="+mn-lt"/>
                <a:cs typeface="+mn-lt"/>
              </a:rPr>
              <a:t>Traditionally, UI design focused primarily on output, with users interacting with character-based screens and command-line interfaces. </a:t>
            </a:r>
            <a:endParaRPr lang="en-US" sz="3600">
              <a:latin typeface="Gill Sans MT"/>
              <a:ea typeface="+mn-lt"/>
              <a:cs typeface="+mn-lt"/>
            </a:endParaRPr>
          </a:p>
          <a:p>
            <a:pPr algn="just"/>
            <a:r>
              <a:rPr lang="en-US" sz="3600" dirty="0">
                <a:latin typeface="Gill Sans MT"/>
                <a:ea typeface="+mn-lt"/>
                <a:cs typeface="+mn-lt"/>
              </a:rPr>
              <a:t>However, modern UI design has evolved into a two-way channel, with powerful output capabilities and user-driven customization options. </a:t>
            </a:r>
            <a:endParaRPr lang="en-US" sz="3600">
              <a:latin typeface="Gill Sans MT"/>
              <a:ea typeface="+mn-lt"/>
              <a:cs typeface="+mn-lt"/>
            </a:endParaRPr>
          </a:p>
          <a:p>
            <a:pPr algn="just"/>
            <a:r>
              <a:rPr lang="en-US" sz="3600" dirty="0">
                <a:latin typeface="Gill Sans MT"/>
                <a:ea typeface="+mn-lt"/>
                <a:cs typeface="+mn-lt"/>
              </a:rPr>
              <a:t>Today, successful applications are designed with a user-centered approach, prioritizing user needs and preferences.</a:t>
            </a:r>
            <a:endParaRPr lang="en-US" dirty="0">
              <a:latin typeface="Gill Sans MT"/>
            </a:endParaRPr>
          </a:p>
        </p:txBody>
      </p:sp>
    </p:spTree>
    <p:extLst>
      <p:ext uri="{BB962C8B-B14F-4D97-AF65-F5344CB8AC3E}">
        <p14:creationId xmlns:p14="http://schemas.microsoft.com/office/powerpoint/2010/main" val="18444230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252BA-7698-C030-3ACB-9F5717154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1C994-7166-9712-B57D-2134736B462D}"/>
              </a:ext>
            </a:extLst>
          </p:cNvPr>
          <p:cNvSpPr>
            <a:spLocks noGrp="1"/>
          </p:cNvSpPr>
          <p:nvPr>
            <p:ph type="title"/>
          </p:nvPr>
        </p:nvSpPr>
        <p:spPr/>
        <p:txBody>
          <a:bodyPr/>
          <a:lstStyle/>
          <a:p>
            <a:r>
              <a:rPr lang="en-US" dirty="0">
                <a:latin typeface="Gill Sans MT"/>
              </a:rPr>
              <a:t>FOUR MAIN ELEMENTS OF UI DESIGN</a:t>
            </a:r>
          </a:p>
        </p:txBody>
      </p:sp>
      <p:sp>
        <p:nvSpPr>
          <p:cNvPr id="3" name="Content Placeholder 2">
            <a:extLst>
              <a:ext uri="{FF2B5EF4-FFF2-40B4-BE49-F238E27FC236}">
                <a16:creationId xmlns:a16="http://schemas.microsoft.com/office/drawing/2014/main" id="{BDB7F1D3-3808-C9C6-AD39-E1861E6475BC}"/>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b="1" dirty="0">
                <a:latin typeface="Gill Sans MT"/>
                <a:ea typeface="+mn-lt"/>
                <a:cs typeface="+mn-lt"/>
              </a:rPr>
              <a:t>Usability</a:t>
            </a:r>
            <a:endParaRPr lang="en-US" sz="3600" b="1">
              <a:latin typeface="Gill Sans MT"/>
            </a:endParaRPr>
          </a:p>
          <a:p>
            <a:pPr lvl="1" algn="just">
              <a:buFont typeface="Courier New" panose="020B0604020202020204" pitchFamily="34" charset="0"/>
              <a:buChar char="o"/>
            </a:pPr>
            <a:r>
              <a:rPr lang="en-US" sz="3600" dirty="0">
                <a:latin typeface="Gill Sans MT"/>
                <a:ea typeface="+mn-lt"/>
                <a:cs typeface="+mn-lt"/>
              </a:rPr>
              <a:t>How easily and efficiently users can accomplish their goals using the interface.</a:t>
            </a:r>
            <a:endParaRPr lang="en-US" sz="3600">
              <a:latin typeface="Gill Sans MT"/>
              <a:ea typeface="+mn-lt"/>
              <a:cs typeface="+mn-lt"/>
            </a:endParaRPr>
          </a:p>
          <a:p>
            <a:pPr lvl="2" algn="just">
              <a:buFont typeface="Wingdings" panose="020B0604020202020204" pitchFamily="34" charset="0"/>
              <a:buChar char="§"/>
            </a:pPr>
            <a:r>
              <a:rPr lang="en-US" sz="3600" dirty="0">
                <a:latin typeface="Gill Sans MT"/>
                <a:ea typeface="+mn-lt"/>
                <a:cs typeface="+mn-lt"/>
              </a:rPr>
              <a:t>Example: Google's search interface with a simple search box and clear "Google Search" button</a:t>
            </a:r>
            <a:endParaRPr lang="en-US" sz="3600">
              <a:latin typeface="Gill Sans MT"/>
            </a:endParaRPr>
          </a:p>
          <a:p>
            <a:pPr lvl="2" algn="just">
              <a:buFont typeface="Wingdings" panose="020B0604020202020204" pitchFamily="34" charset="0"/>
              <a:buChar char="§"/>
            </a:pPr>
            <a:r>
              <a:rPr lang="en-US" sz="3600" dirty="0">
                <a:latin typeface="Gill Sans MT"/>
                <a:ea typeface="+mn-lt"/>
                <a:cs typeface="+mn-lt"/>
              </a:rPr>
              <a:t>Counter-example: Cluttered websites with too many options that overwhelm users</a:t>
            </a:r>
            <a:endParaRPr lang="en-US" sz="3600">
              <a:latin typeface="Gill Sans MT"/>
            </a:endParaRPr>
          </a:p>
        </p:txBody>
      </p:sp>
    </p:spTree>
    <p:extLst>
      <p:ext uri="{BB962C8B-B14F-4D97-AF65-F5344CB8AC3E}">
        <p14:creationId xmlns:p14="http://schemas.microsoft.com/office/powerpoint/2010/main" val="17651434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8E9A-5ADA-3A38-AA29-D8868450D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506A1-704F-ED7A-3EE4-6DB26A4C94CE}"/>
              </a:ext>
            </a:extLst>
          </p:cNvPr>
          <p:cNvSpPr>
            <a:spLocks noGrp="1"/>
          </p:cNvSpPr>
          <p:nvPr>
            <p:ph type="title"/>
          </p:nvPr>
        </p:nvSpPr>
        <p:spPr/>
        <p:txBody>
          <a:bodyPr/>
          <a:lstStyle/>
          <a:p>
            <a:r>
              <a:rPr lang="en-US" dirty="0">
                <a:latin typeface="Gill Sans MT"/>
              </a:rPr>
              <a:t>FOUR MAIN ELEMENTS OF UI DESIGN</a:t>
            </a:r>
          </a:p>
        </p:txBody>
      </p:sp>
      <p:sp>
        <p:nvSpPr>
          <p:cNvPr id="3" name="Content Placeholder 2">
            <a:extLst>
              <a:ext uri="{FF2B5EF4-FFF2-40B4-BE49-F238E27FC236}">
                <a16:creationId xmlns:a16="http://schemas.microsoft.com/office/drawing/2014/main" id="{0A9B23EA-B331-1AB1-89B3-40B76141B7F1}"/>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b="1" dirty="0">
                <a:latin typeface="Gill Sans MT"/>
                <a:ea typeface="+mn-lt"/>
                <a:cs typeface="+mn-lt"/>
              </a:rPr>
              <a:t>Visualization</a:t>
            </a:r>
            <a:endParaRPr lang="en-US" sz="3600" b="1" dirty="0">
              <a:latin typeface="Gill Sans MT"/>
            </a:endParaRPr>
          </a:p>
          <a:p>
            <a:pPr lvl="1" algn="just">
              <a:buFont typeface="Courier New" panose="020B0604020202020204" pitchFamily="34" charset="0"/>
              <a:buChar char="o"/>
            </a:pPr>
            <a:r>
              <a:rPr lang="en-US" sz="3600" dirty="0">
                <a:latin typeface="Gill Sans MT"/>
                <a:ea typeface="+mn-lt"/>
                <a:cs typeface="+mn-lt"/>
              </a:rPr>
              <a:t>The visual representation of information and interface elements.</a:t>
            </a:r>
          </a:p>
          <a:p>
            <a:pPr lvl="2" algn="just">
              <a:buFont typeface="Wingdings" panose="020B0604020202020204" pitchFamily="34" charset="0"/>
              <a:buChar char="§"/>
            </a:pPr>
            <a:r>
              <a:rPr lang="en-US" sz="3600" dirty="0">
                <a:latin typeface="Gill Sans MT"/>
                <a:ea typeface="+mn-lt"/>
                <a:cs typeface="+mn-lt"/>
              </a:rPr>
              <a:t>Example: Apple's clean, minimalist design with plenty of white space and consistent iconography</a:t>
            </a:r>
            <a:endParaRPr lang="en-US" sz="3600">
              <a:latin typeface="Gill Sans MT"/>
            </a:endParaRPr>
          </a:p>
        </p:txBody>
      </p:sp>
    </p:spTree>
    <p:extLst>
      <p:ext uri="{BB962C8B-B14F-4D97-AF65-F5344CB8AC3E}">
        <p14:creationId xmlns:p14="http://schemas.microsoft.com/office/powerpoint/2010/main" val="26630058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83FFD-D018-01FA-9790-09751C85C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66A61-96BF-8671-6CF1-E55E17E46F88}"/>
              </a:ext>
            </a:extLst>
          </p:cNvPr>
          <p:cNvSpPr>
            <a:spLocks noGrp="1"/>
          </p:cNvSpPr>
          <p:nvPr>
            <p:ph type="title"/>
          </p:nvPr>
        </p:nvSpPr>
        <p:spPr/>
        <p:txBody>
          <a:bodyPr/>
          <a:lstStyle/>
          <a:p>
            <a:r>
              <a:rPr lang="en-US" dirty="0">
                <a:latin typeface="Gill Sans MT"/>
              </a:rPr>
              <a:t>FOUR MAIN ELEMENTS OF UI DESIGN</a:t>
            </a:r>
          </a:p>
        </p:txBody>
      </p:sp>
      <p:sp>
        <p:nvSpPr>
          <p:cNvPr id="3" name="Content Placeholder 2">
            <a:extLst>
              <a:ext uri="{FF2B5EF4-FFF2-40B4-BE49-F238E27FC236}">
                <a16:creationId xmlns:a16="http://schemas.microsoft.com/office/drawing/2014/main" id="{D7E40305-CD4A-90DC-F287-244575C39704}"/>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b="1" dirty="0">
                <a:latin typeface="Gill Sans MT"/>
                <a:ea typeface="+mn-lt"/>
                <a:cs typeface="+mn-lt"/>
              </a:rPr>
              <a:t>Functionality</a:t>
            </a:r>
            <a:endParaRPr lang="en-US" sz="3600" b="1">
              <a:latin typeface="Gill Sans MT"/>
            </a:endParaRPr>
          </a:p>
          <a:p>
            <a:pPr lvl="1" algn="just">
              <a:buFont typeface="Courier New" panose="020B0604020202020204" pitchFamily="34" charset="0"/>
              <a:buChar char="o"/>
            </a:pPr>
            <a:r>
              <a:rPr lang="en-US" sz="3600" dirty="0">
                <a:latin typeface="Gill Sans MT"/>
                <a:ea typeface="+mn-lt"/>
                <a:cs typeface="+mn-lt"/>
              </a:rPr>
              <a:t>How well the interface performs its intended tasks and meets user needs.</a:t>
            </a:r>
          </a:p>
          <a:p>
            <a:pPr lvl="2" algn="just">
              <a:buFont typeface="Wingdings" panose="020B0604020202020204" pitchFamily="34" charset="0"/>
              <a:buChar char="§"/>
            </a:pPr>
            <a:r>
              <a:rPr lang="en-US" sz="3600" dirty="0">
                <a:latin typeface="Gill Sans MT"/>
                <a:ea typeface="+mn-lt"/>
                <a:cs typeface="+mn-lt"/>
              </a:rPr>
              <a:t>Example: Netflix's recommendation system that suggests relevant content based on viewing history</a:t>
            </a:r>
            <a:endParaRPr lang="en-US" sz="3600">
              <a:latin typeface="Gill Sans MT"/>
            </a:endParaRPr>
          </a:p>
        </p:txBody>
      </p:sp>
    </p:spTree>
    <p:extLst>
      <p:ext uri="{BB962C8B-B14F-4D97-AF65-F5344CB8AC3E}">
        <p14:creationId xmlns:p14="http://schemas.microsoft.com/office/powerpoint/2010/main" val="40441312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0BA11-78B3-D6A2-7481-0871E29E9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6CF62-64CC-F25E-6501-71843C36FB0E}"/>
              </a:ext>
            </a:extLst>
          </p:cNvPr>
          <p:cNvSpPr>
            <a:spLocks noGrp="1"/>
          </p:cNvSpPr>
          <p:nvPr>
            <p:ph type="title"/>
          </p:nvPr>
        </p:nvSpPr>
        <p:spPr/>
        <p:txBody>
          <a:bodyPr/>
          <a:lstStyle/>
          <a:p>
            <a:r>
              <a:rPr lang="en-US" dirty="0">
                <a:latin typeface="Gill Sans MT"/>
              </a:rPr>
              <a:t>FOUR MAIN ELEMENTS OF UI DESIGN</a:t>
            </a:r>
          </a:p>
        </p:txBody>
      </p:sp>
      <p:sp>
        <p:nvSpPr>
          <p:cNvPr id="3" name="Content Placeholder 2">
            <a:extLst>
              <a:ext uri="{FF2B5EF4-FFF2-40B4-BE49-F238E27FC236}">
                <a16:creationId xmlns:a16="http://schemas.microsoft.com/office/drawing/2014/main" id="{CFF91C6D-7A12-A6E6-03FA-32A5876A7F7C}"/>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b="1" dirty="0">
                <a:latin typeface="Gill Sans MT"/>
                <a:ea typeface="+mn-lt"/>
                <a:cs typeface="+mn-lt"/>
              </a:rPr>
              <a:t>Accessibility</a:t>
            </a:r>
            <a:endParaRPr lang="en-US" sz="3600" b="1" dirty="0">
              <a:latin typeface="Gill Sans MT"/>
            </a:endParaRPr>
          </a:p>
          <a:p>
            <a:pPr lvl="1" algn="just">
              <a:buFont typeface="Courier New" panose="020B0604020202020204" pitchFamily="34" charset="0"/>
              <a:buChar char="o"/>
            </a:pPr>
            <a:r>
              <a:rPr lang="en-US" sz="3600" dirty="0">
                <a:latin typeface="Gill Sans MT"/>
                <a:ea typeface="+mn-lt"/>
                <a:cs typeface="+mn-lt"/>
              </a:rPr>
              <a:t>Ensuring the interface can be used by people with diverse abilities and disabilities.</a:t>
            </a:r>
          </a:p>
          <a:p>
            <a:pPr lvl="2" algn="just">
              <a:buFont typeface="Wingdings" panose="020B0604020202020204" pitchFamily="34" charset="0"/>
              <a:buChar char="§"/>
            </a:pPr>
            <a:r>
              <a:rPr lang="en-US" sz="3600" dirty="0">
                <a:latin typeface="Gill Sans MT"/>
                <a:ea typeface="+mn-lt"/>
                <a:cs typeface="+mn-lt"/>
              </a:rPr>
              <a:t>Example: Screen reader compatibility for visually impaired users</a:t>
            </a:r>
            <a:endParaRPr lang="en-US" sz="3600">
              <a:latin typeface="Gill Sans MT"/>
            </a:endParaRPr>
          </a:p>
          <a:p>
            <a:pPr lvl="2" algn="just">
              <a:buFont typeface="Wingdings" panose="020B0604020202020204" pitchFamily="34" charset="0"/>
              <a:buChar char="§"/>
            </a:pPr>
            <a:r>
              <a:rPr lang="en-US" sz="3600" dirty="0">
                <a:latin typeface="Gill Sans MT"/>
                <a:ea typeface="+mn-lt"/>
                <a:cs typeface="+mn-lt"/>
              </a:rPr>
              <a:t>Example: High contrast mode options for users with visual difficulties</a:t>
            </a:r>
            <a:endParaRPr lang="en-US" sz="3600">
              <a:latin typeface="Gill Sans MT"/>
            </a:endParaRPr>
          </a:p>
          <a:p>
            <a:pPr lvl="2" algn="just">
              <a:buFont typeface="Wingdings" panose="020B0604020202020204" pitchFamily="34" charset="0"/>
              <a:buChar char="§"/>
            </a:pPr>
            <a:r>
              <a:rPr lang="en-US" sz="3600" dirty="0">
                <a:latin typeface="Gill Sans MT"/>
                <a:ea typeface="+mn-lt"/>
                <a:cs typeface="+mn-lt"/>
              </a:rPr>
              <a:t>Example: Keyboard navigation alternatives for users who cannot use a mouse</a:t>
            </a:r>
            <a:endParaRPr lang="en-US" sz="3600">
              <a:latin typeface="Gill Sans MT"/>
            </a:endParaRPr>
          </a:p>
        </p:txBody>
      </p:sp>
    </p:spTree>
    <p:extLst>
      <p:ext uri="{BB962C8B-B14F-4D97-AF65-F5344CB8AC3E}">
        <p14:creationId xmlns:p14="http://schemas.microsoft.com/office/powerpoint/2010/main" val="23543762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9FB6B-20E1-0458-2331-AD84434EF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87109-72C7-2CD4-A56F-DCE558C0A1F3}"/>
              </a:ext>
            </a:extLst>
          </p:cNvPr>
          <p:cNvSpPr>
            <a:spLocks noGrp="1"/>
          </p:cNvSpPr>
          <p:nvPr>
            <p:ph type="title"/>
          </p:nvPr>
        </p:nvSpPr>
        <p:spPr/>
        <p:txBody>
          <a:bodyPr/>
          <a:lstStyle/>
          <a:p>
            <a:r>
              <a:rPr lang="en-US" dirty="0">
                <a:latin typeface="Gill Sans MT"/>
              </a:rPr>
              <a:t>KEY DESIGN CONSIDERATION</a:t>
            </a:r>
          </a:p>
        </p:txBody>
      </p:sp>
      <p:sp>
        <p:nvSpPr>
          <p:cNvPr id="3" name="Content Placeholder 2">
            <a:extLst>
              <a:ext uri="{FF2B5EF4-FFF2-40B4-BE49-F238E27FC236}">
                <a16:creationId xmlns:a16="http://schemas.microsoft.com/office/drawing/2014/main" id="{0104E292-61F6-5FFD-A78D-A1712652A043}"/>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b="1" dirty="0">
                <a:latin typeface="Gill Sans MT"/>
                <a:ea typeface="+mn-lt"/>
                <a:cs typeface="+mn-lt"/>
              </a:rPr>
              <a:t>Consistency</a:t>
            </a:r>
            <a:endParaRPr lang="en-US" sz="3600" b="1">
              <a:latin typeface="Gill Sans MT"/>
            </a:endParaRPr>
          </a:p>
          <a:p>
            <a:pPr lvl="1" algn="just">
              <a:buFont typeface="Courier New" panose="020B0604020202020204" pitchFamily="34" charset="0"/>
              <a:buChar char="o"/>
            </a:pPr>
            <a:r>
              <a:rPr lang="en-US" sz="3600" dirty="0">
                <a:latin typeface="Gill Sans MT"/>
                <a:ea typeface="+mn-lt"/>
                <a:cs typeface="+mn-lt"/>
              </a:rPr>
              <a:t>Maintain uniformity across all interface elements including colors, borders, font sizes, styles, headers, footers, and background images. </a:t>
            </a:r>
          </a:p>
          <a:p>
            <a:pPr algn="just"/>
            <a:r>
              <a:rPr lang="en-US" sz="3600" b="1" dirty="0">
                <a:latin typeface="Gill Sans MT"/>
                <a:ea typeface="+mn-lt"/>
                <a:cs typeface="+mn-lt"/>
              </a:rPr>
              <a:t>Examples of Good Consistency:</a:t>
            </a:r>
            <a:endParaRPr lang="en-US" sz="3600" dirty="0">
              <a:latin typeface="Gill Sans MT"/>
            </a:endParaRPr>
          </a:p>
          <a:p>
            <a:pPr lvl="1" algn="just">
              <a:buFont typeface="Courier New" panose="020B0604020202020204" pitchFamily="34" charset="0"/>
              <a:buChar char="o"/>
            </a:pPr>
            <a:r>
              <a:rPr lang="en-US" sz="3600" dirty="0">
                <a:latin typeface="Gill Sans MT"/>
                <a:ea typeface="+mn-lt"/>
                <a:cs typeface="+mn-lt"/>
              </a:rPr>
              <a:t>Bad Example: A website that uses different button styles on each page, confusing users about what's clickable</a:t>
            </a:r>
          </a:p>
          <a:p>
            <a:pPr lvl="1" algn="just">
              <a:buFont typeface="Courier New" panose="020B0604020202020204" pitchFamily="34" charset="0"/>
              <a:buChar char="o"/>
            </a:pPr>
            <a:r>
              <a:rPr lang="en-US" sz="3600" dirty="0">
                <a:latin typeface="Gill Sans MT"/>
              </a:rPr>
              <a:t>Apple's iOS: Consistent use of rounded corners, specific blue color </a:t>
            </a:r>
            <a:r>
              <a:rPr lang="en-US" sz="3600" err="1">
                <a:latin typeface="Gill Sans MT"/>
              </a:rPr>
              <a:t>forlinks</a:t>
            </a:r>
            <a:r>
              <a:rPr lang="en-US" sz="3600" dirty="0">
                <a:latin typeface="Gill Sans MT"/>
              </a:rPr>
              <a:t>, and uniform spacing</a:t>
            </a:r>
          </a:p>
        </p:txBody>
      </p:sp>
    </p:spTree>
    <p:extLst>
      <p:ext uri="{BB962C8B-B14F-4D97-AF65-F5344CB8AC3E}">
        <p14:creationId xmlns:p14="http://schemas.microsoft.com/office/powerpoint/2010/main" val="17398779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2AA11-7ACA-4A6E-AB2D-E7C0F1767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8B34C-E0FC-B0EF-D4CC-D03C50FE5F74}"/>
              </a:ext>
            </a:extLst>
          </p:cNvPr>
          <p:cNvSpPr>
            <a:spLocks noGrp="1"/>
          </p:cNvSpPr>
          <p:nvPr>
            <p:ph type="title"/>
          </p:nvPr>
        </p:nvSpPr>
        <p:spPr/>
        <p:txBody>
          <a:bodyPr/>
          <a:lstStyle/>
          <a:p>
            <a:r>
              <a:rPr lang="en-US" dirty="0">
                <a:latin typeface="Gill Sans MT"/>
              </a:rPr>
              <a:t>KEY DESIGN CONSIDERATION</a:t>
            </a:r>
          </a:p>
        </p:txBody>
      </p:sp>
      <p:sp>
        <p:nvSpPr>
          <p:cNvPr id="3" name="Content Placeholder 2">
            <a:extLst>
              <a:ext uri="{FF2B5EF4-FFF2-40B4-BE49-F238E27FC236}">
                <a16:creationId xmlns:a16="http://schemas.microsoft.com/office/drawing/2014/main" id="{C13721DA-6A57-1F50-6E1D-27A649108F33}"/>
              </a:ext>
            </a:extLst>
          </p:cNvPr>
          <p:cNvSpPr>
            <a:spLocks noGrp="1"/>
          </p:cNvSpPr>
          <p:nvPr>
            <p:ph idx="1"/>
          </p:nvPr>
        </p:nvSpPr>
        <p:spPr>
          <a:xfrm>
            <a:off x="548672" y="1855319"/>
            <a:ext cx="15407874" cy="4733441"/>
          </a:xfrm>
        </p:spPr>
        <p:txBody>
          <a:bodyPr vert="horz" lIns="91440" tIns="45720" rIns="91440" bIns="45720" rtlCol="0" anchor="t">
            <a:normAutofit lnSpcReduction="10000"/>
          </a:bodyPr>
          <a:lstStyle/>
          <a:p>
            <a:pPr algn="just"/>
            <a:r>
              <a:rPr lang="en-US" sz="3600" b="1" dirty="0">
                <a:latin typeface="Gill Sans MT"/>
              </a:rPr>
              <a:t>Responsiveness</a:t>
            </a:r>
          </a:p>
          <a:p>
            <a:pPr lvl="1" algn="just">
              <a:buFont typeface="Courier New" panose="020B0604020202020204" pitchFamily="34" charset="0"/>
              <a:buChar char="o"/>
            </a:pPr>
            <a:r>
              <a:rPr lang="en-US" sz="3600" dirty="0">
                <a:latin typeface="Gill Sans MT"/>
                <a:ea typeface="+mn-lt"/>
                <a:cs typeface="+mn-lt"/>
              </a:rPr>
              <a:t>Users expect immediate feedback when they interact with an interface. This includes both technical responsiveness (fast loading times) and interactive feedback (visual confirmation of actions).</a:t>
            </a:r>
            <a:endParaRPr lang="en-US" sz="3600">
              <a:latin typeface="Gill Sans MT"/>
            </a:endParaRPr>
          </a:p>
          <a:p>
            <a:pPr marL="0" indent="0" algn="just">
              <a:buNone/>
            </a:pPr>
            <a:r>
              <a:rPr lang="en-US" sz="3600" b="1" dirty="0">
                <a:latin typeface="Gill Sans MT"/>
                <a:ea typeface="+mn-lt"/>
                <a:cs typeface="+mn-lt"/>
              </a:rPr>
              <a:t>Examples:</a:t>
            </a:r>
          </a:p>
          <a:p>
            <a:pPr lvl="1" algn="just">
              <a:buFont typeface="Courier New" panose="020B0604020202020204" pitchFamily="34" charset="0"/>
              <a:buChar char="o"/>
            </a:pPr>
            <a:r>
              <a:rPr lang="en-US" sz="3600" b="1" dirty="0">
                <a:latin typeface="Gill Sans MT"/>
                <a:ea typeface="+mn-lt"/>
                <a:cs typeface="+mn-lt"/>
              </a:rPr>
              <a:t>Button States</a:t>
            </a:r>
            <a:r>
              <a:rPr lang="en-US" sz="3600" dirty="0">
                <a:latin typeface="Gill Sans MT"/>
                <a:ea typeface="+mn-lt"/>
                <a:cs typeface="+mn-lt"/>
              </a:rPr>
              <a:t>: Buttons that change color when hovered over or pressed</a:t>
            </a:r>
            <a:endParaRPr lang="en-US" sz="3600">
              <a:latin typeface="Gill Sans MT"/>
            </a:endParaRPr>
          </a:p>
          <a:p>
            <a:pPr lvl="1" algn="just">
              <a:buFont typeface="Courier New" panose="020B0604020202020204" pitchFamily="34" charset="0"/>
              <a:buChar char="o"/>
            </a:pPr>
            <a:r>
              <a:rPr lang="en-US" sz="3600" b="1" dirty="0">
                <a:latin typeface="Gill Sans MT"/>
                <a:ea typeface="+mn-lt"/>
                <a:cs typeface="+mn-lt"/>
              </a:rPr>
              <a:t>Loading Indicators</a:t>
            </a:r>
            <a:r>
              <a:rPr lang="en-US" sz="3600" dirty="0">
                <a:latin typeface="Gill Sans MT"/>
                <a:ea typeface="+mn-lt"/>
                <a:cs typeface="+mn-lt"/>
              </a:rPr>
              <a:t>: Progress bars or spinners that show system activity</a:t>
            </a:r>
            <a:endParaRPr lang="en-US" sz="3600">
              <a:latin typeface="Gill Sans MT"/>
            </a:endParaRPr>
          </a:p>
          <a:p>
            <a:pPr lvl="1" algn="just">
              <a:buFont typeface="Courier New" panose="020B0604020202020204" pitchFamily="34" charset="0"/>
              <a:buChar char="o"/>
            </a:pPr>
            <a:r>
              <a:rPr lang="en-US" sz="3600" b="1" dirty="0">
                <a:latin typeface="Gill Sans MT"/>
                <a:ea typeface="+mn-lt"/>
                <a:cs typeface="+mn-lt"/>
              </a:rPr>
              <a:t>Form Validation</a:t>
            </a:r>
            <a:r>
              <a:rPr lang="en-US" sz="3600" dirty="0">
                <a:latin typeface="Gill Sans MT"/>
                <a:ea typeface="+mn-lt"/>
                <a:cs typeface="+mn-lt"/>
              </a:rPr>
              <a:t>: Real-time feedback when users enter incorrect information</a:t>
            </a:r>
            <a:endParaRPr lang="en-US" sz="3600">
              <a:latin typeface="Gill Sans MT"/>
            </a:endParaRPr>
          </a:p>
          <a:p>
            <a:pPr algn="just"/>
            <a:endParaRPr lang="en-US" sz="3600" dirty="0"/>
          </a:p>
        </p:txBody>
      </p:sp>
    </p:spTree>
    <p:extLst>
      <p:ext uri="{BB962C8B-B14F-4D97-AF65-F5344CB8AC3E}">
        <p14:creationId xmlns:p14="http://schemas.microsoft.com/office/powerpoint/2010/main" val="29284814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13EC0-56B9-F850-04DF-DB58309D4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BBA40-16D8-EBCC-0087-8F116992B964}"/>
              </a:ext>
            </a:extLst>
          </p:cNvPr>
          <p:cNvSpPr>
            <a:spLocks noGrp="1"/>
          </p:cNvSpPr>
          <p:nvPr>
            <p:ph type="title"/>
          </p:nvPr>
        </p:nvSpPr>
        <p:spPr/>
        <p:txBody>
          <a:bodyPr/>
          <a:lstStyle/>
          <a:p>
            <a:r>
              <a:rPr lang="en-US" dirty="0">
                <a:latin typeface="Gill Sans MT"/>
              </a:rPr>
              <a:t>KEY DESIGN CONSIDERATION</a:t>
            </a:r>
          </a:p>
        </p:txBody>
      </p:sp>
      <p:sp>
        <p:nvSpPr>
          <p:cNvPr id="3" name="Content Placeholder 2">
            <a:extLst>
              <a:ext uri="{FF2B5EF4-FFF2-40B4-BE49-F238E27FC236}">
                <a16:creationId xmlns:a16="http://schemas.microsoft.com/office/drawing/2014/main" id="{B224759D-DE00-C888-1908-A342680C5E67}"/>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b="1" dirty="0">
                <a:latin typeface="Gill Sans MT"/>
                <a:ea typeface="+mn-lt"/>
                <a:cs typeface="+mn-lt"/>
              </a:rPr>
              <a:t>Familiar Language and Terminology</a:t>
            </a:r>
            <a:endParaRPr lang="en-US" sz="3600" b="1">
              <a:latin typeface="Gill Sans MT"/>
            </a:endParaRPr>
          </a:p>
          <a:p>
            <a:pPr lvl="1" algn="just">
              <a:buFont typeface="Courier New" panose="020B0604020202020204" pitchFamily="34" charset="0"/>
              <a:buChar char="o"/>
            </a:pPr>
            <a:r>
              <a:rPr lang="en-US" sz="3600" dirty="0">
                <a:latin typeface="Gill Sans MT"/>
                <a:ea typeface="+mn-lt"/>
                <a:cs typeface="+mn-lt"/>
              </a:rPr>
              <a:t>Use words and terms that users already understand from their daily experience or previous interactions with similar systems.</a:t>
            </a:r>
          </a:p>
          <a:p>
            <a:pPr marL="0" indent="0" algn="just">
              <a:buNone/>
            </a:pPr>
            <a:r>
              <a:rPr lang="en-US" sz="3600" b="1" dirty="0">
                <a:latin typeface="Gill Sans MT"/>
                <a:ea typeface="+mn-lt"/>
                <a:cs typeface="+mn-lt"/>
              </a:rPr>
              <a:t>Examples:</a:t>
            </a:r>
            <a:endParaRPr lang="en-US" sz="3600" b="1">
              <a:latin typeface="Gill Sans MT"/>
              <a:ea typeface="+mn-lt"/>
              <a:cs typeface="+mn-lt"/>
            </a:endParaRPr>
          </a:p>
          <a:p>
            <a:pPr lvl="1" algn="just">
              <a:buFont typeface="Courier New" panose="020B0604020202020204" pitchFamily="34" charset="0"/>
              <a:buChar char="o"/>
            </a:pPr>
            <a:r>
              <a:rPr lang="en-US" sz="3600" dirty="0">
                <a:latin typeface="Gill Sans MT"/>
                <a:ea typeface="+mn-lt"/>
                <a:cs typeface="+mn-lt"/>
              </a:rPr>
              <a:t>Good: "Save" instead of "Persist Data"</a:t>
            </a:r>
            <a:endParaRPr lang="en-US" sz="3600">
              <a:latin typeface="Gill Sans MT"/>
            </a:endParaRPr>
          </a:p>
          <a:p>
            <a:pPr lvl="1" algn="just">
              <a:buFont typeface="Courier New" panose="020B0604020202020204" pitchFamily="34" charset="0"/>
              <a:buChar char="o"/>
            </a:pPr>
            <a:r>
              <a:rPr lang="en-US" sz="3600" dirty="0">
                <a:latin typeface="Gill Sans MT"/>
                <a:ea typeface="+mn-lt"/>
                <a:cs typeface="+mn-lt"/>
              </a:rPr>
              <a:t>Good: "Shopping Cart" instead of "Item Repository"</a:t>
            </a:r>
            <a:endParaRPr lang="en-US" sz="3600">
              <a:latin typeface="Gill Sans MT"/>
            </a:endParaRPr>
          </a:p>
          <a:p>
            <a:pPr algn="just"/>
            <a:endParaRPr lang="en-US" sz="3600" dirty="0"/>
          </a:p>
        </p:txBody>
      </p:sp>
    </p:spTree>
    <p:extLst>
      <p:ext uri="{BB962C8B-B14F-4D97-AF65-F5344CB8AC3E}">
        <p14:creationId xmlns:p14="http://schemas.microsoft.com/office/powerpoint/2010/main" val="40852477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9B5AA-BED3-D0FE-2E48-ECD7D21FF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DFF787-E532-9E52-FAE1-7A28FEDC3976}"/>
              </a:ext>
            </a:extLst>
          </p:cNvPr>
          <p:cNvSpPr>
            <a:spLocks noGrp="1"/>
          </p:cNvSpPr>
          <p:nvPr>
            <p:ph type="title"/>
          </p:nvPr>
        </p:nvSpPr>
        <p:spPr/>
        <p:txBody>
          <a:bodyPr/>
          <a:lstStyle/>
          <a:p>
            <a:r>
              <a:rPr lang="en-US" dirty="0">
                <a:latin typeface="Gill Sans MT"/>
              </a:rPr>
              <a:t>KEY DESIGN CONSIDERATION</a:t>
            </a:r>
          </a:p>
        </p:txBody>
      </p:sp>
      <p:sp>
        <p:nvSpPr>
          <p:cNvPr id="3" name="Content Placeholder 2">
            <a:extLst>
              <a:ext uri="{FF2B5EF4-FFF2-40B4-BE49-F238E27FC236}">
                <a16:creationId xmlns:a16="http://schemas.microsoft.com/office/drawing/2014/main" id="{5FAF79EA-758B-4237-894E-6F2AC3458E89}"/>
              </a:ext>
            </a:extLst>
          </p:cNvPr>
          <p:cNvSpPr>
            <a:spLocks noGrp="1"/>
          </p:cNvSpPr>
          <p:nvPr>
            <p:ph idx="1"/>
          </p:nvPr>
        </p:nvSpPr>
        <p:spPr>
          <a:xfrm>
            <a:off x="548672" y="1855319"/>
            <a:ext cx="15407874" cy="4733441"/>
          </a:xfrm>
        </p:spPr>
        <p:txBody>
          <a:bodyPr vert="horz" lIns="91440" tIns="45720" rIns="91440" bIns="45720" rtlCol="0" anchor="t">
            <a:normAutofit/>
          </a:bodyPr>
          <a:lstStyle/>
          <a:p>
            <a:pPr algn="just"/>
            <a:r>
              <a:rPr lang="en-US" sz="3600" b="1" dirty="0">
                <a:latin typeface="Gill Sans MT"/>
                <a:ea typeface="+mn-lt"/>
                <a:cs typeface="+mn-lt"/>
              </a:rPr>
              <a:t>Clear Navigation and Contact Information</a:t>
            </a:r>
            <a:endParaRPr lang="en-US" sz="3600" b="1">
              <a:latin typeface="Gill Sans MT"/>
            </a:endParaRPr>
          </a:p>
          <a:p>
            <a:pPr lvl="1" algn="just">
              <a:buFont typeface="Courier New" panose="020B0604020202020204" pitchFamily="34" charset="0"/>
              <a:buChar char="o"/>
            </a:pPr>
            <a:r>
              <a:rPr lang="en-US" sz="3600" dirty="0">
                <a:latin typeface="Gill Sans MT"/>
                <a:ea typeface="+mn-lt"/>
                <a:cs typeface="+mn-lt"/>
              </a:rPr>
              <a:t>Every page should provide easy access to essential information and navigation options, including company contact details.</a:t>
            </a:r>
          </a:p>
          <a:p>
            <a:pPr algn="just"/>
            <a:r>
              <a:rPr lang="en-US" sz="3600" b="1" dirty="0">
                <a:latin typeface="Gill Sans MT"/>
                <a:ea typeface="+mn-lt"/>
                <a:cs typeface="+mn-lt"/>
              </a:rPr>
              <a:t>Examples:</a:t>
            </a:r>
            <a:endParaRPr lang="en-US" sz="3600" b="1">
              <a:latin typeface="Gill Sans MT"/>
              <a:ea typeface="+mn-lt"/>
              <a:cs typeface="+mn-lt"/>
            </a:endParaRPr>
          </a:p>
          <a:p>
            <a:pPr lvl="1" algn="just">
              <a:buFont typeface="Courier New" panose="020B0604020202020204" pitchFamily="34" charset="0"/>
              <a:buChar char="o"/>
            </a:pPr>
            <a:r>
              <a:rPr lang="en-US" sz="3600" dirty="0">
                <a:latin typeface="Gill Sans MT"/>
                <a:ea typeface="+mn-lt"/>
                <a:cs typeface="+mn-lt"/>
              </a:rPr>
              <a:t>Sticky Navigation: Headers that remain visible while scrolling</a:t>
            </a:r>
            <a:endParaRPr lang="en-US" sz="3600">
              <a:latin typeface="Gill Sans MT"/>
            </a:endParaRPr>
          </a:p>
          <a:p>
            <a:pPr lvl="1" algn="just">
              <a:buFont typeface="Courier New" panose="020B0604020202020204" pitchFamily="34" charset="0"/>
              <a:buChar char="o"/>
            </a:pPr>
            <a:r>
              <a:rPr lang="en-US" sz="3600" dirty="0">
                <a:latin typeface="Gill Sans MT"/>
                <a:ea typeface="+mn-lt"/>
                <a:cs typeface="+mn-lt"/>
              </a:rPr>
              <a:t>Breadcrumbs: Showing users where they are in the site hierarchy (Home &gt; Products &gt; Laptops &gt; Dell XPS)</a:t>
            </a:r>
            <a:endParaRPr lang="en-US" sz="3600">
              <a:latin typeface="Gill Sans MT"/>
            </a:endParaRPr>
          </a:p>
          <a:p>
            <a:pPr algn="just"/>
            <a:endParaRPr lang="en-US" sz="3600" dirty="0"/>
          </a:p>
        </p:txBody>
      </p:sp>
    </p:spTree>
    <p:extLst>
      <p:ext uri="{BB962C8B-B14F-4D97-AF65-F5344CB8AC3E}">
        <p14:creationId xmlns:p14="http://schemas.microsoft.com/office/powerpoint/2010/main" val="2193924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ACC00-16CE-08BA-3EA9-5E1C36F81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8645DC-BE37-579D-7472-5E8BE3B9C159}"/>
              </a:ext>
            </a:extLst>
          </p:cNvPr>
          <p:cNvSpPr>
            <a:spLocks noGrp="1"/>
          </p:cNvSpPr>
          <p:nvPr>
            <p:ph type="title"/>
          </p:nvPr>
        </p:nvSpPr>
        <p:spPr/>
        <p:txBody>
          <a:bodyPr/>
          <a:lstStyle/>
          <a:p>
            <a:r>
              <a:rPr lang="en-US" dirty="0">
                <a:latin typeface="Gill Sans MT"/>
              </a:rPr>
              <a:t>SEVEN HABITS OF SUCCESSFUL INTERFACE DESIGN</a:t>
            </a:r>
          </a:p>
        </p:txBody>
      </p:sp>
      <p:sp>
        <p:nvSpPr>
          <p:cNvPr id="3" name="Content Placeholder 2">
            <a:extLst>
              <a:ext uri="{FF2B5EF4-FFF2-40B4-BE49-F238E27FC236}">
                <a16:creationId xmlns:a16="http://schemas.microsoft.com/office/drawing/2014/main" id="{605A620B-677E-4717-A131-47A3EA62A4FE}"/>
              </a:ext>
            </a:extLst>
          </p:cNvPr>
          <p:cNvSpPr>
            <a:spLocks noGrp="1"/>
          </p:cNvSpPr>
          <p:nvPr>
            <p:ph idx="1"/>
          </p:nvPr>
        </p:nvSpPr>
        <p:spPr>
          <a:xfrm>
            <a:off x="548672" y="1855319"/>
            <a:ext cx="15407874" cy="4733441"/>
          </a:xfrm>
        </p:spPr>
        <p:txBody>
          <a:bodyPr vert="horz" lIns="91440" tIns="45720" rIns="91440" bIns="45720" rtlCol="0" anchor="t">
            <a:normAutofit/>
          </a:bodyPr>
          <a:lstStyle/>
          <a:p>
            <a:pPr marL="742950" indent="-742950" algn="just">
              <a:buAutoNum type="arabicPeriod"/>
            </a:pPr>
            <a:r>
              <a:rPr lang="en-US" sz="3600" dirty="0">
                <a:latin typeface="Gill Sans MT"/>
                <a:ea typeface="+mn-lt"/>
                <a:cs typeface="+mn-lt"/>
              </a:rPr>
              <a:t>Understand the Business - Designers should have a thorough understanding of business requirements and objectives.</a:t>
            </a:r>
            <a:endParaRPr lang="en-US" sz="3600" b="1" dirty="0">
              <a:latin typeface="Gill Sans MT"/>
              <a:ea typeface="+mn-lt"/>
              <a:cs typeface="+mn-lt"/>
            </a:endParaRPr>
          </a:p>
          <a:p>
            <a:pPr marL="742950" indent="-742950" algn="just">
              <a:buAutoNum type="arabicPeriod"/>
            </a:pPr>
            <a:r>
              <a:rPr lang="en-US" sz="3600" dirty="0">
                <a:latin typeface="Gill Sans MT"/>
                <a:ea typeface="+mn-lt"/>
                <a:cs typeface="+mn-lt"/>
              </a:rPr>
              <a:t>Maximize Graphical Effectiveness </a:t>
            </a:r>
            <a:endParaRPr lang="en-US" sz="3600" dirty="0">
              <a:latin typeface="Gill Sans MT"/>
            </a:endParaRPr>
          </a:p>
          <a:p>
            <a:pPr marL="742950" indent="-742950" algn="just">
              <a:buAutoNum type="arabicPeriod"/>
            </a:pPr>
            <a:r>
              <a:rPr lang="en-US" sz="3600" dirty="0">
                <a:latin typeface="Gill Sans MT"/>
                <a:ea typeface="+mn-lt"/>
                <a:cs typeface="+mn-lt"/>
              </a:rPr>
              <a:t>Think Like a User</a:t>
            </a:r>
          </a:p>
          <a:p>
            <a:pPr marL="742950" indent="-742950" algn="just">
              <a:buAutoNum type="arabicPeriod"/>
            </a:pPr>
            <a:r>
              <a:rPr lang="en-US" sz="3600" dirty="0">
                <a:latin typeface="Gill Sans MT"/>
                <a:ea typeface="+mn-lt"/>
                <a:cs typeface="+mn-lt"/>
              </a:rPr>
              <a:t>Use Models and Prototypes - Develop models and prototypes to test and refine the interface design.</a:t>
            </a:r>
          </a:p>
          <a:p>
            <a:pPr marL="742950" indent="-742950" algn="just">
              <a:buAutoNum type="arabicPeriod"/>
            </a:pPr>
            <a:endParaRPr lang="en-US" sz="3600" dirty="0"/>
          </a:p>
        </p:txBody>
      </p:sp>
    </p:spTree>
    <p:extLst>
      <p:ext uri="{BB962C8B-B14F-4D97-AF65-F5344CB8AC3E}">
        <p14:creationId xmlns:p14="http://schemas.microsoft.com/office/powerpoint/2010/main" val="13360070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BA3D6-1E76-704C-74AA-AA9EF87DA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46013-7C20-E02D-99D9-6A9419237697}"/>
              </a:ext>
            </a:extLst>
          </p:cNvPr>
          <p:cNvSpPr>
            <a:spLocks noGrp="1"/>
          </p:cNvSpPr>
          <p:nvPr>
            <p:ph type="title"/>
          </p:nvPr>
        </p:nvSpPr>
        <p:spPr/>
        <p:txBody>
          <a:bodyPr/>
          <a:lstStyle/>
          <a:p>
            <a:r>
              <a:rPr lang="en-US" dirty="0">
                <a:latin typeface="Gill Sans MT"/>
              </a:rPr>
              <a:t>SEVEN HABITS OF SUCCESSFUL INTERFACE DESIGN</a:t>
            </a:r>
          </a:p>
        </p:txBody>
      </p:sp>
      <p:sp>
        <p:nvSpPr>
          <p:cNvPr id="3" name="Content Placeholder 2">
            <a:extLst>
              <a:ext uri="{FF2B5EF4-FFF2-40B4-BE49-F238E27FC236}">
                <a16:creationId xmlns:a16="http://schemas.microsoft.com/office/drawing/2014/main" id="{5C60FFCF-CFA3-890C-C5F9-7BD4AC1787FE}"/>
              </a:ext>
            </a:extLst>
          </p:cNvPr>
          <p:cNvSpPr>
            <a:spLocks noGrp="1"/>
          </p:cNvSpPr>
          <p:nvPr>
            <p:ph idx="1"/>
          </p:nvPr>
        </p:nvSpPr>
        <p:spPr>
          <a:xfrm>
            <a:off x="548672" y="1855319"/>
            <a:ext cx="15407874" cy="4733441"/>
          </a:xfrm>
        </p:spPr>
        <p:txBody>
          <a:bodyPr vert="horz" lIns="91440" tIns="45720" rIns="91440" bIns="45720" rtlCol="0" anchor="t">
            <a:normAutofit/>
          </a:bodyPr>
          <a:lstStyle/>
          <a:p>
            <a:pPr marL="742950" indent="-742950" algn="just">
              <a:buAutoNum type="arabicPeriod"/>
            </a:pPr>
            <a:r>
              <a:rPr lang="en-US" sz="3600" dirty="0">
                <a:latin typeface="Gill Sans MT"/>
                <a:ea typeface="+mn-lt"/>
                <a:cs typeface="+mn-lt"/>
              </a:rPr>
              <a:t>Focus on Usability - Prioritize usability to ensure that the interface is intuitive and easy to navigate.</a:t>
            </a:r>
          </a:p>
          <a:p>
            <a:pPr marL="742950" indent="-742950" algn="just">
              <a:buAutoNum type="arabicPeriod"/>
            </a:pPr>
            <a:r>
              <a:rPr lang="en-US" sz="3600" dirty="0">
                <a:latin typeface="Gill Sans MT"/>
                <a:ea typeface="+mn-lt"/>
                <a:cs typeface="+mn-lt"/>
              </a:rPr>
              <a:t>Invite Feedback - Seek feedback from users and stakeholders to identify areas for improvement.</a:t>
            </a:r>
          </a:p>
          <a:p>
            <a:pPr marL="742950" indent="-742950" algn="just">
              <a:buAutoNum type="arabicPeriod"/>
            </a:pPr>
            <a:r>
              <a:rPr lang="en-US" sz="3600" dirty="0">
                <a:latin typeface="Gill Sans MT"/>
                <a:ea typeface="+mn-lt"/>
                <a:cs typeface="+mn-lt"/>
              </a:rPr>
              <a:t>Document Everything - Maintain thorough documentation of the design process, decisions, and revisions.</a:t>
            </a:r>
            <a:endParaRPr lang="en-US" sz="3600" dirty="0">
              <a:latin typeface="Gill Sans MT"/>
            </a:endParaRPr>
          </a:p>
          <a:p>
            <a:pPr marL="742950" indent="-742950" algn="just">
              <a:buAutoNum type="arabicPeriod"/>
            </a:pPr>
            <a:endParaRPr lang="en-US" sz="3600" dirty="0"/>
          </a:p>
        </p:txBody>
      </p:sp>
    </p:spTree>
    <p:extLst>
      <p:ext uri="{BB962C8B-B14F-4D97-AF65-F5344CB8AC3E}">
        <p14:creationId xmlns:p14="http://schemas.microsoft.com/office/powerpoint/2010/main" val="12084810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BE1FA-E2A8-FD0A-98D3-211D0426C7CC}"/>
              </a:ext>
            </a:extLst>
          </p:cNvPr>
          <p:cNvSpPr>
            <a:spLocks noGrp="1"/>
          </p:cNvSpPr>
          <p:nvPr>
            <p:ph type="title"/>
          </p:nvPr>
        </p:nvSpPr>
        <p:spPr/>
        <p:txBody>
          <a:bodyPr/>
          <a:lstStyle/>
          <a:p>
            <a:r>
              <a:rPr lang="en-US" dirty="0">
                <a:latin typeface="Gill Sans MT"/>
              </a:rPr>
              <a:t>MAXIMIZE GRAPHICAL EFFECTIVENESS</a:t>
            </a:r>
          </a:p>
        </p:txBody>
      </p:sp>
      <p:sp>
        <p:nvSpPr>
          <p:cNvPr id="3" name="Content Placeholder 2">
            <a:extLst>
              <a:ext uri="{FF2B5EF4-FFF2-40B4-BE49-F238E27FC236}">
                <a16:creationId xmlns:a16="http://schemas.microsoft.com/office/drawing/2014/main" id="{9742D4E2-6D47-BD7A-54AF-09DD6EBB275D}"/>
              </a:ext>
            </a:extLst>
          </p:cNvPr>
          <p:cNvSpPr>
            <a:spLocks noGrp="1"/>
          </p:cNvSpPr>
          <p:nvPr>
            <p:ph idx="1"/>
          </p:nvPr>
        </p:nvSpPr>
        <p:spPr>
          <a:xfrm>
            <a:off x="410618" y="1839984"/>
            <a:ext cx="16021450" cy="5147508"/>
          </a:xfrm>
        </p:spPr>
        <p:txBody>
          <a:bodyPr vert="horz" lIns="91440" tIns="45720" rIns="91440" bIns="45720" rtlCol="0" anchor="t">
            <a:noAutofit/>
          </a:bodyPr>
          <a:lstStyle/>
          <a:p>
            <a:pPr algn="just"/>
            <a:r>
              <a:rPr lang="en-US" sz="3600" dirty="0">
                <a:latin typeface="Gill Sans MT"/>
              </a:rPr>
              <a:t>Utilize graphical elements effectively to enhance the </a:t>
            </a:r>
            <a:r>
              <a:rPr lang="en-US" sz="3600" b="1" dirty="0">
                <a:latin typeface="Gill Sans MT"/>
              </a:rPr>
              <a:t>visual appeal </a:t>
            </a:r>
            <a:r>
              <a:rPr lang="en-US" sz="3600" dirty="0">
                <a:latin typeface="Gill Sans MT"/>
              </a:rPr>
              <a:t>and </a:t>
            </a:r>
            <a:r>
              <a:rPr lang="en-US" sz="3600" b="1" dirty="0">
                <a:latin typeface="Gill Sans MT"/>
              </a:rPr>
              <a:t>usability</a:t>
            </a:r>
            <a:r>
              <a:rPr lang="en-US" sz="3600" dirty="0">
                <a:latin typeface="Gill Sans MT"/>
              </a:rPr>
              <a:t> of the interface.</a:t>
            </a:r>
          </a:p>
          <a:p>
            <a:pPr algn="just"/>
            <a:r>
              <a:rPr lang="en-US" sz="3600" dirty="0">
                <a:latin typeface="Gill Sans MT"/>
              </a:rPr>
              <a:t>A well-designed interface can help  users  learn  a new  system rapidly and be more productive.</a:t>
            </a:r>
          </a:p>
          <a:p>
            <a:pPr algn="just"/>
            <a:r>
              <a:rPr lang="en-US" sz="3600" dirty="0">
                <a:latin typeface="Gill Sans MT"/>
              </a:rPr>
              <a:t>Also, in a  graphical environment,  a user can  display and  work  with  multiple windows  on a single screen and transfer data between  programs. </a:t>
            </a:r>
          </a:p>
          <a:p>
            <a:pPr algn="just"/>
            <a:r>
              <a:rPr lang="en-US" sz="3600" dirty="0">
                <a:latin typeface="Gill Sans MT"/>
              </a:rPr>
              <a:t>If the interface supports data entry, it must follow the guidelines for data entry screen design.</a:t>
            </a:r>
          </a:p>
          <a:p>
            <a:endParaRPr lang="en-US" dirty="0"/>
          </a:p>
        </p:txBody>
      </p:sp>
    </p:spTree>
    <p:extLst>
      <p:ext uri="{BB962C8B-B14F-4D97-AF65-F5344CB8AC3E}">
        <p14:creationId xmlns:p14="http://schemas.microsoft.com/office/powerpoint/2010/main" val="9531535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F341B-BEE1-CD06-6583-145854C2DA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4C196-5A42-1C89-EF21-ABBA0D0AA539}"/>
              </a:ext>
            </a:extLst>
          </p:cNvPr>
          <p:cNvSpPr>
            <a:spLocks noGrp="1"/>
          </p:cNvSpPr>
          <p:nvPr>
            <p:ph type="title"/>
          </p:nvPr>
        </p:nvSpPr>
        <p:spPr/>
        <p:txBody>
          <a:bodyPr/>
          <a:lstStyle/>
          <a:p>
            <a:r>
              <a:rPr lang="en-US" dirty="0">
                <a:latin typeface="Gill Sans MT"/>
              </a:rPr>
              <a:t>MAXIMIZE GRAPHICAL EFFECTIVENESS</a:t>
            </a:r>
          </a:p>
        </p:txBody>
      </p:sp>
      <p:sp>
        <p:nvSpPr>
          <p:cNvPr id="3" name="Content Placeholder 2">
            <a:extLst>
              <a:ext uri="{FF2B5EF4-FFF2-40B4-BE49-F238E27FC236}">
                <a16:creationId xmlns:a16="http://schemas.microsoft.com/office/drawing/2014/main" id="{235DE057-9052-6A05-97A0-25C826A2FDCA}"/>
              </a:ext>
            </a:extLst>
          </p:cNvPr>
          <p:cNvSpPr>
            <a:spLocks noGrp="1"/>
          </p:cNvSpPr>
          <p:nvPr>
            <p:ph idx="1"/>
          </p:nvPr>
        </p:nvSpPr>
        <p:spPr>
          <a:xfrm>
            <a:off x="410618" y="1839984"/>
            <a:ext cx="16021450" cy="5147508"/>
          </a:xfrm>
        </p:spPr>
        <p:txBody>
          <a:bodyPr vert="horz" lIns="91440" tIns="45720" rIns="91440" bIns="45720" rtlCol="0" anchor="t">
            <a:noAutofit/>
          </a:bodyPr>
          <a:lstStyle/>
          <a:p>
            <a:pPr algn="just"/>
            <a:r>
              <a:rPr lang="en-US" sz="3600" dirty="0">
                <a:latin typeface="Gill Sans MT"/>
              </a:rPr>
              <a:t>A good data entry form design can be discussed in these four categories:</a:t>
            </a:r>
          </a:p>
          <a:p>
            <a:pPr marL="971550" lvl="1" indent="-514350" algn="just">
              <a:buAutoNum type="arabicPeriod"/>
            </a:pPr>
            <a:r>
              <a:rPr lang="en-US" sz="3600" dirty="0">
                <a:solidFill>
                  <a:srgbClr val="000000"/>
                </a:solidFill>
                <a:latin typeface="Gill Sans MT"/>
                <a:ea typeface="+mn-lt"/>
                <a:cs typeface="+mn-lt"/>
              </a:rPr>
              <a:t>Structure</a:t>
            </a:r>
            <a:r>
              <a:rPr lang="en-US" sz="3600" dirty="0">
                <a:latin typeface="Gill Sans MT"/>
              </a:rPr>
              <a:t> </a:t>
            </a:r>
          </a:p>
          <a:p>
            <a:pPr marL="971550" lvl="1" indent="-514350" algn="just">
              <a:buAutoNum type="arabicPeriod"/>
            </a:pPr>
            <a:r>
              <a:rPr lang="en-US" sz="3600" dirty="0">
                <a:latin typeface="Gill Sans MT"/>
              </a:rPr>
              <a:t>Text</a:t>
            </a:r>
          </a:p>
          <a:p>
            <a:pPr marL="971550" lvl="1" indent="-514350" algn="just">
              <a:buAutoNum type="arabicPeriod"/>
            </a:pPr>
            <a:r>
              <a:rPr lang="en-US" sz="3600" dirty="0">
                <a:solidFill>
                  <a:srgbClr val="000000"/>
                </a:solidFill>
                <a:latin typeface="Gill Sans MT"/>
                <a:ea typeface="+mn-lt"/>
                <a:cs typeface="+mn-lt"/>
              </a:rPr>
              <a:t>Technical</a:t>
            </a:r>
            <a:r>
              <a:rPr lang="en-US" sz="3600" dirty="0">
                <a:latin typeface="Gill Sans MT"/>
              </a:rPr>
              <a:t> design </a:t>
            </a:r>
          </a:p>
          <a:p>
            <a:pPr marL="971550" lvl="1" indent="-514350" algn="just">
              <a:buAutoNum type="arabicPeriod"/>
            </a:pPr>
            <a:r>
              <a:rPr lang="en-US" sz="3600" dirty="0">
                <a:latin typeface="Gill Sans MT"/>
              </a:rPr>
              <a:t>Data validation</a:t>
            </a:r>
            <a:endParaRPr lang="en-US" sz="3600" dirty="0"/>
          </a:p>
          <a:p>
            <a:pPr algn="just"/>
            <a:endParaRPr lang="en-US" sz="3600" dirty="0">
              <a:latin typeface="Gill Sans MT"/>
            </a:endParaRPr>
          </a:p>
          <a:p>
            <a:endParaRPr lang="en-US" dirty="0"/>
          </a:p>
        </p:txBody>
      </p:sp>
    </p:spTree>
    <p:extLst>
      <p:ext uri="{BB962C8B-B14F-4D97-AF65-F5344CB8AC3E}">
        <p14:creationId xmlns:p14="http://schemas.microsoft.com/office/powerpoint/2010/main" val="16283912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D052C-3E98-36DC-71D1-0122A20EE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E5C68-EFE7-2255-2C0F-3EDB0D2B7B33}"/>
              </a:ext>
            </a:extLst>
          </p:cNvPr>
          <p:cNvSpPr>
            <a:spLocks noGrp="1"/>
          </p:cNvSpPr>
          <p:nvPr>
            <p:ph type="title"/>
          </p:nvPr>
        </p:nvSpPr>
        <p:spPr/>
        <p:txBody>
          <a:bodyPr/>
          <a:lstStyle/>
          <a:p>
            <a:r>
              <a:rPr lang="en-US" dirty="0">
                <a:latin typeface="Gill Sans MT"/>
              </a:rPr>
              <a:t>STRUCTURE</a:t>
            </a:r>
          </a:p>
        </p:txBody>
      </p:sp>
      <p:sp>
        <p:nvSpPr>
          <p:cNvPr id="3" name="Content Placeholder 2">
            <a:extLst>
              <a:ext uri="{FF2B5EF4-FFF2-40B4-BE49-F238E27FC236}">
                <a16:creationId xmlns:a16="http://schemas.microsoft.com/office/drawing/2014/main" id="{2D7B028F-FECD-7BE4-4D37-064885D96A23}"/>
              </a:ext>
            </a:extLst>
          </p:cNvPr>
          <p:cNvSpPr>
            <a:spLocks noGrp="1"/>
          </p:cNvSpPr>
          <p:nvPr>
            <p:ph idx="1"/>
          </p:nvPr>
        </p:nvSpPr>
        <p:spPr>
          <a:xfrm>
            <a:off x="410618" y="1839984"/>
            <a:ext cx="16021450" cy="5147508"/>
          </a:xfrm>
        </p:spPr>
        <p:txBody>
          <a:bodyPr vert="horz" lIns="91440" tIns="45720" rIns="91440" bIns="45720" rtlCol="0" anchor="t">
            <a:noAutofit/>
          </a:bodyPr>
          <a:lstStyle/>
          <a:p>
            <a:pPr algn="just"/>
            <a:r>
              <a:rPr lang="en-US" sz="3600" dirty="0">
                <a:latin typeface="Gill Sans MT"/>
              </a:rPr>
              <a:t>Consider the following when designing the overall structure of a form:</a:t>
            </a:r>
          </a:p>
          <a:p>
            <a:pPr marL="971550" lvl="1" indent="-514350" algn="just">
              <a:buAutoNum type="arabicPeriod"/>
            </a:pPr>
            <a:r>
              <a:rPr lang="en-US" sz="3600" dirty="0">
                <a:solidFill>
                  <a:srgbClr val="000000"/>
                </a:solidFill>
                <a:latin typeface="Gill Sans MT"/>
                <a:ea typeface="+mn-lt"/>
                <a:cs typeface="+mn-lt"/>
              </a:rPr>
              <a:t>Structure</a:t>
            </a:r>
            <a:r>
              <a:rPr lang="en-US" sz="3600" dirty="0">
                <a:latin typeface="Gill Sans MT"/>
              </a:rPr>
              <a:t> everything vertically </a:t>
            </a:r>
          </a:p>
          <a:p>
            <a:pPr marL="971550" lvl="1" indent="-514350" algn="just">
              <a:buAutoNum type="arabicPeriod"/>
            </a:pPr>
            <a:r>
              <a:rPr lang="en-US" sz="3600" dirty="0">
                <a:solidFill>
                  <a:srgbClr val="000000"/>
                </a:solidFill>
                <a:latin typeface="Gill Sans MT"/>
                <a:ea typeface="+mn-lt"/>
                <a:cs typeface="+mn-lt"/>
              </a:rPr>
              <a:t>Rely</a:t>
            </a:r>
            <a:r>
              <a:rPr lang="en-US" sz="3600" dirty="0">
                <a:latin typeface="Gill Sans MT"/>
              </a:rPr>
              <a:t> on one column </a:t>
            </a:r>
          </a:p>
          <a:p>
            <a:pPr marL="971550" lvl="1" indent="-514350" algn="just">
              <a:buAutoNum type="arabicPeriod"/>
            </a:pPr>
            <a:r>
              <a:rPr lang="en-US" sz="3600" dirty="0">
                <a:latin typeface="Gill Sans MT"/>
              </a:rPr>
              <a:t>Don’t </a:t>
            </a:r>
            <a:r>
              <a:rPr lang="en-US" sz="3600" dirty="0">
                <a:solidFill>
                  <a:srgbClr val="000000"/>
                </a:solidFill>
                <a:latin typeface="Gill Sans MT"/>
                <a:ea typeface="+mn-lt"/>
                <a:cs typeface="+mn-lt"/>
              </a:rPr>
              <a:t>split </a:t>
            </a:r>
            <a:r>
              <a:rPr lang="en-US" sz="3600" dirty="0">
                <a:latin typeface="Gill Sans MT"/>
              </a:rPr>
              <a:t>numbers</a:t>
            </a:r>
          </a:p>
          <a:p>
            <a:pPr marL="971550" lvl="1" indent="-514350" algn="just">
              <a:buAutoNum type="arabicPeriod"/>
            </a:pPr>
            <a:r>
              <a:rPr lang="en-US" sz="3600" dirty="0">
                <a:latin typeface="Gill Sans MT"/>
              </a:rPr>
              <a:t>Break up long forms</a:t>
            </a:r>
            <a:endParaRPr lang="en-US" sz="3600"/>
          </a:p>
          <a:p>
            <a:pPr algn="just"/>
            <a:endParaRPr lang="en-US" sz="3600" dirty="0">
              <a:latin typeface="Gill Sans MT"/>
            </a:endParaRPr>
          </a:p>
          <a:p>
            <a:pPr algn="just"/>
            <a:endParaRPr lang="en-US" sz="3600" dirty="0">
              <a:latin typeface="Gill Sans MT"/>
            </a:endParaRPr>
          </a:p>
          <a:p>
            <a:endParaRPr lang="en-US" dirty="0"/>
          </a:p>
        </p:txBody>
      </p:sp>
    </p:spTree>
    <p:extLst>
      <p:ext uri="{BB962C8B-B14F-4D97-AF65-F5344CB8AC3E}">
        <p14:creationId xmlns:p14="http://schemas.microsoft.com/office/powerpoint/2010/main" val="8523315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DB72-26BD-4D2D-5A79-440A22711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594BA-9709-44C6-FCF2-C6523769AB1A}"/>
              </a:ext>
            </a:extLst>
          </p:cNvPr>
          <p:cNvSpPr>
            <a:spLocks noGrp="1"/>
          </p:cNvSpPr>
          <p:nvPr>
            <p:ph type="title"/>
          </p:nvPr>
        </p:nvSpPr>
        <p:spPr/>
        <p:txBody>
          <a:bodyPr/>
          <a:lstStyle/>
          <a:p>
            <a:r>
              <a:rPr lang="en-US" dirty="0">
                <a:latin typeface="Gill Sans MT"/>
              </a:rPr>
              <a:t>TEXT</a:t>
            </a:r>
          </a:p>
        </p:txBody>
      </p:sp>
      <p:sp>
        <p:nvSpPr>
          <p:cNvPr id="3" name="Content Placeholder 2">
            <a:extLst>
              <a:ext uri="{FF2B5EF4-FFF2-40B4-BE49-F238E27FC236}">
                <a16:creationId xmlns:a16="http://schemas.microsoft.com/office/drawing/2014/main" id="{4C5EFBCE-AD8F-588D-43F6-29E587940912}"/>
              </a:ext>
            </a:extLst>
          </p:cNvPr>
          <p:cNvSpPr>
            <a:spLocks noGrp="1"/>
          </p:cNvSpPr>
          <p:nvPr>
            <p:ph idx="1"/>
          </p:nvPr>
        </p:nvSpPr>
        <p:spPr>
          <a:xfrm>
            <a:off x="410618" y="1839984"/>
            <a:ext cx="16021450" cy="5147508"/>
          </a:xfrm>
        </p:spPr>
        <p:txBody>
          <a:bodyPr vert="horz" lIns="91440" tIns="45720" rIns="91440" bIns="45720" rtlCol="0" anchor="t">
            <a:noAutofit/>
          </a:bodyPr>
          <a:lstStyle/>
          <a:p>
            <a:pPr algn="just"/>
            <a:r>
              <a:rPr lang="en-US" sz="3600" dirty="0">
                <a:latin typeface="Gill Sans MT"/>
              </a:rPr>
              <a:t>The way you present text and write copy on your forms can have a big impact on overall conversion rates. Here are some tips to follow:</a:t>
            </a:r>
          </a:p>
          <a:p>
            <a:pPr marL="971550" lvl="1" indent="-514350" algn="just">
              <a:buAutoNum type="arabicPeriod"/>
            </a:pPr>
            <a:r>
              <a:rPr lang="en-US" sz="3600" dirty="0">
                <a:solidFill>
                  <a:srgbClr val="000000"/>
                </a:solidFill>
                <a:latin typeface="Gill Sans MT"/>
                <a:ea typeface="+mn-lt"/>
                <a:cs typeface="+mn-lt"/>
              </a:rPr>
              <a:t>Clear and concise labels</a:t>
            </a:r>
            <a:endParaRPr lang="en-US" sz="3600" dirty="0">
              <a:latin typeface="Gill Sans MT"/>
            </a:endParaRPr>
          </a:p>
          <a:p>
            <a:pPr marL="971550" lvl="1" indent="-514350" algn="just">
              <a:buAutoNum type="arabicPeriod"/>
            </a:pPr>
            <a:r>
              <a:rPr lang="en-US" sz="3600" dirty="0">
                <a:solidFill>
                  <a:srgbClr val="000000"/>
                </a:solidFill>
                <a:latin typeface="Gill Sans MT"/>
                <a:ea typeface="+mn-lt"/>
                <a:cs typeface="+mn-lt"/>
              </a:rPr>
              <a:t>Use </a:t>
            </a:r>
            <a:r>
              <a:rPr lang="en-US" sz="3600" dirty="0">
                <a:latin typeface="Gill Sans MT"/>
              </a:rPr>
              <a:t>action words for buttons</a:t>
            </a:r>
          </a:p>
          <a:p>
            <a:pPr marL="971550" lvl="1" indent="-514350" algn="just">
              <a:buAutoNum type="arabicPeriod"/>
            </a:pPr>
            <a:r>
              <a:rPr lang="en-US" sz="3600" dirty="0">
                <a:solidFill>
                  <a:srgbClr val="000000"/>
                </a:solidFill>
                <a:latin typeface="Gill Sans MT"/>
                <a:ea typeface="+mn-lt"/>
                <a:cs typeface="+mn-lt"/>
              </a:rPr>
              <a:t>Use </a:t>
            </a:r>
            <a:r>
              <a:rPr lang="en-US" sz="3600" dirty="0">
                <a:latin typeface="Gill Sans MT"/>
              </a:rPr>
              <a:t>first-person</a:t>
            </a:r>
          </a:p>
          <a:p>
            <a:pPr marL="971550" lvl="1" indent="-514350" algn="just">
              <a:buAutoNum type="arabicPeriod"/>
            </a:pPr>
            <a:r>
              <a:rPr lang="en-US" sz="3600" dirty="0">
                <a:solidFill>
                  <a:srgbClr val="000000"/>
                </a:solidFill>
                <a:latin typeface="Gill Sans MT"/>
                <a:ea typeface="+mn-lt"/>
                <a:cs typeface="+mn-lt"/>
              </a:rPr>
              <a:t>Separate </a:t>
            </a:r>
            <a:r>
              <a:rPr lang="en-US" sz="3600" dirty="0">
                <a:latin typeface="Gill Sans MT"/>
              </a:rPr>
              <a:t>placeholder text and label text</a:t>
            </a:r>
            <a:endParaRPr lang="en-US" sz="3600"/>
          </a:p>
          <a:p>
            <a:pPr algn="just"/>
            <a:endParaRPr lang="en-US" sz="3600" dirty="0">
              <a:latin typeface="Gill Sans MT"/>
            </a:endParaRPr>
          </a:p>
          <a:p>
            <a:pPr algn="just"/>
            <a:endParaRPr lang="en-US" sz="3600" dirty="0">
              <a:latin typeface="Gill Sans MT"/>
            </a:endParaRPr>
          </a:p>
          <a:p>
            <a:pPr algn="just"/>
            <a:endParaRPr lang="en-US" sz="3600" dirty="0">
              <a:latin typeface="Gill Sans MT"/>
            </a:endParaRPr>
          </a:p>
          <a:p>
            <a:endParaRPr lang="en-US" dirty="0"/>
          </a:p>
        </p:txBody>
      </p:sp>
    </p:spTree>
    <p:extLst>
      <p:ext uri="{BB962C8B-B14F-4D97-AF65-F5344CB8AC3E}">
        <p14:creationId xmlns:p14="http://schemas.microsoft.com/office/powerpoint/2010/main" val="32396213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9AD86-8CBD-7391-9054-A7B8B07E9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E2FC2-2A0F-5A31-82C2-C7331747D27C}"/>
              </a:ext>
            </a:extLst>
          </p:cNvPr>
          <p:cNvSpPr>
            <a:spLocks noGrp="1"/>
          </p:cNvSpPr>
          <p:nvPr>
            <p:ph type="title"/>
          </p:nvPr>
        </p:nvSpPr>
        <p:spPr/>
        <p:txBody>
          <a:bodyPr/>
          <a:lstStyle/>
          <a:p>
            <a:r>
              <a:rPr lang="en-US" dirty="0">
                <a:latin typeface="Gill Sans MT"/>
              </a:rPr>
              <a:t>TECHNICAL DESIGN</a:t>
            </a:r>
          </a:p>
        </p:txBody>
      </p:sp>
      <p:sp>
        <p:nvSpPr>
          <p:cNvPr id="3" name="Content Placeholder 2">
            <a:extLst>
              <a:ext uri="{FF2B5EF4-FFF2-40B4-BE49-F238E27FC236}">
                <a16:creationId xmlns:a16="http://schemas.microsoft.com/office/drawing/2014/main" id="{4CD3D7BC-FFC8-1FFE-183F-FDD8DDED25D5}"/>
              </a:ext>
            </a:extLst>
          </p:cNvPr>
          <p:cNvSpPr>
            <a:spLocks noGrp="1"/>
          </p:cNvSpPr>
          <p:nvPr>
            <p:ph idx="1"/>
          </p:nvPr>
        </p:nvSpPr>
        <p:spPr>
          <a:xfrm>
            <a:off x="410618" y="1839984"/>
            <a:ext cx="16021450" cy="5147508"/>
          </a:xfrm>
        </p:spPr>
        <p:txBody>
          <a:bodyPr vert="horz" lIns="91440" tIns="45720" rIns="91440" bIns="45720" rtlCol="0" anchor="t">
            <a:noAutofit/>
          </a:bodyPr>
          <a:lstStyle/>
          <a:p>
            <a:pPr algn="just"/>
            <a:r>
              <a:rPr lang="en-US" sz="3600" dirty="0">
                <a:solidFill>
                  <a:srgbClr val="000000"/>
                </a:solidFill>
                <a:latin typeface="Gill Sans MT"/>
                <a:ea typeface="+mn-lt"/>
                <a:cs typeface="+mn-lt"/>
              </a:rPr>
              <a:t>Some of the most important</a:t>
            </a:r>
            <a:r>
              <a:rPr lang="en-US" sz="3600" dirty="0">
                <a:latin typeface="Gill Sans MT"/>
              </a:rPr>
              <a:t> technical aspects of </a:t>
            </a:r>
            <a:r>
              <a:rPr lang="en-US" sz="3600" dirty="0">
                <a:solidFill>
                  <a:srgbClr val="000000"/>
                </a:solidFill>
                <a:latin typeface="Gill Sans MT"/>
                <a:ea typeface="+mn-lt"/>
                <a:cs typeface="+mn-lt"/>
              </a:rPr>
              <a:t>form </a:t>
            </a:r>
            <a:r>
              <a:rPr lang="en-US" sz="3600" dirty="0">
                <a:latin typeface="Gill Sans MT"/>
              </a:rPr>
              <a:t>design are:</a:t>
            </a:r>
          </a:p>
          <a:p>
            <a:pPr lvl="1" algn="just">
              <a:buAutoNum type="arabicPeriod"/>
            </a:pPr>
            <a:r>
              <a:rPr lang="en-US" sz="3600" dirty="0">
                <a:solidFill>
                  <a:srgbClr val="000000"/>
                </a:solidFill>
                <a:latin typeface="Gill Sans MT"/>
                <a:ea typeface="+mn-lt"/>
                <a:cs typeface="+mn-lt"/>
              </a:rPr>
              <a:t>Autofill</a:t>
            </a:r>
            <a:endParaRPr lang="en-US" sz="3600" dirty="0">
              <a:latin typeface="Gill Sans MT"/>
            </a:endParaRPr>
          </a:p>
          <a:p>
            <a:pPr lvl="1" algn="just">
              <a:buAutoNum type="arabicPeriod"/>
            </a:pPr>
            <a:r>
              <a:rPr lang="en-US" sz="3600" dirty="0">
                <a:solidFill>
                  <a:srgbClr val="000000"/>
                </a:solidFill>
                <a:latin typeface="Gill Sans MT"/>
                <a:ea typeface="+mn-lt"/>
                <a:cs typeface="+mn-lt"/>
              </a:rPr>
              <a:t>Keyboards</a:t>
            </a:r>
            <a:endParaRPr lang="en-US" sz="3600" dirty="0">
              <a:latin typeface="Gill Sans MT"/>
            </a:endParaRPr>
          </a:p>
          <a:p>
            <a:pPr lvl="1" algn="just">
              <a:buAutoNum type="arabicPeriod"/>
            </a:pPr>
            <a:r>
              <a:rPr lang="en-US" sz="3600" dirty="0">
                <a:solidFill>
                  <a:srgbClr val="000000"/>
                </a:solidFill>
                <a:latin typeface="Gill Sans MT"/>
                <a:ea typeface="+mn-lt"/>
                <a:cs typeface="+mn-lt"/>
              </a:rPr>
              <a:t>Predictive search</a:t>
            </a:r>
            <a:endParaRPr lang="en-US" sz="3600" dirty="0">
              <a:latin typeface="Gill Sans MT"/>
            </a:endParaRPr>
          </a:p>
          <a:p>
            <a:pPr algn="just"/>
            <a:endParaRPr lang="en-US" sz="3600" dirty="0">
              <a:latin typeface="Gill Sans MT"/>
            </a:endParaRPr>
          </a:p>
          <a:p>
            <a:pPr algn="just"/>
            <a:endParaRPr lang="en-US" sz="3600" dirty="0">
              <a:latin typeface="Gill Sans MT"/>
            </a:endParaRPr>
          </a:p>
          <a:p>
            <a:pPr algn="just"/>
            <a:endParaRPr lang="en-US" sz="3600" dirty="0">
              <a:latin typeface="Gill Sans MT"/>
            </a:endParaRPr>
          </a:p>
          <a:p>
            <a:pPr algn="just"/>
            <a:endParaRPr lang="en-US" sz="3600" dirty="0">
              <a:latin typeface="Gill Sans MT"/>
            </a:endParaRPr>
          </a:p>
          <a:p>
            <a:endParaRPr lang="en-US" dirty="0"/>
          </a:p>
        </p:txBody>
      </p:sp>
    </p:spTree>
    <p:extLst>
      <p:ext uri="{BB962C8B-B14F-4D97-AF65-F5344CB8AC3E}">
        <p14:creationId xmlns:p14="http://schemas.microsoft.com/office/powerpoint/2010/main" val="6020430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4BEC0-9B9C-73CC-AEC1-BA33AAB42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E89BE-4507-95FE-B652-93D53A2859AF}"/>
              </a:ext>
            </a:extLst>
          </p:cNvPr>
          <p:cNvSpPr>
            <a:spLocks noGrp="1"/>
          </p:cNvSpPr>
          <p:nvPr>
            <p:ph type="title"/>
          </p:nvPr>
        </p:nvSpPr>
        <p:spPr/>
        <p:txBody>
          <a:bodyPr/>
          <a:lstStyle/>
          <a:p>
            <a:r>
              <a:rPr lang="en-US" dirty="0">
                <a:latin typeface="Gill Sans MT"/>
              </a:rPr>
              <a:t>TECHNICAL DESIGN</a:t>
            </a:r>
          </a:p>
        </p:txBody>
      </p:sp>
      <p:sp>
        <p:nvSpPr>
          <p:cNvPr id="3" name="Content Placeholder 2">
            <a:extLst>
              <a:ext uri="{FF2B5EF4-FFF2-40B4-BE49-F238E27FC236}">
                <a16:creationId xmlns:a16="http://schemas.microsoft.com/office/drawing/2014/main" id="{C6D9ACC9-214D-8C6C-960C-2787B7893D02}"/>
              </a:ext>
            </a:extLst>
          </p:cNvPr>
          <p:cNvSpPr>
            <a:spLocks noGrp="1"/>
          </p:cNvSpPr>
          <p:nvPr>
            <p:ph idx="1"/>
          </p:nvPr>
        </p:nvSpPr>
        <p:spPr>
          <a:xfrm>
            <a:off x="410618" y="1839984"/>
            <a:ext cx="16021450" cy="5147508"/>
          </a:xfrm>
        </p:spPr>
        <p:txBody>
          <a:bodyPr vert="horz" lIns="91440" tIns="45720" rIns="91440" bIns="45720" rtlCol="0" anchor="t">
            <a:noAutofit/>
          </a:bodyPr>
          <a:lstStyle/>
          <a:p>
            <a:pPr algn="just"/>
            <a:r>
              <a:rPr lang="en-US" sz="3600" dirty="0">
                <a:latin typeface="Gill Sans MT"/>
                <a:ea typeface="+mn-lt"/>
                <a:cs typeface="+mn-lt"/>
              </a:rPr>
              <a:t>There are two important concepts to cover with data validation. </a:t>
            </a:r>
            <a:endParaRPr lang="en-US" sz="3600" dirty="0">
              <a:latin typeface="Gill Sans MT"/>
            </a:endParaRPr>
          </a:p>
          <a:p>
            <a:pPr marL="971550" lvl="1" indent="-514350" algn="just">
              <a:buAutoNum type="arabicPeriod"/>
            </a:pPr>
            <a:r>
              <a:rPr lang="en-US" sz="3600" dirty="0">
                <a:latin typeface="Gill Sans MT"/>
                <a:ea typeface="+mn-lt"/>
                <a:cs typeface="+mn-lt"/>
              </a:rPr>
              <a:t>Validate data inline </a:t>
            </a:r>
            <a:endParaRPr lang="en-US" sz="3600" dirty="0">
              <a:latin typeface="Gill Sans MT"/>
            </a:endParaRPr>
          </a:p>
          <a:p>
            <a:pPr marL="971550" lvl="1" indent="-514350" algn="just">
              <a:buAutoNum type="arabicPeriod"/>
            </a:pPr>
            <a:r>
              <a:rPr lang="en-US" sz="3600" dirty="0">
                <a:latin typeface="Gill Sans MT"/>
                <a:ea typeface="+mn-lt"/>
                <a:cs typeface="+mn-lt"/>
              </a:rPr>
              <a:t>Autocorrect format errors</a:t>
            </a:r>
          </a:p>
          <a:p>
            <a:pPr marL="457200" lvl="1" indent="0" algn="just">
              <a:buNone/>
            </a:pPr>
            <a:endParaRPr lang="en-US" sz="3600" dirty="0">
              <a:latin typeface="Gill Sans MT"/>
            </a:endParaRPr>
          </a:p>
          <a:p>
            <a:pPr algn="just"/>
            <a:r>
              <a:rPr lang="en-US" sz="3600" dirty="0"/>
              <a:t>For more tutorial about data entry form design visit: </a:t>
            </a:r>
            <a:r>
              <a:rPr lang="en-US" sz="3600" dirty="0">
                <a:hlinkClick r:id="rId2"/>
              </a:rPr>
              <a:t>GUIDELINES FOR DESIGNING USER INTERFACE SOFTWARE : 1. Data Entry (hcibib.org)</a:t>
            </a:r>
            <a:endParaRPr lang="en-US" sz="3600" dirty="0">
              <a:latin typeface="Gill Sans MT"/>
            </a:endParaRPr>
          </a:p>
          <a:p>
            <a:pPr algn="just"/>
            <a:endParaRPr lang="en-US" sz="3600" dirty="0">
              <a:latin typeface="Gill Sans MT"/>
            </a:endParaRPr>
          </a:p>
          <a:p>
            <a:pPr algn="just"/>
            <a:endParaRPr lang="en-US" sz="3600" dirty="0">
              <a:latin typeface="Gill Sans MT"/>
            </a:endParaRPr>
          </a:p>
          <a:p>
            <a:pPr algn="just"/>
            <a:endParaRPr lang="en-US" sz="3600" dirty="0">
              <a:latin typeface="Gill Sans MT"/>
            </a:endParaRPr>
          </a:p>
          <a:p>
            <a:endParaRPr lang="en-US" dirty="0">
              <a:latin typeface="Aptos" panose="020B0004020202020204"/>
            </a:endParaRPr>
          </a:p>
        </p:txBody>
      </p:sp>
    </p:spTree>
    <p:extLst>
      <p:ext uri="{BB962C8B-B14F-4D97-AF65-F5344CB8AC3E}">
        <p14:creationId xmlns:p14="http://schemas.microsoft.com/office/powerpoint/2010/main" val="22126706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4BEC0-9B9C-73CC-AEC1-BA33AAB42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E89BE-4507-95FE-B652-93D53A2859AF}"/>
              </a:ext>
            </a:extLst>
          </p:cNvPr>
          <p:cNvSpPr>
            <a:spLocks noGrp="1"/>
          </p:cNvSpPr>
          <p:nvPr>
            <p:ph type="title"/>
          </p:nvPr>
        </p:nvSpPr>
        <p:spPr/>
        <p:txBody>
          <a:bodyPr/>
          <a:lstStyle/>
          <a:p>
            <a:r>
              <a:rPr lang="en-US" dirty="0">
                <a:latin typeface="Gill Sans MT"/>
              </a:rPr>
              <a:t>WIRELESS APPLICATION PROTOCOL</a:t>
            </a:r>
          </a:p>
        </p:txBody>
      </p:sp>
      <p:sp>
        <p:nvSpPr>
          <p:cNvPr id="3" name="Content Placeholder 2">
            <a:extLst>
              <a:ext uri="{FF2B5EF4-FFF2-40B4-BE49-F238E27FC236}">
                <a16:creationId xmlns:a16="http://schemas.microsoft.com/office/drawing/2014/main" id="{C6D9ACC9-214D-8C6C-960C-2787B7893D02}"/>
              </a:ext>
            </a:extLst>
          </p:cNvPr>
          <p:cNvSpPr>
            <a:spLocks noGrp="1"/>
          </p:cNvSpPr>
          <p:nvPr>
            <p:ph idx="1"/>
          </p:nvPr>
        </p:nvSpPr>
        <p:spPr>
          <a:xfrm>
            <a:off x="410618" y="1839984"/>
            <a:ext cx="16021450" cy="5147508"/>
          </a:xfrm>
        </p:spPr>
        <p:txBody>
          <a:bodyPr vert="horz" lIns="91440" tIns="45720" rIns="91440" bIns="45720" rtlCol="0" anchor="t">
            <a:noAutofit/>
          </a:bodyPr>
          <a:lstStyle/>
          <a:p>
            <a:pPr algn="just"/>
            <a:r>
              <a:rPr lang="en-US" sz="3600" dirty="0"/>
              <a:t>The Wireless Application Protocol (WAP) is an industry-wide specification designed for applications that operate over wireless networks, primarily targeting mobile devices.</a:t>
            </a:r>
          </a:p>
          <a:p>
            <a:pPr algn="just"/>
            <a:r>
              <a:rPr lang="en-US" sz="3600" dirty="0"/>
              <a:t>WAP plays a crucial role in enabling mobile users to access internet-based services and applications, optimizing content delivery for devices with limited bandwidth and screen size.</a:t>
            </a:r>
          </a:p>
          <a:p>
            <a:pPr algn="just"/>
            <a:endParaRPr lang="en-US" sz="3600" dirty="0">
              <a:latin typeface="Gill Sans MT"/>
            </a:endParaRPr>
          </a:p>
          <a:p>
            <a:pPr algn="just"/>
            <a:r>
              <a:rPr lang="en-US" sz="3600" dirty="0">
                <a:latin typeface="Gill Sans MT"/>
              </a:rPr>
              <a:t>For more information about WAP: </a:t>
            </a:r>
            <a:r>
              <a:rPr lang="en-US" sz="3600" dirty="0">
                <a:latin typeface="Gill Sans MT"/>
                <a:hlinkClick r:id="rId2"/>
              </a:rPr>
              <a:t>https://ebooks.inflibnet.ac.in/itp12/chapter/wap-wireless-application-protocol/</a:t>
            </a:r>
            <a:endParaRPr lang="en-US" sz="3600" dirty="0">
              <a:latin typeface="Gill Sans MT"/>
            </a:endParaRPr>
          </a:p>
          <a:p>
            <a:pPr algn="just"/>
            <a:endParaRPr lang="en-US" sz="3600" dirty="0">
              <a:latin typeface="Gill Sans MT"/>
            </a:endParaRPr>
          </a:p>
          <a:p>
            <a:pPr algn="just"/>
            <a:endParaRPr lang="en-US" sz="3600" dirty="0">
              <a:latin typeface="Gill Sans MT"/>
            </a:endParaRPr>
          </a:p>
          <a:p>
            <a:endParaRPr lang="en-US" dirty="0">
              <a:latin typeface="Aptos" panose="020B0004020202020204"/>
            </a:endParaRPr>
          </a:p>
        </p:txBody>
      </p:sp>
    </p:spTree>
    <p:extLst>
      <p:ext uri="{BB962C8B-B14F-4D97-AF65-F5344CB8AC3E}">
        <p14:creationId xmlns:p14="http://schemas.microsoft.com/office/powerpoint/2010/main" val="24217792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4BEC0-9B9C-73CC-AEC1-BA33AAB42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E89BE-4507-95FE-B652-93D53A2859AF}"/>
              </a:ext>
            </a:extLst>
          </p:cNvPr>
          <p:cNvSpPr>
            <a:spLocks noGrp="1"/>
          </p:cNvSpPr>
          <p:nvPr>
            <p:ph type="title"/>
          </p:nvPr>
        </p:nvSpPr>
        <p:spPr/>
        <p:txBody>
          <a:bodyPr/>
          <a:lstStyle/>
          <a:p>
            <a:r>
              <a:rPr lang="en-US" dirty="0">
                <a:latin typeface="Gill Sans MT"/>
              </a:rPr>
              <a:t>WAP STACK</a:t>
            </a:r>
          </a:p>
        </p:txBody>
      </p:sp>
      <p:pic>
        <p:nvPicPr>
          <p:cNvPr id="4" name="Picture 3">
            <a:extLst>
              <a:ext uri="{FF2B5EF4-FFF2-40B4-BE49-F238E27FC236}">
                <a16:creationId xmlns:a16="http://schemas.microsoft.com/office/drawing/2014/main" id="{13ADA4AA-6DE3-4021-844A-84166EA9C6F9}"/>
              </a:ext>
            </a:extLst>
          </p:cNvPr>
          <p:cNvPicPr>
            <a:picLocks noChangeAspect="1"/>
          </p:cNvPicPr>
          <p:nvPr/>
        </p:nvPicPr>
        <p:blipFill>
          <a:blip r:embed="rId2"/>
          <a:stretch>
            <a:fillRect/>
          </a:stretch>
        </p:blipFill>
        <p:spPr>
          <a:xfrm>
            <a:off x="5832088" y="713678"/>
            <a:ext cx="9495542" cy="6601522"/>
          </a:xfrm>
          <a:prstGeom prst="rect">
            <a:avLst/>
          </a:prstGeom>
        </p:spPr>
      </p:pic>
    </p:spTree>
    <p:extLst>
      <p:ext uri="{BB962C8B-B14F-4D97-AF65-F5344CB8AC3E}">
        <p14:creationId xmlns:p14="http://schemas.microsoft.com/office/powerpoint/2010/main" val="34830000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WWW LOGICAL MODEL</a:t>
            </a:r>
          </a:p>
        </p:txBody>
      </p:sp>
      <p:pic>
        <p:nvPicPr>
          <p:cNvPr id="4" name="Content Placeholder 3">
            <a:extLst>
              <a:ext uri="{FF2B5EF4-FFF2-40B4-BE49-F238E27FC236}">
                <a16:creationId xmlns:a16="http://schemas.microsoft.com/office/drawing/2014/main" id="{D7CCC189-1FB8-43E6-815E-427DAAB1C181}"/>
              </a:ext>
            </a:extLst>
          </p:cNvPr>
          <p:cNvPicPr>
            <a:picLocks noGrp="1" noChangeAspect="1"/>
          </p:cNvPicPr>
          <p:nvPr>
            <p:ph idx="1"/>
          </p:nvPr>
        </p:nvPicPr>
        <p:blipFill>
          <a:blip r:embed="rId2"/>
          <a:stretch>
            <a:fillRect/>
          </a:stretch>
        </p:blipFill>
        <p:spPr>
          <a:xfrm>
            <a:off x="4454816" y="1947863"/>
            <a:ext cx="7549568" cy="4640262"/>
          </a:xfrm>
          <a:prstGeom prst="rect">
            <a:avLst/>
          </a:prstGeom>
        </p:spPr>
      </p:pic>
    </p:spTree>
    <p:extLst>
      <p:ext uri="{BB962C8B-B14F-4D97-AF65-F5344CB8AC3E}">
        <p14:creationId xmlns:p14="http://schemas.microsoft.com/office/powerpoint/2010/main" val="34085049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WIRELESS APPLICATION ENVIRONMENT</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412595" y="1947333"/>
            <a:ext cx="15700917" cy="5178296"/>
          </a:xfrm>
        </p:spPr>
        <p:txBody>
          <a:bodyPr>
            <a:noAutofit/>
          </a:bodyPr>
          <a:lstStyle/>
          <a:p>
            <a:r>
              <a:rPr lang="en-US" sz="3600" dirty="0">
                <a:latin typeface="Gill Sans MT" panose="020B0502020104020203" pitchFamily="34" charset="0"/>
              </a:rPr>
              <a:t>Wireless Application Environment (WAE), the uppermost layer in the WAP stack, provides an environment that enables a wide range of applications to be used on the wireless devices.</a:t>
            </a:r>
          </a:p>
          <a:p>
            <a:r>
              <a:rPr lang="en-US" sz="3600" dirty="0">
                <a:latin typeface="Gill Sans MT" panose="020B0502020104020203" pitchFamily="34" charset="0"/>
              </a:rPr>
              <a:t>It contains WML and WTA (Wireless Telephony Application). WAE includes a micro-browser server environment which provides:</a:t>
            </a:r>
          </a:p>
          <a:p>
            <a:pPr marL="914400" lvl="1" indent="-457200">
              <a:buFont typeface="+mj-lt"/>
              <a:buAutoNum type="arabicPeriod"/>
            </a:pPr>
            <a:r>
              <a:rPr lang="en-US" sz="3600" dirty="0">
                <a:latin typeface="Gill Sans MT" panose="020B0502020104020203" pitchFamily="34" charset="0"/>
              </a:rPr>
              <a:t>WML</a:t>
            </a:r>
          </a:p>
          <a:p>
            <a:pPr marL="914400" lvl="1" indent="-457200">
              <a:buFont typeface="+mj-lt"/>
              <a:buAutoNum type="arabicPeriod"/>
            </a:pPr>
            <a:r>
              <a:rPr lang="en-US" sz="3600" dirty="0">
                <a:latin typeface="Gill Sans MT" panose="020B0502020104020203" pitchFamily="34" charset="0"/>
              </a:rPr>
              <a:t>WML script</a:t>
            </a:r>
          </a:p>
          <a:p>
            <a:pPr marL="914400" lvl="1" indent="-457200">
              <a:buFont typeface="+mj-lt"/>
              <a:buAutoNum type="arabicPeriod"/>
            </a:pPr>
            <a:r>
              <a:rPr lang="en-US" sz="3600" dirty="0">
                <a:latin typeface="Gill Sans MT" panose="020B0502020104020203" pitchFamily="34" charset="0"/>
              </a:rPr>
              <a:t>WTA</a:t>
            </a:r>
          </a:p>
          <a:p>
            <a:pPr marL="914400" lvl="1" indent="-457200">
              <a:buFont typeface="+mj-lt"/>
              <a:buAutoNum type="arabicPeriod"/>
            </a:pPr>
            <a:r>
              <a:rPr lang="en-US" sz="3600" dirty="0">
                <a:latin typeface="Gill Sans MT" panose="020B0502020104020203" pitchFamily="34" charset="0"/>
              </a:rPr>
              <a:t>Content formats</a:t>
            </a:r>
          </a:p>
        </p:txBody>
      </p:sp>
    </p:spTree>
    <p:extLst>
      <p:ext uri="{BB962C8B-B14F-4D97-AF65-F5344CB8AC3E}">
        <p14:creationId xmlns:p14="http://schemas.microsoft.com/office/powerpoint/2010/main" val="25196122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WAE LOGICAL MODEL</a:t>
            </a:r>
          </a:p>
        </p:txBody>
      </p:sp>
      <p:pic>
        <p:nvPicPr>
          <p:cNvPr id="4" name="Content Placeholder 3">
            <a:extLst>
              <a:ext uri="{FF2B5EF4-FFF2-40B4-BE49-F238E27FC236}">
                <a16:creationId xmlns:a16="http://schemas.microsoft.com/office/drawing/2014/main" id="{F54CA737-8A2A-43B3-A4C0-75375208CA6B}"/>
              </a:ext>
            </a:extLst>
          </p:cNvPr>
          <p:cNvPicPr>
            <a:picLocks noGrp="1" noChangeAspect="1"/>
          </p:cNvPicPr>
          <p:nvPr>
            <p:ph idx="1"/>
          </p:nvPr>
        </p:nvPicPr>
        <p:blipFill>
          <a:blip r:embed="rId2"/>
          <a:stretch>
            <a:fillRect/>
          </a:stretch>
        </p:blipFill>
        <p:spPr>
          <a:xfrm>
            <a:off x="2377188" y="1947863"/>
            <a:ext cx="11704824" cy="4640262"/>
          </a:xfrm>
          <a:prstGeom prst="rect">
            <a:avLst/>
          </a:prstGeom>
        </p:spPr>
      </p:pic>
    </p:spTree>
    <p:extLst>
      <p:ext uri="{BB962C8B-B14F-4D97-AF65-F5344CB8AC3E}">
        <p14:creationId xmlns:p14="http://schemas.microsoft.com/office/powerpoint/2010/main" val="28549229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WIRELESS MARKUP LANGUAGE</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p:txBody>
          <a:bodyPr/>
          <a:lstStyle/>
          <a:p>
            <a:r>
              <a:rPr lang="en-US" sz="3600" dirty="0">
                <a:latin typeface="Gill Sans MT" panose="020B0502020104020203" pitchFamily="34" charset="0"/>
              </a:rPr>
              <a:t>WML is a markup language based on XML (</a:t>
            </a:r>
            <a:r>
              <a:rPr lang="en-US" sz="3600" dirty="0" err="1">
                <a:latin typeface="Gill Sans MT" panose="020B0502020104020203" pitchFamily="34" charset="0"/>
              </a:rPr>
              <a:t>eXtensible</a:t>
            </a:r>
            <a:r>
              <a:rPr lang="en-US" sz="3600" dirty="0">
                <a:latin typeface="Gill Sans MT" panose="020B0502020104020203" pitchFamily="34" charset="0"/>
              </a:rPr>
              <a:t> Markup Language), specifically designed for creating content and applications for wireless devices, particularly mobile phones. </a:t>
            </a:r>
          </a:p>
          <a:p>
            <a:r>
              <a:rPr lang="en-US" sz="3600" dirty="0">
                <a:latin typeface="Gill Sans MT" panose="020B0502020104020203" pitchFamily="34" charset="0"/>
              </a:rPr>
              <a:t>Developed and maintained by the WAP Forum, WML serves as a standard for building mobile-friendly web pages and applications.</a:t>
            </a:r>
          </a:p>
        </p:txBody>
      </p:sp>
    </p:spTree>
    <p:extLst>
      <p:ext uri="{BB962C8B-B14F-4D97-AF65-F5344CB8AC3E}">
        <p14:creationId xmlns:p14="http://schemas.microsoft.com/office/powerpoint/2010/main" val="28416289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SYNTAX AND STRUCTURE OF WML DOCUMENT</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412595" y="1947333"/>
            <a:ext cx="15734371" cy="4978400"/>
          </a:xfrm>
        </p:spPr>
        <p:txBody>
          <a:bodyPr/>
          <a:lstStyle/>
          <a:p>
            <a:pPr marL="0" indent="0">
              <a:buNone/>
            </a:pPr>
            <a:r>
              <a:rPr lang="en-US" sz="3600" b="1" dirty="0">
                <a:latin typeface="Gill Sans MT" panose="020B0502020104020203" pitchFamily="34" charset="0"/>
              </a:rPr>
              <a:t>Prolog</a:t>
            </a:r>
          </a:p>
          <a:p>
            <a:pPr algn="just"/>
            <a:r>
              <a:rPr lang="en-US" sz="3600" dirty="0">
                <a:latin typeface="Gill Sans MT" panose="020B0502020104020203" pitchFamily="34" charset="0"/>
              </a:rPr>
              <a:t>The prolog is the first statement within a WML document and is optional. It includes two lines of code specifying the XML version and the document type definition (DTD) for WML, which ensures compliance with the WML specification.</a:t>
            </a:r>
          </a:p>
          <a:p>
            <a:pPr marL="0" indent="0">
              <a:buNone/>
            </a:pPr>
            <a:r>
              <a:rPr lang="en-US" sz="3600" b="1" dirty="0">
                <a:latin typeface="Gill Sans MT" panose="020B0502020104020203" pitchFamily="34" charset="0"/>
              </a:rPr>
              <a:t>Unit of Navigation</a:t>
            </a:r>
          </a:p>
          <a:p>
            <a:pPr algn="just"/>
            <a:r>
              <a:rPr lang="en-US" sz="3600" dirty="0">
                <a:latin typeface="Gill Sans MT" panose="020B0502020104020203" pitchFamily="34" charset="0"/>
              </a:rPr>
              <a:t>In HTML, the basic unit of navigation is a page, while in WML, it is a card. WML documents can contain multiple cards arranged in a deck. </a:t>
            </a:r>
          </a:p>
          <a:p>
            <a:pPr algn="just"/>
            <a:r>
              <a:rPr lang="en-US" sz="3600" dirty="0">
                <a:latin typeface="Gill Sans MT" panose="020B0502020104020203" pitchFamily="34" charset="0"/>
              </a:rPr>
              <a:t>Each card represents a separate screen or page of content.</a:t>
            </a:r>
          </a:p>
          <a:p>
            <a:pPr algn="just"/>
            <a:endParaRPr lang="en-US" sz="3600" dirty="0">
              <a:latin typeface="Gill Sans MT" panose="020B0502020104020203" pitchFamily="34" charset="0"/>
            </a:endParaRPr>
          </a:p>
          <a:p>
            <a:endParaRPr lang="en-US" dirty="0"/>
          </a:p>
        </p:txBody>
      </p:sp>
    </p:spTree>
    <p:extLst>
      <p:ext uri="{BB962C8B-B14F-4D97-AF65-F5344CB8AC3E}">
        <p14:creationId xmlns:p14="http://schemas.microsoft.com/office/powerpoint/2010/main" val="39600995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SYNTAX AND STRUCTURE OF WML DOCUMENT</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412595" y="1947333"/>
            <a:ext cx="15734371" cy="5167145"/>
          </a:xfrm>
        </p:spPr>
        <p:txBody>
          <a:bodyPr/>
          <a:lstStyle/>
          <a:p>
            <a:pPr marL="0" indent="0">
              <a:buNone/>
            </a:pPr>
            <a:r>
              <a:rPr lang="en-US" sz="3600" b="1" dirty="0">
                <a:latin typeface="Gill Sans MT" panose="020B0502020104020203" pitchFamily="34" charset="0"/>
              </a:rPr>
              <a:t>Document Element</a:t>
            </a:r>
          </a:p>
          <a:p>
            <a:pPr algn="just"/>
            <a:r>
              <a:rPr lang="en-US" sz="3600" dirty="0">
                <a:latin typeface="Gill Sans MT" panose="020B0502020104020203" pitchFamily="34" charset="0"/>
              </a:rPr>
              <a:t>In WML, the document element is &lt;</a:t>
            </a:r>
            <a:r>
              <a:rPr lang="en-US" sz="3600" dirty="0" err="1">
                <a:latin typeface="Gill Sans MT" panose="020B0502020104020203" pitchFamily="34" charset="0"/>
              </a:rPr>
              <a:t>wml</a:t>
            </a:r>
            <a:r>
              <a:rPr lang="en-US" sz="3600" dirty="0">
                <a:latin typeface="Gill Sans MT" panose="020B0502020104020203" pitchFamily="34" charset="0"/>
              </a:rPr>
              <a:t>&gt;, and all other elements are contained within it. This element serves as the root of the WML document and encapsulates the entire content.</a:t>
            </a:r>
          </a:p>
          <a:p>
            <a:pPr marL="0" indent="0">
              <a:buNone/>
            </a:pPr>
            <a:r>
              <a:rPr lang="en-US" sz="3600" b="1" dirty="0">
                <a:latin typeface="Gill Sans MT" panose="020B0502020104020203" pitchFamily="34" charset="0"/>
              </a:rPr>
              <a:t>Elements and Attributes</a:t>
            </a:r>
          </a:p>
          <a:p>
            <a:pPr algn="just"/>
            <a:r>
              <a:rPr lang="en-US" sz="3600" dirty="0">
                <a:latin typeface="Gill Sans MT" panose="020B0502020104020203" pitchFamily="34" charset="0"/>
              </a:rPr>
              <a:t>WML documents consist of predefined elements, such as &lt;card&gt; and &lt;p&gt;, which are used to structure and present content. </a:t>
            </a:r>
          </a:p>
          <a:p>
            <a:pPr algn="just"/>
            <a:r>
              <a:rPr lang="en-US" sz="3600" dirty="0">
                <a:latin typeface="Gill Sans MT" panose="020B0502020104020203" pitchFamily="34" charset="0"/>
              </a:rPr>
              <a:t>Elements are denoted by opening and closing tags, while attributes describe the characteristics of elements.</a:t>
            </a:r>
          </a:p>
          <a:p>
            <a:endParaRPr lang="en-US" dirty="0"/>
          </a:p>
        </p:txBody>
      </p:sp>
    </p:spTree>
    <p:extLst>
      <p:ext uri="{BB962C8B-B14F-4D97-AF65-F5344CB8AC3E}">
        <p14:creationId xmlns:p14="http://schemas.microsoft.com/office/powerpoint/2010/main" val="18906216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LIMITATION OF WIRELESS APPLICATION PROTOCOL</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p:txBody>
          <a:bodyPr>
            <a:normAutofit/>
          </a:bodyPr>
          <a:lstStyle/>
          <a:p>
            <a:pPr marL="514350" indent="-514350">
              <a:buFont typeface="+mj-lt"/>
              <a:buAutoNum type="arabicPeriod"/>
            </a:pPr>
            <a:r>
              <a:rPr lang="en-US" sz="3600" dirty="0">
                <a:latin typeface="Gill Sans MT" panose="020B0502020104020203" pitchFamily="34" charset="0"/>
              </a:rPr>
              <a:t>WTLS (Wireless Transport Layer Security) terminates at WAP gateway</a:t>
            </a:r>
          </a:p>
          <a:p>
            <a:pPr marL="514350" indent="-514350">
              <a:buFont typeface="+mj-lt"/>
              <a:buAutoNum type="arabicPeriod"/>
            </a:pPr>
            <a:r>
              <a:rPr lang="en-US" sz="3600" dirty="0">
                <a:latin typeface="Gill Sans MT" panose="020B0502020104020203" pitchFamily="34" charset="0"/>
              </a:rPr>
              <a:t>Data is briefly unencrypted at the gateway before being re-encrypted with TLS/SSL</a:t>
            </a:r>
          </a:p>
          <a:p>
            <a:pPr marL="514350" indent="-514350">
              <a:buFont typeface="+mj-lt"/>
              <a:buAutoNum type="arabicPeriod"/>
            </a:pPr>
            <a:r>
              <a:rPr lang="en-US" sz="3600" dirty="0">
                <a:latin typeface="Gill Sans MT" panose="020B0502020104020203" pitchFamily="34" charset="0"/>
              </a:rPr>
              <a:t>This creates a potential security vulnerability point</a:t>
            </a:r>
          </a:p>
          <a:p>
            <a:pPr marL="514350" indent="-514350">
              <a:buFont typeface="+mj-lt"/>
              <a:buAutoNum type="arabicPeriod"/>
            </a:pPr>
            <a:r>
              <a:rPr lang="en-US" sz="3600" dirty="0">
                <a:latin typeface="Gill Sans MT" panose="020B0502020104020203" pitchFamily="34" charset="0"/>
              </a:rPr>
              <a:t>Operators control these gateways and can potentially access decrypted data</a:t>
            </a:r>
          </a:p>
        </p:txBody>
      </p:sp>
    </p:spTree>
    <p:extLst>
      <p:ext uri="{BB962C8B-B14F-4D97-AF65-F5344CB8AC3E}">
        <p14:creationId xmlns:p14="http://schemas.microsoft.com/office/powerpoint/2010/main" val="29004251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SECURITY IN MOBILE COMPUTING</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379141" y="1947333"/>
            <a:ext cx="15845883" cy="4641427"/>
          </a:xfrm>
        </p:spPr>
        <p:txBody>
          <a:bodyPr>
            <a:normAutofit/>
          </a:bodyPr>
          <a:lstStyle/>
          <a:p>
            <a:pPr algn="just"/>
            <a:r>
              <a:rPr lang="en-US" sz="3600" dirty="0">
                <a:latin typeface="Gill Sans MT" panose="020B0502020104020203" pitchFamily="34" charset="0"/>
              </a:rPr>
              <a:t>Mobile computing security presents unique challenges that differ significantly from traditional desktop or server security. </a:t>
            </a:r>
          </a:p>
          <a:p>
            <a:pPr algn="just"/>
            <a:r>
              <a:rPr lang="en-US" sz="3600" dirty="0">
                <a:latin typeface="Gill Sans MT" panose="020B0502020104020203" pitchFamily="34" charset="0"/>
              </a:rPr>
              <a:t>The fundamental issue stems from the </a:t>
            </a:r>
            <a:r>
              <a:rPr lang="en-US" sz="3600" b="1" dirty="0">
                <a:latin typeface="Gill Sans MT" panose="020B0502020104020203" pitchFamily="34" charset="0"/>
              </a:rPr>
              <a:t>distributed nature </a:t>
            </a:r>
            <a:r>
              <a:rPr lang="en-US" sz="3600" dirty="0">
                <a:latin typeface="Gill Sans MT" panose="020B0502020104020203" pitchFamily="34" charset="0"/>
              </a:rPr>
              <a:t>of mobile environments where multiple stakeholders control different components of the system, creating a complex security landscape that requires careful </a:t>
            </a:r>
            <a:r>
              <a:rPr lang="en-US" sz="3600" b="1" dirty="0">
                <a:latin typeface="Gill Sans MT" panose="020B0502020104020203" pitchFamily="34" charset="0"/>
              </a:rPr>
              <a:t>coordination</a:t>
            </a:r>
            <a:r>
              <a:rPr lang="en-US" sz="3600" dirty="0">
                <a:latin typeface="Gill Sans MT" panose="020B0502020104020203" pitchFamily="34" charset="0"/>
              </a:rPr>
              <a:t> and </a:t>
            </a:r>
            <a:r>
              <a:rPr lang="en-US" sz="3600" b="1" dirty="0">
                <a:latin typeface="Gill Sans MT" panose="020B0502020104020203" pitchFamily="34" charset="0"/>
              </a:rPr>
              <a:t>standardization</a:t>
            </a:r>
            <a:r>
              <a:rPr lang="en-US" sz="3600" dirty="0">
                <a:latin typeface="Gill Sans MT" panose="020B0502020104020203" pitchFamily="34" charset="0"/>
              </a:rPr>
              <a:t>.</a:t>
            </a:r>
          </a:p>
        </p:txBody>
      </p:sp>
    </p:spTree>
    <p:extLst>
      <p:ext uri="{BB962C8B-B14F-4D97-AF65-F5344CB8AC3E}">
        <p14:creationId xmlns:p14="http://schemas.microsoft.com/office/powerpoint/2010/main" val="33096736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SECURITY IN MOBILE COMPUTING</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379141" y="1947333"/>
            <a:ext cx="15845883" cy="4641427"/>
          </a:xfrm>
        </p:spPr>
        <p:txBody>
          <a:bodyPr>
            <a:normAutofit/>
          </a:bodyPr>
          <a:lstStyle/>
          <a:p>
            <a:pPr algn="just"/>
            <a:r>
              <a:rPr lang="en-US" sz="3600" dirty="0">
                <a:latin typeface="Gill Sans MT" panose="020B0502020104020203" pitchFamily="34" charset="0"/>
              </a:rPr>
              <a:t>In a mobile computing environment, the user can move from </a:t>
            </a:r>
            <a:r>
              <a:rPr lang="en-US" sz="3600" b="1" dirty="0">
                <a:latin typeface="Gill Sans MT" panose="020B0502020104020203" pitchFamily="34" charset="0"/>
              </a:rPr>
              <a:t>one network to another</a:t>
            </a:r>
            <a:r>
              <a:rPr lang="en-US" sz="3600" dirty="0">
                <a:latin typeface="Gill Sans MT" panose="020B0502020104020203" pitchFamily="34" charset="0"/>
              </a:rPr>
              <a:t>, </a:t>
            </a:r>
            <a:r>
              <a:rPr lang="en-US" sz="3600" b="1" dirty="0">
                <a:latin typeface="Gill Sans MT" panose="020B0502020104020203" pitchFamily="34" charset="0"/>
              </a:rPr>
              <a:t>one device to another </a:t>
            </a:r>
            <a:r>
              <a:rPr lang="en-US" sz="3600" dirty="0">
                <a:latin typeface="Gill Sans MT" panose="020B0502020104020203" pitchFamily="34" charset="0"/>
              </a:rPr>
              <a:t>or </a:t>
            </a:r>
            <a:r>
              <a:rPr lang="en-US" sz="3600" b="1" dirty="0">
                <a:latin typeface="Gill Sans MT" panose="020B0502020104020203" pitchFamily="34" charset="0"/>
              </a:rPr>
              <a:t>one bearer to another.</a:t>
            </a:r>
            <a:r>
              <a:rPr lang="en-US" sz="3600" dirty="0">
                <a:latin typeface="Gill Sans MT" panose="020B0502020104020203" pitchFamily="34" charset="0"/>
              </a:rPr>
              <a:t> </a:t>
            </a:r>
          </a:p>
          <a:p>
            <a:pPr algn="just"/>
            <a:r>
              <a:rPr lang="en-US" sz="3600" dirty="0">
                <a:latin typeface="Gill Sans MT" panose="020B0502020104020203" pitchFamily="34" charset="0"/>
              </a:rPr>
              <a:t>Therefore, theoretically the security implementations need to be device </a:t>
            </a:r>
            <a:r>
              <a:rPr lang="en-US" sz="3600" b="1" dirty="0">
                <a:latin typeface="Gill Sans MT" panose="020B0502020104020203" pitchFamily="34" charset="0"/>
              </a:rPr>
              <a:t>independent</a:t>
            </a:r>
            <a:r>
              <a:rPr lang="en-US" sz="3600" dirty="0">
                <a:latin typeface="Gill Sans MT" panose="020B0502020104020203" pitchFamily="34" charset="0"/>
              </a:rPr>
              <a:t>, </a:t>
            </a:r>
            <a:r>
              <a:rPr lang="en-US" sz="3600" b="1" dirty="0">
                <a:latin typeface="Gill Sans MT" panose="020B0502020104020203" pitchFamily="34" charset="0"/>
              </a:rPr>
              <a:t>network independent</a:t>
            </a:r>
            <a:r>
              <a:rPr lang="en-US" sz="3600" dirty="0">
                <a:latin typeface="Gill Sans MT" panose="020B0502020104020203" pitchFamily="34" charset="0"/>
              </a:rPr>
              <a:t>, </a:t>
            </a:r>
            <a:r>
              <a:rPr lang="en-US" sz="3600" b="1" dirty="0">
                <a:latin typeface="Gill Sans MT" panose="020B0502020104020203" pitchFamily="34" charset="0"/>
              </a:rPr>
              <a:t>bearer independent</a:t>
            </a:r>
            <a:r>
              <a:rPr lang="en-US" sz="3600" dirty="0">
                <a:latin typeface="Gill Sans MT" panose="020B0502020104020203" pitchFamily="34" charset="0"/>
              </a:rPr>
              <a:t>, and so on. </a:t>
            </a:r>
          </a:p>
          <a:p>
            <a:pPr algn="just"/>
            <a:r>
              <a:rPr lang="en-US" sz="3600" dirty="0">
                <a:latin typeface="Gill Sans MT" panose="020B0502020104020203" pitchFamily="34" charset="0"/>
              </a:rPr>
              <a:t>The requirement is to arrive at a security model, which can offer </a:t>
            </a:r>
            <a:r>
              <a:rPr lang="en-US" sz="3600" b="1" dirty="0">
                <a:latin typeface="Gill Sans MT" panose="020B0502020104020203" pitchFamily="34" charset="0"/>
              </a:rPr>
              <a:t>homogenous end-to-end security</a:t>
            </a:r>
            <a:r>
              <a:rPr lang="en-US" sz="3600" dirty="0">
                <a:latin typeface="Gill Sans MT" panose="020B0502020104020203" pitchFamily="34" charset="0"/>
              </a:rPr>
              <a:t>.</a:t>
            </a:r>
          </a:p>
        </p:txBody>
      </p:sp>
    </p:spTree>
    <p:extLst>
      <p:ext uri="{BB962C8B-B14F-4D97-AF65-F5344CB8AC3E}">
        <p14:creationId xmlns:p14="http://schemas.microsoft.com/office/powerpoint/2010/main" val="32522401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SECURITY IN MOBILE COMPUTING</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379141" y="1947333"/>
            <a:ext cx="15845883" cy="4641427"/>
          </a:xfrm>
        </p:spPr>
        <p:txBody>
          <a:bodyPr>
            <a:normAutofit/>
          </a:bodyPr>
          <a:lstStyle/>
          <a:p>
            <a:pPr marL="0" indent="0" algn="just">
              <a:buNone/>
            </a:pPr>
            <a:r>
              <a:rPr lang="en-US" sz="3600" b="1" dirty="0">
                <a:latin typeface="Gill Sans MT" panose="020B0502020104020203" pitchFamily="34" charset="0"/>
              </a:rPr>
              <a:t>Real-World Example:</a:t>
            </a:r>
          </a:p>
          <a:p>
            <a:pPr algn="just"/>
            <a:r>
              <a:rPr lang="en-US" sz="3600" dirty="0">
                <a:latin typeface="Gill Sans MT" panose="020B0502020104020203" pitchFamily="34" charset="0"/>
              </a:rPr>
              <a:t>When you use a banking app on your phone, your transaction data travels through:</a:t>
            </a:r>
          </a:p>
          <a:p>
            <a:pPr algn="just"/>
            <a:r>
              <a:rPr lang="en-US" sz="3600" dirty="0">
                <a:latin typeface="Gill Sans MT" panose="020B0502020104020203" pitchFamily="34" charset="0"/>
              </a:rPr>
              <a:t>Your device → Cell tower → Mobile operator's network → Internet → Bank's servers</a:t>
            </a:r>
          </a:p>
          <a:p>
            <a:pPr algn="just"/>
            <a:r>
              <a:rPr lang="en-US" sz="3600" dirty="0">
                <a:latin typeface="Gill Sans MT" panose="020B0502020104020203" pitchFamily="34" charset="0"/>
              </a:rPr>
              <a:t>Each hop involves different security policies and potential vulnerabilities</a:t>
            </a:r>
          </a:p>
        </p:txBody>
      </p:sp>
    </p:spTree>
    <p:extLst>
      <p:ext uri="{BB962C8B-B14F-4D97-AF65-F5344CB8AC3E}">
        <p14:creationId xmlns:p14="http://schemas.microsoft.com/office/powerpoint/2010/main" val="17445049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SECURITY IN MOBILE COMPUTING</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379141" y="1947333"/>
            <a:ext cx="15845883" cy="5222901"/>
          </a:xfrm>
        </p:spPr>
        <p:txBody>
          <a:bodyPr>
            <a:normAutofit/>
          </a:bodyPr>
          <a:lstStyle/>
          <a:p>
            <a:pPr marL="0" indent="0" algn="just">
              <a:buNone/>
            </a:pPr>
            <a:r>
              <a:rPr lang="en-US" sz="3600" b="1" dirty="0">
                <a:latin typeface="Gill Sans MT" panose="020B0502020104020203" pitchFamily="34" charset="0"/>
              </a:rPr>
              <a:t>Network mobility:</a:t>
            </a:r>
          </a:p>
          <a:p>
            <a:pPr algn="just"/>
            <a:r>
              <a:rPr lang="en-US" sz="3600" dirty="0">
                <a:latin typeface="Gill Sans MT" panose="020B0502020104020203" pitchFamily="34" charset="0"/>
              </a:rPr>
              <a:t>Scenario: User travels from Country A to Country B</a:t>
            </a:r>
          </a:p>
          <a:p>
            <a:pPr marL="0" indent="0" algn="just">
              <a:buNone/>
            </a:pPr>
            <a:r>
              <a:rPr lang="en-US" sz="3600" b="1" dirty="0">
                <a:latin typeface="Gill Sans MT" panose="020B0502020104020203" pitchFamily="34" charset="0"/>
              </a:rPr>
              <a:t>Security Challenges:</a:t>
            </a:r>
          </a:p>
          <a:p>
            <a:pPr algn="just"/>
            <a:r>
              <a:rPr lang="en-US" sz="3600" b="1" dirty="0">
                <a:solidFill>
                  <a:schemeClr val="accent3">
                    <a:lumMod val="60000"/>
                    <a:lumOff val="40000"/>
                  </a:schemeClr>
                </a:solidFill>
                <a:latin typeface="Gill Sans MT" panose="020B0502020104020203" pitchFamily="34" charset="0"/>
              </a:rPr>
              <a:t>Policy Inconsistencies</a:t>
            </a:r>
            <a:r>
              <a:rPr lang="en-US" sz="3600" dirty="0">
                <a:latin typeface="Gill Sans MT" panose="020B0502020104020203" pitchFamily="34" charset="0"/>
              </a:rPr>
              <a:t>: Each network may have different security requirements</a:t>
            </a:r>
          </a:p>
          <a:p>
            <a:pPr algn="just"/>
            <a:r>
              <a:rPr lang="en-US" sz="3600" b="1" dirty="0">
                <a:solidFill>
                  <a:schemeClr val="accent3">
                    <a:lumMod val="60000"/>
                    <a:lumOff val="40000"/>
                  </a:schemeClr>
                </a:solidFill>
                <a:latin typeface="Gill Sans MT" panose="020B0502020104020203" pitchFamily="34" charset="0"/>
              </a:rPr>
              <a:t>Authentication Complexities</a:t>
            </a:r>
            <a:r>
              <a:rPr lang="en-US" sz="3600" dirty="0">
                <a:latin typeface="Gill Sans MT" panose="020B0502020104020203" pitchFamily="34" charset="0"/>
              </a:rPr>
              <a:t>: Roaming agreements may not include robust security protocols</a:t>
            </a:r>
          </a:p>
          <a:p>
            <a:pPr algn="just"/>
            <a:r>
              <a:rPr lang="en-US" sz="3600" b="1" dirty="0">
                <a:solidFill>
                  <a:schemeClr val="accent3">
                    <a:lumMod val="60000"/>
                    <a:lumOff val="40000"/>
                  </a:schemeClr>
                </a:solidFill>
                <a:latin typeface="Gill Sans MT" panose="020B0502020104020203" pitchFamily="34" charset="0"/>
              </a:rPr>
              <a:t>Data Protection Variations</a:t>
            </a:r>
            <a:r>
              <a:rPr lang="en-US" sz="3600" dirty="0">
                <a:latin typeface="Gill Sans MT" panose="020B0502020104020203" pitchFamily="34" charset="0"/>
              </a:rPr>
              <a:t>: Different countries have different privacy laws</a:t>
            </a:r>
          </a:p>
          <a:p>
            <a:pPr algn="just"/>
            <a:r>
              <a:rPr lang="en-US" sz="3600" b="1" dirty="0">
                <a:solidFill>
                  <a:schemeClr val="accent3">
                    <a:lumMod val="60000"/>
                    <a:lumOff val="40000"/>
                  </a:schemeClr>
                </a:solidFill>
                <a:latin typeface="Gill Sans MT" panose="020B0502020104020203" pitchFamily="34" charset="0"/>
              </a:rPr>
              <a:t>Billing Fraud</a:t>
            </a:r>
            <a:r>
              <a:rPr lang="en-US" sz="3600" dirty="0">
                <a:latin typeface="Gill Sans MT" panose="020B0502020104020203" pitchFamily="34" charset="0"/>
              </a:rPr>
              <a:t>: Roaming creates opportunities for billing-related security attacks</a:t>
            </a:r>
          </a:p>
        </p:txBody>
      </p:sp>
    </p:spTree>
    <p:extLst>
      <p:ext uri="{BB962C8B-B14F-4D97-AF65-F5344CB8AC3E}">
        <p14:creationId xmlns:p14="http://schemas.microsoft.com/office/powerpoint/2010/main" val="2109346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SECURITY IN MOBILE COMPUTING</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379141" y="1947333"/>
            <a:ext cx="15845883" cy="5222901"/>
          </a:xfrm>
        </p:spPr>
        <p:txBody>
          <a:bodyPr>
            <a:normAutofit/>
          </a:bodyPr>
          <a:lstStyle/>
          <a:p>
            <a:pPr marL="0" indent="0" algn="just">
              <a:buNone/>
            </a:pPr>
            <a:r>
              <a:rPr lang="en-US" sz="3600" b="1" dirty="0">
                <a:latin typeface="Gill Sans MT" panose="020B0502020104020203" pitchFamily="34" charset="0"/>
              </a:rPr>
              <a:t>Bearer mobility:</a:t>
            </a:r>
          </a:p>
          <a:p>
            <a:pPr algn="just"/>
            <a:r>
              <a:rPr lang="en-US" sz="3600" dirty="0">
                <a:latin typeface="Gill Sans MT" panose="020B0502020104020203" pitchFamily="34" charset="0"/>
              </a:rPr>
              <a:t>Scenario: User move from 3G to 4G or Bluetooth</a:t>
            </a:r>
          </a:p>
          <a:p>
            <a:pPr marL="0" indent="0" algn="just">
              <a:buNone/>
            </a:pPr>
            <a:r>
              <a:rPr lang="en-US" sz="3600" b="1" dirty="0">
                <a:latin typeface="Gill Sans MT" panose="020B0502020104020203" pitchFamily="34" charset="0"/>
              </a:rPr>
              <a:t>Each Bearer's Security Profile</a:t>
            </a:r>
          </a:p>
          <a:p>
            <a:pPr lvl="1" algn="just">
              <a:buFont typeface="Courier New" panose="02070309020205020404" pitchFamily="49" charset="0"/>
              <a:buChar char="o"/>
            </a:pPr>
            <a:r>
              <a:rPr lang="en-US" sz="3200" dirty="0">
                <a:latin typeface="Gill Sans MT" panose="020B0502020104020203" pitchFamily="34" charset="0"/>
              </a:rPr>
              <a:t>3G/4G: Carrier-controlled, standardized security protocols</a:t>
            </a:r>
          </a:p>
          <a:p>
            <a:pPr lvl="1" algn="just">
              <a:buFont typeface="Courier New" panose="02070309020205020404" pitchFamily="49" charset="0"/>
              <a:buChar char="o"/>
            </a:pPr>
            <a:r>
              <a:rPr lang="en-US" sz="3200" dirty="0" err="1">
                <a:latin typeface="Gill Sans MT" panose="020B0502020104020203" pitchFamily="34" charset="0"/>
              </a:rPr>
              <a:t>WiFi</a:t>
            </a:r>
            <a:r>
              <a:rPr lang="en-US" sz="3200" dirty="0">
                <a:latin typeface="Gill Sans MT" panose="020B0502020104020203" pitchFamily="34" charset="0"/>
              </a:rPr>
              <a:t>: Varies by access point, potentially unsecured</a:t>
            </a:r>
          </a:p>
          <a:p>
            <a:pPr lvl="1" algn="just">
              <a:buFont typeface="Courier New" panose="02070309020205020404" pitchFamily="49" charset="0"/>
              <a:buChar char="o"/>
            </a:pPr>
            <a:r>
              <a:rPr lang="en-US" sz="3200" dirty="0">
                <a:latin typeface="Gill Sans MT" panose="020B0502020104020203" pitchFamily="34" charset="0"/>
              </a:rPr>
              <a:t>Bluetooth: Short-range, device-specific security</a:t>
            </a:r>
          </a:p>
          <a:p>
            <a:pPr marL="0" indent="0" algn="just">
              <a:buNone/>
            </a:pPr>
            <a:r>
              <a:rPr lang="en-US" sz="3600" b="1" dirty="0">
                <a:latin typeface="Gill Sans MT" panose="020B0502020104020203" pitchFamily="34" charset="0"/>
              </a:rPr>
              <a:t>Security Challenges:</a:t>
            </a:r>
          </a:p>
          <a:p>
            <a:pPr algn="just"/>
            <a:r>
              <a:rPr lang="en-US" sz="3600" b="1" dirty="0">
                <a:solidFill>
                  <a:schemeClr val="accent3">
                    <a:lumMod val="60000"/>
                    <a:lumOff val="40000"/>
                  </a:schemeClr>
                </a:solidFill>
                <a:latin typeface="Gill Sans MT" panose="020B0502020104020203" pitchFamily="34" charset="0"/>
              </a:rPr>
              <a:t>Security policies must adapt in real-time as bearers change</a:t>
            </a:r>
            <a:endParaRPr lang="en-US" sz="3600" dirty="0">
              <a:latin typeface="Gill Sans MT" panose="020B0502020104020203" pitchFamily="34" charset="0"/>
            </a:endParaRPr>
          </a:p>
        </p:txBody>
      </p:sp>
    </p:spTree>
    <p:extLst>
      <p:ext uri="{BB962C8B-B14F-4D97-AF65-F5344CB8AC3E}">
        <p14:creationId xmlns:p14="http://schemas.microsoft.com/office/powerpoint/2010/main" val="3056592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SECURITY IN MOBILE COMPUTING</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379141" y="1947333"/>
            <a:ext cx="15845883" cy="5222901"/>
          </a:xfrm>
        </p:spPr>
        <p:txBody>
          <a:bodyPr>
            <a:normAutofit/>
          </a:bodyPr>
          <a:lstStyle/>
          <a:p>
            <a:pPr algn="just"/>
            <a:r>
              <a:rPr lang="en-US" sz="3600" dirty="0">
                <a:latin typeface="Gill Sans MT" panose="020B0502020104020203" pitchFamily="34" charset="0"/>
              </a:rPr>
              <a:t>Strong security controls must be implemented while creating mobile computing applications in order to guard against potential threats and weaknesses. Here are some crucial security precautions to take into account:</a:t>
            </a:r>
          </a:p>
          <a:p>
            <a:pPr lvl="1" algn="just">
              <a:buFont typeface="Courier New" panose="02070309020205020404" pitchFamily="49" charset="0"/>
              <a:buChar char="o"/>
            </a:pPr>
            <a:r>
              <a:rPr lang="en-US" sz="3200" b="1" dirty="0">
                <a:latin typeface="Gill Sans MT" panose="020B0502020104020203" pitchFamily="34" charset="0"/>
              </a:rPr>
              <a:t>Secure Coding Practices</a:t>
            </a:r>
            <a:r>
              <a:rPr lang="en-US" sz="3200" dirty="0">
                <a:latin typeface="Gill Sans MT" panose="020B0502020104020203" pitchFamily="34" charset="0"/>
              </a:rPr>
              <a:t>: Follow secure coding practices, such as avoiding hard-coded credentials, using secure libraries and frameworks, and properly handling errors, exceptions, and log in</a:t>
            </a:r>
          </a:p>
          <a:p>
            <a:pPr lvl="1" algn="just">
              <a:buFont typeface="Courier New" panose="02070309020205020404" pitchFamily="49" charset="0"/>
              <a:buChar char="o"/>
            </a:pPr>
            <a:r>
              <a:rPr lang="en-US" sz="3200" b="1" dirty="0">
                <a:latin typeface="Gill Sans MT" panose="020B0502020104020203" pitchFamily="34" charset="0"/>
              </a:rPr>
              <a:t>Secure Updates and Patch Management</a:t>
            </a:r>
            <a:r>
              <a:rPr lang="en-US" sz="3200" dirty="0">
                <a:latin typeface="Gill Sans MT" panose="020B0502020104020203" pitchFamily="34" charset="0"/>
              </a:rPr>
              <a:t>: Keep the mobile application up-to-date with the latest security patches and updates. Regularly monitor for security updates for the operating system, libraries, and components used in the application, and promptly apply patches to address known vulnerabilities.</a:t>
            </a:r>
          </a:p>
        </p:txBody>
      </p:sp>
    </p:spTree>
    <p:extLst>
      <p:ext uri="{BB962C8B-B14F-4D97-AF65-F5344CB8AC3E}">
        <p14:creationId xmlns:p14="http://schemas.microsoft.com/office/powerpoint/2010/main" val="385965716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SECURITY IN MOBILE COMPUTING</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379141" y="1947333"/>
            <a:ext cx="15845883" cy="5222901"/>
          </a:xfrm>
        </p:spPr>
        <p:txBody>
          <a:bodyPr>
            <a:normAutofit/>
          </a:bodyPr>
          <a:lstStyle/>
          <a:p>
            <a:pPr lvl="1" algn="just">
              <a:buFont typeface="Courier New" panose="02070309020205020404" pitchFamily="49" charset="0"/>
              <a:buChar char="o"/>
            </a:pPr>
            <a:r>
              <a:rPr lang="en-US" sz="3600" b="1" dirty="0">
                <a:latin typeface="Gill Sans MT" panose="020B0502020104020203" pitchFamily="34" charset="0"/>
              </a:rPr>
              <a:t>Secure Authentication and Authorization</a:t>
            </a:r>
            <a:r>
              <a:rPr lang="en-US" sz="3600" dirty="0">
                <a:latin typeface="Gill Sans MT" panose="020B0502020104020203" pitchFamily="34" charset="0"/>
              </a:rPr>
              <a:t>: Implement strong authentication and authorization mechanisms to ensure that only authorized users have access to the application and its resources.</a:t>
            </a:r>
          </a:p>
          <a:p>
            <a:pPr lvl="1" algn="just">
              <a:buFont typeface="Courier New" panose="02070309020205020404" pitchFamily="49" charset="0"/>
              <a:buChar char="o"/>
            </a:pPr>
            <a:r>
              <a:rPr lang="en-US" sz="3600" b="1" dirty="0">
                <a:latin typeface="Gill Sans MT" panose="020B0502020104020203" pitchFamily="34" charset="0"/>
              </a:rPr>
              <a:t>Data encryption</a:t>
            </a:r>
            <a:r>
              <a:rPr lang="en-US" sz="3600" dirty="0">
                <a:latin typeface="Gill Sans MT" panose="020B0502020104020203" pitchFamily="34" charset="0"/>
              </a:rPr>
              <a:t>: To encrypt data, both in transit and at rest, use powerful encryption algorithms. Data is protected by encryption from illegal access and interception, making sure that even if data is intercepted, it is difficult to decipher.</a:t>
            </a:r>
          </a:p>
          <a:p>
            <a:pPr lvl="1" algn="just">
              <a:buFont typeface="Courier New" panose="02070309020205020404" pitchFamily="49" charset="0"/>
              <a:buChar char="o"/>
            </a:pPr>
            <a:endParaRPr lang="en-US" sz="3200" dirty="0">
              <a:latin typeface="Gill Sans MT" panose="020B0502020104020203" pitchFamily="34" charset="0"/>
            </a:endParaRPr>
          </a:p>
        </p:txBody>
      </p:sp>
    </p:spTree>
    <p:extLst>
      <p:ext uri="{BB962C8B-B14F-4D97-AF65-F5344CB8AC3E}">
        <p14:creationId xmlns:p14="http://schemas.microsoft.com/office/powerpoint/2010/main" val="329034251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THREAT MODELING</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379141" y="1947333"/>
            <a:ext cx="15845883" cy="5222901"/>
          </a:xfrm>
        </p:spPr>
        <p:txBody>
          <a:bodyPr>
            <a:normAutofit/>
          </a:bodyPr>
          <a:lstStyle/>
          <a:p>
            <a:pPr algn="just"/>
            <a:r>
              <a:rPr lang="en-US" sz="3600" b="1" dirty="0">
                <a:latin typeface="Gill Sans MT" panose="020B0502020104020203" pitchFamily="34" charset="0"/>
              </a:rPr>
              <a:t>Threat modeling: </a:t>
            </a:r>
            <a:r>
              <a:rPr lang="en-US" sz="3600" dirty="0">
                <a:latin typeface="Gill Sans MT" panose="020B0502020104020203" pitchFamily="34" charset="0"/>
              </a:rPr>
              <a:t>is a proactive approach that involves identifying and mitigating potential threats and vulnerabilities in the mobile application during the development process. </a:t>
            </a:r>
          </a:p>
          <a:p>
            <a:pPr algn="just"/>
            <a:r>
              <a:rPr lang="en-US" sz="3600" dirty="0">
                <a:latin typeface="Gill Sans MT" panose="020B0502020104020203" pitchFamily="34" charset="0"/>
              </a:rPr>
              <a:t>The development team should take into account the mobile application's architecture, design, data flows, user interactions, external dependencies, and threat scenarios when doing threat modeling.</a:t>
            </a:r>
          </a:p>
          <a:p>
            <a:pPr lvl="1" algn="just">
              <a:buFont typeface="Courier New" panose="02070309020205020404" pitchFamily="49" charset="0"/>
              <a:buChar char="o"/>
            </a:pPr>
            <a:r>
              <a:rPr lang="en-US" sz="3200" b="1" dirty="0">
                <a:latin typeface="Gill Sans MT" panose="020B0502020104020203" pitchFamily="34" charset="0"/>
              </a:rPr>
              <a:t>Attacker’s perceptive</a:t>
            </a:r>
          </a:p>
          <a:p>
            <a:pPr lvl="1" algn="just">
              <a:buFont typeface="Courier New" panose="02070309020205020404" pitchFamily="49" charset="0"/>
              <a:buChar char="o"/>
            </a:pPr>
            <a:r>
              <a:rPr lang="en-US" sz="3200" b="1" dirty="0">
                <a:latin typeface="Gill Sans MT" panose="020B0502020104020203" pitchFamily="34" charset="0"/>
              </a:rPr>
              <a:t>Architectural perceptive</a:t>
            </a:r>
          </a:p>
          <a:p>
            <a:pPr lvl="1" algn="just">
              <a:buFont typeface="Courier New" panose="02070309020205020404" pitchFamily="49" charset="0"/>
              <a:buChar char="o"/>
            </a:pPr>
            <a:r>
              <a:rPr lang="en-US" sz="3200" b="1" dirty="0">
                <a:latin typeface="Gill Sans MT" panose="020B0502020104020203" pitchFamily="34" charset="0"/>
              </a:rPr>
              <a:t>Asset perceptive</a:t>
            </a:r>
          </a:p>
        </p:txBody>
      </p:sp>
    </p:spTree>
    <p:extLst>
      <p:ext uri="{BB962C8B-B14F-4D97-AF65-F5344CB8AC3E}">
        <p14:creationId xmlns:p14="http://schemas.microsoft.com/office/powerpoint/2010/main" val="37286413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3FF2-E9AD-48DA-A909-234FD85E874A}"/>
              </a:ext>
            </a:extLst>
          </p:cNvPr>
          <p:cNvSpPr>
            <a:spLocks noGrp="1"/>
          </p:cNvSpPr>
          <p:nvPr>
            <p:ph type="title"/>
          </p:nvPr>
        </p:nvSpPr>
        <p:spPr/>
        <p:txBody>
          <a:bodyPr/>
          <a:lstStyle/>
          <a:p>
            <a:r>
              <a:rPr lang="en-US" dirty="0"/>
              <a:t>THREAT MODELING</a:t>
            </a:r>
          </a:p>
        </p:txBody>
      </p:sp>
      <p:sp>
        <p:nvSpPr>
          <p:cNvPr id="3" name="Content Placeholder 2">
            <a:extLst>
              <a:ext uri="{FF2B5EF4-FFF2-40B4-BE49-F238E27FC236}">
                <a16:creationId xmlns:a16="http://schemas.microsoft.com/office/drawing/2014/main" id="{C5131A85-5EF6-4E08-A26B-6F44B3A19EDD}"/>
              </a:ext>
            </a:extLst>
          </p:cNvPr>
          <p:cNvSpPr>
            <a:spLocks noGrp="1"/>
          </p:cNvSpPr>
          <p:nvPr>
            <p:ph idx="1"/>
          </p:nvPr>
        </p:nvSpPr>
        <p:spPr>
          <a:xfrm>
            <a:off x="379141" y="1947333"/>
            <a:ext cx="15845883" cy="5222901"/>
          </a:xfrm>
        </p:spPr>
        <p:txBody>
          <a:bodyPr>
            <a:normAutofit/>
          </a:bodyPr>
          <a:lstStyle/>
          <a:p>
            <a:pPr algn="just"/>
            <a:r>
              <a:rPr lang="en-US" sz="3600" dirty="0">
                <a:latin typeface="Gill Sans MT" panose="020B0502020104020203" pitchFamily="34" charset="0"/>
              </a:rPr>
              <a:t>For conducting threat modeling, there are various approaches and frameworks available, including:</a:t>
            </a:r>
          </a:p>
          <a:p>
            <a:pPr marL="971550" lvl="1" indent="-514350" algn="just">
              <a:buFont typeface="+mj-lt"/>
              <a:buAutoNum type="arabicPeriod"/>
            </a:pPr>
            <a:r>
              <a:rPr lang="en-US" sz="3200" dirty="0">
                <a:latin typeface="Gill Sans MT" panose="020B0502020104020203" pitchFamily="34" charset="0"/>
              </a:rPr>
              <a:t>STRIDE (Spoofing, Tampering, Repudiation, Information Disclosure, Denial of Service, Elevation of Privilege), </a:t>
            </a:r>
          </a:p>
          <a:p>
            <a:pPr marL="971550" lvl="1" indent="-514350" algn="just">
              <a:buFont typeface="+mj-lt"/>
              <a:buAutoNum type="arabicPeriod"/>
            </a:pPr>
            <a:r>
              <a:rPr lang="en-US" sz="3200" dirty="0">
                <a:latin typeface="Gill Sans MT" panose="020B0502020104020203" pitchFamily="34" charset="0"/>
              </a:rPr>
              <a:t>DREAD (Damage potential, Reproducibility, Exploitability, Affected users, Discoverability), </a:t>
            </a:r>
          </a:p>
          <a:p>
            <a:pPr marL="971550" lvl="1" indent="-514350" algn="just">
              <a:buFont typeface="+mj-lt"/>
              <a:buAutoNum type="arabicPeriod"/>
            </a:pPr>
            <a:r>
              <a:rPr lang="en-US" sz="3200" dirty="0">
                <a:latin typeface="Gill Sans MT" panose="020B0502020104020203" pitchFamily="34" charset="0"/>
              </a:rPr>
              <a:t>OCTAVE (Operationally Critical Threat, Asset, and Vulnerability Evaluation).</a:t>
            </a:r>
          </a:p>
        </p:txBody>
      </p:sp>
    </p:spTree>
    <p:extLst>
      <p:ext uri="{BB962C8B-B14F-4D97-AF65-F5344CB8AC3E}">
        <p14:creationId xmlns:p14="http://schemas.microsoft.com/office/powerpoint/2010/main" val="3268324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9153</TotalTime>
  <Words>5781</Words>
  <Application>Microsoft Office PowerPoint</Application>
  <PresentationFormat>Custom</PresentationFormat>
  <Paragraphs>583</Paragraphs>
  <Slides>100</Slides>
  <Notes>56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100</vt:i4>
      </vt:variant>
    </vt:vector>
  </HeadingPairs>
  <TitlesOfParts>
    <vt:vector size="110" baseType="lpstr">
      <vt:lpstr>Aptos</vt:lpstr>
      <vt:lpstr>Aptos Display</vt:lpstr>
      <vt:lpstr>Arial</vt:lpstr>
      <vt:lpstr>Calibri</vt:lpstr>
      <vt:lpstr>Cambria Math</vt:lpstr>
      <vt:lpstr>Courier New</vt:lpstr>
      <vt:lpstr>Gill Sans MT</vt:lpstr>
      <vt:lpstr>Wingdings</vt:lpstr>
      <vt:lpstr>office theme</vt:lpstr>
      <vt:lpstr>1_office theme</vt:lpstr>
      <vt:lpstr>ITU 08215: MOBILE COMPUTING</vt:lpstr>
      <vt:lpstr>Learning OUTCOMES</vt:lpstr>
      <vt:lpstr>REFERENCE</vt:lpstr>
      <vt:lpstr>INTRODUCTION</vt:lpstr>
      <vt:lpstr>INTRODUCTION</vt:lpstr>
      <vt:lpstr>BLOCK DIAGRAM OF WIRELESS COMMUNICATION</vt:lpstr>
      <vt:lpstr>TYPES OF MOBILITY</vt:lpstr>
      <vt:lpstr>TYPES OF MOBILITY</vt:lpstr>
      <vt:lpstr>WHY IS MOBILITY IMPORTANT IN MOBILE COMPUTING</vt:lpstr>
      <vt:lpstr>MOBILE COMPUTING LIMITATIONS</vt:lpstr>
      <vt:lpstr>MOBILE HARDWARE COMPONENTS</vt:lpstr>
      <vt:lpstr>CENTRAL PROCESSING UNIT</vt:lpstr>
      <vt:lpstr>TYPES OF CENTRAL PROCESSING UNITs</vt:lpstr>
      <vt:lpstr>DESIGN CONSTRAINTS OF MOBILE CPUs</vt:lpstr>
      <vt:lpstr>BATTERY</vt:lpstr>
      <vt:lpstr>EXAMPLE</vt:lpstr>
      <vt:lpstr>General Battery key design constraints</vt:lpstr>
      <vt:lpstr>screen</vt:lpstr>
      <vt:lpstr>TYPES OF Touchscreen</vt:lpstr>
      <vt:lpstr>PowerPoint Presentation</vt:lpstr>
      <vt:lpstr>CONNECTIVITY IN MOBILE DEVICES</vt:lpstr>
      <vt:lpstr>BASICs of NFC</vt:lpstr>
      <vt:lpstr>BASICs of NFC</vt:lpstr>
      <vt:lpstr>CONNECTIVITY IN MOBILE DEVICES</vt:lpstr>
      <vt:lpstr>Generation of cellular networks</vt:lpstr>
      <vt:lpstr>ADVANCED MOBILE PHONE SYSTEM</vt:lpstr>
      <vt:lpstr>Cellular digital packet data</vt:lpstr>
      <vt:lpstr>Limitations of 1G</vt:lpstr>
      <vt:lpstr>2G: Architecture of GSM Network</vt:lpstr>
      <vt:lpstr>Function of GSM components</vt:lpstr>
      <vt:lpstr>Function of GSM components</vt:lpstr>
      <vt:lpstr>3G: Architecture Network (UMTS)</vt:lpstr>
      <vt:lpstr>4G: Architecture Network (UMTS)</vt:lpstr>
      <vt:lpstr>PowerPoint Presentation</vt:lpstr>
      <vt:lpstr>BANDWIDTH SHARING AND CHANNEL RE-USE</vt:lpstr>
      <vt:lpstr>BANDWIDTH SHARING AND CHANNEL RE-USE</vt:lpstr>
      <vt:lpstr>CHANNEL RE-USE TECHNICAL TERMS</vt:lpstr>
      <vt:lpstr>CHANNEL RE-USE TECHNICAL TERMS</vt:lpstr>
      <vt:lpstr>CHANNEL RE-USE TECHNICAL TERMS</vt:lpstr>
      <vt:lpstr>CHANNEL RE-USE TECHNICAL TERMS</vt:lpstr>
      <vt:lpstr>BANDWIDTH SHARING AND CHANNEL RE-USE</vt:lpstr>
      <vt:lpstr>examples</vt:lpstr>
      <vt:lpstr>PROPAGATION MECHANISM</vt:lpstr>
      <vt:lpstr>Handover and cell switching</vt:lpstr>
      <vt:lpstr>Types of Handover and cell switching</vt:lpstr>
      <vt:lpstr>Handover decision factor</vt:lpstr>
      <vt:lpstr>Software architecture for mobility</vt:lpstr>
      <vt:lpstr>Software architecture for mobility</vt:lpstr>
      <vt:lpstr>FADING</vt:lpstr>
      <vt:lpstr>FADING</vt:lpstr>
      <vt:lpstr>FADING</vt:lpstr>
      <vt:lpstr>Interference</vt:lpstr>
      <vt:lpstr>Impact of Interference</vt:lpstr>
      <vt:lpstr>Mitigation technique for Interference</vt:lpstr>
      <vt:lpstr>Mitigation technique for Interference</vt:lpstr>
      <vt:lpstr>BIT ERROR RATE</vt:lpstr>
      <vt:lpstr>Transmission power management</vt:lpstr>
      <vt:lpstr>Factors that influence Transmission power management</vt:lpstr>
      <vt:lpstr>example</vt:lpstr>
      <vt:lpstr>Parameter at the application level</vt:lpstr>
      <vt:lpstr>Parameter at the application level</vt:lpstr>
      <vt:lpstr>Parameter at the application level</vt:lpstr>
      <vt:lpstr>MOBILE SOFTWARE</vt:lpstr>
      <vt:lpstr>MOBILE APP DEVELOPMENT FRAMEWORK</vt:lpstr>
      <vt:lpstr>USER INTERFACE DESIGN</vt:lpstr>
      <vt:lpstr>USER INTERFACE DESIGN</vt:lpstr>
      <vt:lpstr>FOUR MAIN ELEMENTS OF UI DESIGN</vt:lpstr>
      <vt:lpstr>FOUR MAIN ELEMENTS OF UI DESIGN</vt:lpstr>
      <vt:lpstr>FOUR MAIN ELEMENTS OF UI DESIGN</vt:lpstr>
      <vt:lpstr>FOUR MAIN ELEMENTS OF UI DESIGN</vt:lpstr>
      <vt:lpstr>KEY DESIGN CONSIDERATION</vt:lpstr>
      <vt:lpstr>KEY DESIGN CONSIDERATION</vt:lpstr>
      <vt:lpstr>KEY DESIGN CONSIDERATION</vt:lpstr>
      <vt:lpstr>KEY DESIGN CONSIDERATION</vt:lpstr>
      <vt:lpstr>SEVEN HABITS OF SUCCESSFUL INTERFACE DESIGN</vt:lpstr>
      <vt:lpstr>SEVEN HABITS OF SUCCESSFUL INTERFACE DESIGN</vt:lpstr>
      <vt:lpstr>MAXIMIZE GRAPHICAL EFFECTIVENESS</vt:lpstr>
      <vt:lpstr>MAXIMIZE GRAPHICAL EFFECTIVENESS</vt:lpstr>
      <vt:lpstr>STRUCTURE</vt:lpstr>
      <vt:lpstr>TEXT</vt:lpstr>
      <vt:lpstr>TECHNICAL DESIGN</vt:lpstr>
      <vt:lpstr>TECHNICAL DESIGN</vt:lpstr>
      <vt:lpstr>WIRELESS APPLICATION PROTOCOL</vt:lpstr>
      <vt:lpstr>WAP STACK</vt:lpstr>
      <vt:lpstr>WWW LOGICAL MODEL</vt:lpstr>
      <vt:lpstr>WIRELESS APPLICATION ENVIRONMENT</vt:lpstr>
      <vt:lpstr>WAE LOGICAL MODEL</vt:lpstr>
      <vt:lpstr>WIRELESS MARKUP LANGUAGE</vt:lpstr>
      <vt:lpstr>SYNTAX AND STRUCTURE OF WML DOCUMENT</vt:lpstr>
      <vt:lpstr>SYNTAX AND STRUCTURE OF WML DOCUMENT</vt:lpstr>
      <vt:lpstr>LIMITATION OF WIRELESS APPLICATION PROTOCOL</vt:lpstr>
      <vt:lpstr>SECURITY IN MOBILE COMPUTING</vt:lpstr>
      <vt:lpstr>SECURITY IN MOBILE COMPUTING</vt:lpstr>
      <vt:lpstr>SECURITY IN MOBILE COMPUTING</vt:lpstr>
      <vt:lpstr>SECURITY IN MOBILE COMPUTING</vt:lpstr>
      <vt:lpstr>SECURITY IN MOBILE COMPUTING</vt:lpstr>
      <vt:lpstr>SECURITY IN MOBILE COMPUTING</vt:lpstr>
      <vt:lpstr>SECURITY IN MOBILE COMPUTING</vt:lpstr>
      <vt:lpstr>THREAT MODELING</vt:lpstr>
      <vt:lpstr>THREAT MODELING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ITU 08215: MOBILE COMPUTING</dc:title>
  <dc:creator/>
  <cp:lastModifiedBy>User</cp:lastModifiedBy>
  <cp:revision>779</cp:revision>
  <dcterms:created xsi:type="dcterms:W3CDTF">2025-04-04T06:49:55Z</dcterms:created>
  <dcterms:modified xsi:type="dcterms:W3CDTF">2026-05-18T13:03:41Z</dcterms:modified>
</cp:coreProperties>
</file>